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iRvMNe83d4nUPhc1OWK7VAWSWnm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spcBef>
                <a:spcPts val="0"/>
              </a:spcBef>
              <a:spcAft>
                <a:spcPts val="0"/>
              </a:spcAft>
              <a:buNone/>
            </a:pPr>
            <a:r>
              <a:rPr b="0" i="0" lang="en-US" sz="1200" u="none" cap="none" strike="noStrike">
                <a:solidFill>
                  <a:schemeClr val="dk1"/>
                </a:solidFill>
                <a:latin typeface="Calibri"/>
                <a:ea typeface="Calibri"/>
                <a:cs typeface="Calibri"/>
                <a:sym typeface="Calibri"/>
              </a:rPr>
              <a:t>30 שניות. מה החברה עושה, מה קיבלנו, מה ביקשו מאיתנו. לא להיכנס לממצאים.</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 name="Google Shape;1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spcBef>
                <a:spcPts val="0"/>
              </a:spcBef>
              <a:spcAft>
                <a:spcPts val="0"/>
              </a:spcAft>
              <a:buNone/>
            </a:pPr>
            <a:r>
              <a:rPr lang="en-US" sz="1200">
                <a:solidFill>
                  <a:schemeClr val="dk1"/>
                </a:solidFill>
                <a:latin typeface="Calibri"/>
                <a:ea typeface="Calibri"/>
                <a:cs typeface="Calibri"/>
                <a:sym typeface="Calibri"/>
              </a:rPr>
              <a:t>לתת את התשובה כאן. מי שיוצא אחרי השקופית הזו צריך להיות מסוגל לתאר את האירוע.</a:t>
            </a:r>
            <a:endParaRPr/>
          </a:p>
        </p:txBody>
      </p:sp>
      <p:sp>
        <p:nvSpPr>
          <p:cNvPr id="20" name="Google Shape;2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 name="Google Shape;4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spcBef>
                <a:spcPts val="0"/>
              </a:spcBef>
              <a:spcAft>
                <a:spcPts val="0"/>
              </a:spcAft>
              <a:buNone/>
            </a:pPr>
            <a:r>
              <a:rPr lang="en-US" sz="1200">
                <a:solidFill>
                  <a:schemeClr val="dk1"/>
                </a:solidFill>
                <a:latin typeface="Calibri"/>
                <a:ea typeface="Calibri"/>
                <a:cs typeface="Calibri"/>
                <a:sym typeface="Calibri"/>
              </a:rPr>
              <a:t>להגיד פעם אחת שהכל UTC ושה-winevent הומר. אחר כך לעבור על שש הפאזות בקצב, בלי לקרוא כל תווית.</a:t>
            </a:r>
            <a:endParaRPr/>
          </a:p>
        </p:txBody>
      </p:sp>
      <p:sp>
        <p:nvSpPr>
          <p:cNvPr id="43" name="Google Shape;4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spcBef>
                <a:spcPts val="0"/>
              </a:spcBef>
              <a:spcAft>
                <a:spcPts val="0"/>
              </a:spcAft>
              <a:buNone/>
            </a:pPr>
            <a:r>
              <a:rPr lang="en-US" sz="1200">
                <a:solidFill>
                  <a:schemeClr val="dk1"/>
                </a:solidFill>
                <a:latin typeface="Calibri"/>
                <a:ea typeface="Calibri"/>
                <a:cs typeface="Calibri"/>
                <a:sym typeface="Calibri"/>
              </a:rPr>
              <a:t>זו השקופית שהפאנל יזכור. המספר הוא 5:20, כפער זמן בהתקדמות התוקף, לא כ'חלון שהוחמץ'. אם ישאלו למה Defender לא נחשב יותר, לענות שאין לנו שום בסיס להניח שהוא מזוהה יותר בקלות משאר השלבים.</a:t>
            </a:r>
            <a:endParaRPr/>
          </a:p>
        </p:txBody>
      </p:sp>
      <p:sp>
        <p:nvSpPr>
          <p:cNvPr id="117" name="Google Shape;11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spcBef>
                <a:spcPts val="0"/>
              </a:spcBef>
              <a:spcAft>
                <a:spcPts val="0"/>
              </a:spcAft>
              <a:buNone/>
            </a:pPr>
            <a:r>
              <a:rPr lang="en-US" sz="1200">
                <a:solidFill>
                  <a:schemeClr val="dk1"/>
                </a:solidFill>
                <a:latin typeface="Calibri"/>
                <a:ea typeface="Calibri"/>
                <a:cs typeface="Calibri"/>
                <a:sym typeface="Calibri"/>
              </a:rPr>
              <a:t>הפאנל ישאל איך אתם יודעים. לענות כאן לפני שישאלו. לנקוב בצירוף ובשדה, לא בשם הכלי.</a:t>
            </a:r>
            <a:endParaRPr/>
          </a:p>
        </p:txBody>
      </p:sp>
      <p:sp>
        <p:nvSpPr>
          <p:cNvPr id="151" name="Google Shape;151;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spcBef>
                <a:spcPts val="0"/>
              </a:spcBef>
              <a:spcAft>
                <a:spcPts val="0"/>
              </a:spcAft>
              <a:buNone/>
            </a:pPr>
            <a:r>
              <a:rPr lang="en-US" sz="1200">
                <a:solidFill>
                  <a:schemeClr val="dk1"/>
                </a:solidFill>
                <a:latin typeface="Calibri"/>
                <a:ea typeface="Calibri"/>
                <a:cs typeface="Calibri"/>
                <a:sym typeface="Calibri"/>
              </a:rPr>
              <a:t>צוות שמראה רק מה שמצא נראה בר מזל. צוות שמראה מה פסל נראה שיטתי. להדגיש את 212.143.200.14 כי זו הייתה טעות שלנו שתפסנו.</a:t>
            </a:r>
            <a:endParaRPr/>
          </a:p>
        </p:txBody>
      </p:sp>
      <p:sp>
        <p:nvSpPr>
          <p:cNvPr id="173" name="Google Shape;173;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spcBef>
                <a:spcPts val="0"/>
              </a:spcBef>
              <a:spcAft>
                <a:spcPts val="0"/>
              </a:spcAft>
              <a:buNone/>
            </a:pPr>
            <a:r>
              <a:rPr lang="en-US" sz="1200">
                <a:solidFill>
                  <a:schemeClr val="dk1"/>
                </a:solidFill>
                <a:latin typeface="Calibri"/>
                <a:ea typeface="Calibri"/>
                <a:cs typeface="Calibri"/>
                <a:sym typeface="Calibri"/>
              </a:rPr>
              <a:t>השקופית הזו מנוקדת. אם מישהו ישאל למה כל הסיבות זהות, לענות שזה בדיוק הממצא: הבעיה אינה זמן חקירה אלא כיסוי תיעוד.</a:t>
            </a:r>
            <a:endParaRPr/>
          </a:p>
        </p:txBody>
      </p:sp>
      <p:sp>
        <p:nvSpPr>
          <p:cNvPr id="207" name="Google Shape;20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spcBef>
                <a:spcPts val="0"/>
              </a:spcBef>
              <a:spcAft>
                <a:spcPts val="0"/>
              </a:spcAft>
              <a:buNone/>
            </a:pPr>
            <a:r>
              <a:rPr lang="en-US" sz="1200">
                <a:solidFill>
                  <a:schemeClr val="dk1"/>
                </a:solidFill>
                <a:latin typeface="Calibri"/>
                <a:ea typeface="Calibri"/>
                <a:cs typeface="Calibri"/>
                <a:sym typeface="Calibri"/>
              </a:rPr>
              <a:t>ההפרדה היא כל השקופית. פאנל שלא יבין מה מאומת יניח את הגרוע מבין השניים.</a:t>
            </a:r>
            <a:endParaRPr/>
          </a:p>
        </p:txBody>
      </p:sp>
      <p:sp>
        <p:nvSpPr>
          <p:cNvPr id="243" name="Google Shape;24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spcBef>
                <a:spcPts val="0"/>
              </a:spcBef>
              <a:spcAft>
                <a:spcPts val="0"/>
              </a:spcAft>
              <a:buNone/>
            </a:pPr>
            <a:r>
              <a:rPr lang="en-US" sz="1200">
                <a:solidFill>
                  <a:schemeClr val="dk1"/>
                </a:solidFill>
                <a:latin typeface="Calibri"/>
                <a:ea typeface="Calibri"/>
                <a:cs typeface="Calibri"/>
                <a:sym typeface="Calibri"/>
              </a:rPr>
              <a:t>לא לקרוא מספרי טכניקות. חשוב לומר בקול: אל תשוו בין השלבים לפי מי מלווה בסיווג - זה תלוי באיזה מקור לוג במקרה נושא שדה כזה, לא ביכולת הגילוי בפועל. המסר הוא היחס 11 מול 1 בכל שדה אכיפה בערכה, ואחריו שלושת הגילויים שאפשר לבנות מחר בבוקר בלי תקציב.</a:t>
            </a:r>
            <a:endParaRPr/>
          </a:p>
        </p:txBody>
      </p:sp>
      <p:sp>
        <p:nvSpPr>
          <p:cNvPr id="258" name="Google Shape;25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spcBef>
                <a:spcPts val="0"/>
              </a:spcBef>
              <a:spcAft>
                <a:spcPts val="0"/>
              </a:spcAft>
              <a:buNone/>
            </a:pPr>
            <a:r>
              <a:rPr lang="en-US" sz="1200">
                <a:solidFill>
                  <a:schemeClr val="dk1"/>
                </a:solidFill>
                <a:latin typeface="Calibri"/>
                <a:ea typeface="Calibri"/>
                <a:cs typeface="Calibri"/>
                <a:sym typeface="Calibri"/>
              </a:rPr>
              <a:t>שקופית מנוקדת. חובה להביא שגיאה קונקרטית אחת לפחות, עם סוג השגיאה ואיך תפסנו אותה.</a:t>
            </a:r>
            <a:endParaRPr/>
          </a:p>
        </p:txBody>
      </p:sp>
      <p:sp>
        <p:nvSpPr>
          <p:cNvPr id="325" name="Google Shape;325;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spcBef>
                <a:spcPts val="0"/>
              </a:spcBef>
              <a:spcAft>
                <a:spcPts val="0"/>
              </a:spcAft>
              <a:buNone/>
            </a:pPr>
            <a:r>
              <a:rPr lang="en-US" sz="1200">
                <a:solidFill>
                  <a:schemeClr val="dk1"/>
                </a:solidFill>
                <a:latin typeface="Calibri"/>
                <a:ea typeface="Calibri"/>
                <a:cs typeface="Calibri"/>
                <a:sym typeface="Calibri"/>
              </a:rPr>
              <a:t>לא לקרוא 16 שורות. להצביע על שלוש הראשונות בעמודת Tier 1 ולומר שאפשר לבצע אותן היום.</a:t>
            </a:r>
            <a:endParaRPr/>
          </a:p>
        </p:txBody>
      </p:sp>
      <p:sp>
        <p:nvSpPr>
          <p:cNvPr id="344" name="Google Shape;34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1" algn="r">
              <a:spcBef>
                <a:spcPts val="0"/>
              </a:spcBef>
              <a:spcAft>
                <a:spcPts val="0"/>
              </a:spcAft>
              <a:buNone/>
            </a:pPr>
            <a:r>
              <a:rPr lang="en-US" sz="1200">
                <a:solidFill>
                  <a:schemeClr val="dk1"/>
                </a:solidFill>
                <a:latin typeface="Calibri"/>
                <a:ea typeface="Calibri"/>
                <a:cs typeface="Calibri"/>
                <a:sym typeface="Calibri"/>
              </a:rPr>
              <a:t>להיות מוכנים לשלוש: האם אתם בטוחים שהמידע יצא, למה לא ידוע אם יש גיבוי, ומה אתם מגדירים כהתראה. על האחרונה לענות שאין בערכה מקור התראות, ולכן אנחנו לא משווים בין השלבים לפי מי מלווה בסיווג - זה עובדה על תוכן הנתונים, לא על יכולת הגילוי היחסית.</a:t>
            </a:r>
            <a:endParaRPr/>
          </a:p>
        </p:txBody>
      </p:sp>
      <p:sp>
        <p:nvSpPr>
          <p:cNvPr id="367" name="Google Shape;36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0C09"/>
        </a:solidFill>
      </p:bgPr>
    </p:bg>
    <p:spTree>
      <p:nvGrpSpPr>
        <p:cNvPr id="11" name="Shape 11"/>
        <p:cNvGrpSpPr/>
        <p:nvPr/>
      </p:nvGrpSpPr>
      <p:grpSpPr>
        <a:xfrm>
          <a:off x="0" y="0"/>
          <a:ext cx="0" cy="0"/>
          <a:chOff x="0" y="0"/>
          <a:chExt cx="0" cy="0"/>
        </a:xfrm>
      </p:grpSpPr>
      <p:sp>
        <p:nvSpPr>
          <p:cNvPr id="12" name="Google Shape;12;p1"/>
          <p:cNvSpPr/>
          <p:nvPr/>
        </p:nvSpPr>
        <p:spPr>
          <a:xfrm>
            <a:off x="0" y="0"/>
            <a:ext cx="109728" cy="685800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
          <p:cNvSpPr txBox="1"/>
          <p:nvPr/>
        </p:nvSpPr>
        <p:spPr>
          <a:xfrm>
            <a:off x="731520" y="1371600"/>
            <a:ext cx="10698480" cy="73152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F5EEE2"/>
              </a:buClr>
              <a:buSzPts val="4000"/>
              <a:buFont typeface="Arial"/>
              <a:buNone/>
            </a:pPr>
            <a:r>
              <a:rPr b="1" i="0" lang="en-US" sz="4000" u="none" cap="none" strike="noStrike">
                <a:solidFill>
                  <a:srgbClr val="F5EEE2"/>
                </a:solidFill>
                <a:latin typeface="Arial"/>
                <a:ea typeface="Arial"/>
                <a:cs typeface="Arial"/>
                <a:sym typeface="Arial"/>
              </a:rPr>
              <a:t>Meridian Energy Ltd</a:t>
            </a:r>
            <a:endParaRPr b="0" i="0" sz="4000" u="none" cap="none" strike="noStrike">
              <a:solidFill>
                <a:schemeClr val="dk1"/>
              </a:solidFill>
              <a:latin typeface="Calibri"/>
              <a:ea typeface="Calibri"/>
              <a:cs typeface="Calibri"/>
              <a:sym typeface="Calibri"/>
            </a:endParaRPr>
          </a:p>
        </p:txBody>
      </p:sp>
      <p:sp>
        <p:nvSpPr>
          <p:cNvPr id="14" name="Google Shape;14;p1"/>
          <p:cNvSpPr txBox="1"/>
          <p:nvPr/>
        </p:nvSpPr>
        <p:spPr>
          <a:xfrm>
            <a:off x="731520" y="2148840"/>
            <a:ext cx="10698480" cy="54864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D9B8A0"/>
              </a:buClr>
              <a:buSzPts val="2600"/>
              <a:buFont typeface="Arial"/>
              <a:buNone/>
            </a:pPr>
            <a:r>
              <a:rPr b="0" i="0" lang="en-US" sz="2600" u="none" cap="none" strike="noStrike">
                <a:solidFill>
                  <a:srgbClr val="D9B8A0"/>
                </a:solidFill>
                <a:latin typeface="Arial"/>
                <a:ea typeface="Arial"/>
                <a:cs typeface="Arial"/>
                <a:sym typeface="Arial"/>
              </a:rPr>
              <a:t>חקירת אירוע אבטחת מידע</a:t>
            </a:r>
            <a:endParaRPr b="0" i="0" sz="2600" u="none" cap="none" strike="noStrike">
              <a:solidFill>
                <a:schemeClr val="dk1"/>
              </a:solidFill>
              <a:latin typeface="Calibri"/>
              <a:ea typeface="Calibri"/>
              <a:cs typeface="Calibri"/>
              <a:sym typeface="Calibri"/>
            </a:endParaRPr>
          </a:p>
        </p:txBody>
      </p:sp>
      <p:sp>
        <p:nvSpPr>
          <p:cNvPr id="15" name="Google Shape;15;p1"/>
          <p:cNvSpPr txBox="1"/>
          <p:nvPr/>
        </p:nvSpPr>
        <p:spPr>
          <a:xfrm>
            <a:off x="996450" y="3108950"/>
            <a:ext cx="10433700" cy="244380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rPr b="0" i="0" lang="en-US" sz="1800" u="none" cap="none" strike="noStrike">
                <a:solidFill>
                  <a:srgbClr val="C9BEB4"/>
                </a:solidFill>
                <a:latin typeface="Arial"/>
                <a:ea typeface="Arial"/>
                <a:cs typeface="Arial"/>
                <a:sym typeface="Arial"/>
              </a:rPr>
              <a:t>מרידיאן היא חברה לשינוע ואספקת דלקים, כ-310 עובדים, מטה באשדוד ושני מסופי דלק בחיפה ובבאר שבע. המסופים פועלים 24/7.</a:t>
            </a:r>
            <a:endParaRPr/>
          </a:p>
          <a:p>
            <a:pPr indent="0" lvl="0" marL="0" marR="0" rtl="1" algn="r">
              <a:spcBef>
                <a:spcPts val="0"/>
              </a:spcBef>
              <a:spcAft>
                <a:spcPts val="0"/>
              </a:spcAft>
              <a:buNone/>
            </a:pPr>
            <a:r>
              <a:rPr b="0" i="0" lang="en-US" sz="1800" u="none" cap="none" strike="noStrike">
                <a:solidFill>
                  <a:srgbClr val="C9BEB4"/>
                </a:solidFill>
                <a:latin typeface="Arial"/>
                <a:ea typeface="Arial"/>
                <a:cs typeface="Arial"/>
                <a:sym typeface="Arial"/>
              </a:rPr>
              <a:t>התבקשנו לקבוע מה קרה, מתי, אילו חשבונות ומערכות מעורבים, מה היקף הפגיעה, ומה לא ניתן לקבוע.</a:t>
            </a:r>
            <a:endParaRPr/>
          </a:p>
          <a:p>
            <a:pPr indent="0" lvl="0" marL="0" marR="0" rtl="1" algn="r">
              <a:spcBef>
                <a:spcPts val="0"/>
              </a:spcBef>
              <a:spcAft>
                <a:spcPts val="0"/>
              </a:spcAft>
              <a:buNone/>
            </a:pPr>
            <a:r>
              <a:rPr b="0" i="0" lang="en-US" sz="1800" u="none" cap="none" strike="noStrike">
                <a:solidFill>
                  <a:srgbClr val="C9BEB4"/>
                </a:solidFill>
                <a:latin typeface="Arial"/>
                <a:ea typeface="Arial"/>
                <a:cs typeface="Arial"/>
                <a:sym typeface="Arial"/>
              </a:rPr>
              <a:t>חשוב לציין, לא ניתן לנו שום מידע נוסף - הכל חקירה עצמית שלנו.</a:t>
            </a:r>
            <a:endParaRPr b="0" i="0" sz="1600" u="none" cap="none" strike="noStrike">
              <a:solidFill>
                <a:schemeClr val="dk1"/>
              </a:solidFill>
              <a:latin typeface="Calibri"/>
              <a:ea typeface="Calibri"/>
              <a:cs typeface="Calibri"/>
              <a:sym typeface="Calibri"/>
            </a:endParaRPr>
          </a:p>
        </p:txBody>
      </p:sp>
      <p:sp>
        <p:nvSpPr>
          <p:cNvPr id="16" name="Google Shape;16;p1"/>
          <p:cNvSpPr txBox="1"/>
          <p:nvPr/>
        </p:nvSpPr>
        <p:spPr>
          <a:xfrm>
            <a:off x="731520" y="5852160"/>
            <a:ext cx="10698480" cy="36576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8A7A63"/>
              </a:buClr>
              <a:buSzPts val="1400"/>
              <a:buFont typeface="Arial"/>
              <a:buNone/>
            </a:pPr>
            <a:r>
              <a:t/>
            </a:r>
            <a:endParaRPr>
              <a:solidFill>
                <a:srgbClr val="8A7A63"/>
              </a:solidFill>
            </a:endParaRPr>
          </a:p>
          <a:p>
            <a:pPr indent="0" lvl="0" marL="0" marR="0" rtl="1" algn="r">
              <a:spcBef>
                <a:spcPts val="0"/>
              </a:spcBef>
              <a:spcAft>
                <a:spcPts val="0"/>
              </a:spcAft>
              <a:buClr>
                <a:srgbClr val="8A7A63"/>
              </a:buClr>
              <a:buSzPts val="1400"/>
              <a:buFont typeface="Arial"/>
              <a:buNone/>
            </a:pPr>
            <a:r>
              <a:t/>
            </a:r>
            <a:endParaRPr>
              <a:solidFill>
                <a:srgbClr val="8A7A6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30F"/>
        </a:solidFill>
      </p:bgPr>
    </p:bg>
    <p:spTree>
      <p:nvGrpSpPr>
        <p:cNvPr id="21" name="Shape 21"/>
        <p:cNvGrpSpPr/>
        <p:nvPr/>
      </p:nvGrpSpPr>
      <p:grpSpPr>
        <a:xfrm>
          <a:off x="0" y="0"/>
          <a:ext cx="0" cy="0"/>
          <a:chOff x="0" y="0"/>
          <a:chExt cx="0" cy="0"/>
        </a:xfrm>
      </p:grpSpPr>
      <p:sp>
        <p:nvSpPr>
          <p:cNvPr id="22" name="Google Shape;22;p2"/>
          <p:cNvSpPr/>
          <p:nvPr/>
        </p:nvSpPr>
        <p:spPr>
          <a:xfrm>
            <a:off x="0" y="0"/>
            <a:ext cx="12161520" cy="54864"/>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txBox="1"/>
          <p:nvPr/>
        </p:nvSpPr>
        <p:spPr>
          <a:xfrm>
            <a:off x="365760" y="29260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latin typeface="Arial"/>
                <a:ea typeface="Arial"/>
                <a:cs typeface="Arial"/>
                <a:sym typeface="Arial"/>
              </a:rPr>
              <a:t>02</a:t>
            </a:r>
            <a:endParaRPr sz="3000">
              <a:solidFill>
                <a:schemeClr val="dk1"/>
              </a:solidFill>
              <a:latin typeface="Calibri"/>
              <a:ea typeface="Calibri"/>
              <a:cs typeface="Calibri"/>
              <a:sym typeface="Calibri"/>
            </a:endParaRPr>
          </a:p>
        </p:txBody>
      </p:sp>
      <p:sp>
        <p:nvSpPr>
          <p:cNvPr id="24" name="Google Shape;24;p2"/>
          <p:cNvSpPr txBox="1"/>
          <p:nvPr/>
        </p:nvSpPr>
        <p:spPr>
          <a:xfrm>
            <a:off x="1097280" y="310896"/>
            <a:ext cx="10698480" cy="47548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2700"/>
              <a:buFont typeface="Arial"/>
              <a:buNone/>
            </a:pPr>
            <a:r>
              <a:rPr b="1" lang="en-US" sz="2700">
                <a:solidFill>
                  <a:srgbClr val="E4572E"/>
                </a:solidFill>
                <a:latin typeface="Arial"/>
                <a:ea typeface="Arial"/>
                <a:cs typeface="Arial"/>
                <a:sym typeface="Arial"/>
              </a:rPr>
              <a:t>שורה תחתונה, מראש</a:t>
            </a:r>
            <a:endParaRPr sz="2700">
              <a:solidFill>
                <a:schemeClr val="dk1"/>
              </a:solidFill>
              <a:latin typeface="Calibri"/>
              <a:ea typeface="Calibri"/>
              <a:cs typeface="Calibri"/>
              <a:sym typeface="Calibri"/>
            </a:endParaRPr>
          </a:p>
        </p:txBody>
      </p:sp>
      <p:sp>
        <p:nvSpPr>
          <p:cNvPr id="25" name="Google Shape;25;p2"/>
          <p:cNvSpPr txBox="1"/>
          <p:nvPr/>
        </p:nvSpPr>
        <p:spPr>
          <a:xfrm>
            <a:off x="1097280" y="804672"/>
            <a:ext cx="10698480"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500"/>
              <a:buFont typeface="Arial"/>
              <a:buNone/>
            </a:pPr>
            <a:r>
              <a:rPr lang="en-US" sz="1500">
                <a:solidFill>
                  <a:srgbClr val="A69A8A"/>
                </a:solidFill>
                <a:latin typeface="Arial"/>
                <a:ea typeface="Arial"/>
                <a:cs typeface="Arial"/>
                <a:sym typeface="Arial"/>
              </a:rPr>
              <a:t>מה קרה, בשלושה משפטים</a:t>
            </a:r>
            <a:endParaRPr sz="1500">
              <a:solidFill>
                <a:schemeClr val="dk1"/>
              </a:solidFill>
              <a:latin typeface="Calibri"/>
              <a:ea typeface="Calibri"/>
              <a:cs typeface="Calibri"/>
              <a:sym typeface="Calibri"/>
            </a:endParaRPr>
          </a:p>
        </p:txBody>
      </p:sp>
      <p:cxnSp>
        <p:nvCxnSpPr>
          <p:cNvPr id="26" name="Google Shape;26;p2"/>
          <p:cNvCxnSpPr/>
          <p:nvPr/>
        </p:nvCxnSpPr>
        <p:spPr>
          <a:xfrm>
            <a:off x="548640" y="1207008"/>
            <a:ext cx="11064240" cy="0"/>
          </a:xfrm>
          <a:prstGeom prst="straightConnector1">
            <a:avLst/>
          </a:prstGeom>
          <a:noFill/>
          <a:ln cap="flat" cmpd="sng" w="12700">
            <a:solidFill>
              <a:srgbClr val="2C2620"/>
            </a:solidFill>
            <a:prstDash val="solid"/>
            <a:round/>
            <a:headEnd len="sm" w="sm" type="none"/>
            <a:tailEnd len="sm" w="sm" type="none"/>
          </a:ln>
        </p:spPr>
      </p:cxnSp>
      <p:sp>
        <p:nvSpPr>
          <p:cNvPr id="27" name="Google Shape;27;p2"/>
          <p:cNvSpPr/>
          <p:nvPr/>
        </p:nvSpPr>
        <p:spPr>
          <a:xfrm>
            <a:off x="640080" y="1600200"/>
            <a:ext cx="10881360" cy="1078992"/>
          </a:xfrm>
          <a:prstGeom prst="roundRect">
            <a:avLst>
              <a:gd fmla="val 3390" name="adj"/>
            </a:avLst>
          </a:prstGeom>
          <a:solidFill>
            <a:srgbClr val="1E1912"/>
          </a:solidFill>
          <a:ln cap="flat" cmpd="sng" w="12700">
            <a:solidFill>
              <a:srgbClr val="2C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11466576" y="1600200"/>
            <a:ext cx="54864" cy="1078992"/>
          </a:xfrm>
          <a:prstGeom prst="rect">
            <a:avLst/>
          </a:prstGeom>
          <a:solidFill>
            <a:srgbClr val="8A82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txBox="1"/>
          <p:nvPr/>
        </p:nvSpPr>
        <p:spPr>
          <a:xfrm>
            <a:off x="777240" y="1874520"/>
            <a:ext cx="5486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latin typeface="Arial"/>
                <a:ea typeface="Arial"/>
                <a:cs typeface="Arial"/>
                <a:sym typeface="Arial"/>
              </a:rPr>
              <a:t>1</a:t>
            </a:r>
            <a:endParaRPr sz="3000">
              <a:solidFill>
                <a:schemeClr val="dk1"/>
              </a:solidFill>
              <a:latin typeface="Calibri"/>
              <a:ea typeface="Calibri"/>
              <a:cs typeface="Calibri"/>
              <a:sym typeface="Calibri"/>
            </a:endParaRPr>
          </a:p>
        </p:txBody>
      </p:sp>
      <p:sp>
        <p:nvSpPr>
          <p:cNvPr id="30" name="Google Shape;30;p2"/>
          <p:cNvSpPr txBox="1"/>
          <p:nvPr/>
        </p:nvSpPr>
        <p:spPr>
          <a:xfrm>
            <a:off x="1371600" y="1801368"/>
            <a:ext cx="9875520" cy="73152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rPr b="0" lang="en-US" sz="1600">
                <a:solidFill>
                  <a:schemeClr val="lt1"/>
                </a:solidFill>
                <a:latin typeface="Calibri"/>
                <a:ea typeface="Calibri"/>
                <a:cs typeface="Calibri"/>
                <a:sym typeface="Calibri"/>
              </a:rPr>
              <a:t>חשבון של עובד שעזב ביוני 2025, ללא MFA שימש להתחברות  VPN מרומניה ב-13/08 בשעה 22:41.</a:t>
            </a:r>
            <a:endParaRPr/>
          </a:p>
          <a:p>
            <a:pPr indent="0" lvl="0" marL="0" marR="0" rtl="1" algn="r">
              <a:spcBef>
                <a:spcPts val="0"/>
              </a:spcBef>
              <a:spcAft>
                <a:spcPts val="0"/>
              </a:spcAft>
              <a:buNone/>
            </a:pPr>
            <a:r>
              <a:t/>
            </a:r>
            <a:endParaRPr b="0" sz="1600">
              <a:solidFill>
                <a:schemeClr val="lt1"/>
              </a:solidFill>
              <a:latin typeface="Calibri"/>
              <a:ea typeface="Calibri"/>
              <a:cs typeface="Calibri"/>
              <a:sym typeface="Calibri"/>
            </a:endParaRPr>
          </a:p>
        </p:txBody>
      </p:sp>
      <p:sp>
        <p:nvSpPr>
          <p:cNvPr id="31" name="Google Shape;31;p2"/>
          <p:cNvSpPr/>
          <p:nvPr/>
        </p:nvSpPr>
        <p:spPr>
          <a:xfrm>
            <a:off x="640080" y="2898648"/>
            <a:ext cx="10881360" cy="1078992"/>
          </a:xfrm>
          <a:prstGeom prst="roundRect">
            <a:avLst>
              <a:gd fmla="val 3390" name="adj"/>
            </a:avLst>
          </a:prstGeom>
          <a:solidFill>
            <a:srgbClr val="1E1912"/>
          </a:solidFill>
          <a:ln cap="flat" cmpd="sng" w="12700">
            <a:solidFill>
              <a:srgbClr val="2C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1466576" y="2898648"/>
            <a:ext cx="54864" cy="1078992"/>
          </a:xfrm>
          <a:prstGeom prst="rect">
            <a:avLst/>
          </a:prstGeom>
          <a:solidFill>
            <a:srgbClr val="CC6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txBox="1"/>
          <p:nvPr/>
        </p:nvSpPr>
        <p:spPr>
          <a:xfrm>
            <a:off x="777240" y="3172968"/>
            <a:ext cx="5486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latin typeface="Arial"/>
                <a:ea typeface="Arial"/>
                <a:cs typeface="Arial"/>
                <a:sym typeface="Arial"/>
              </a:rPr>
              <a:t>2</a:t>
            </a:r>
            <a:endParaRPr sz="3000">
              <a:solidFill>
                <a:schemeClr val="dk1"/>
              </a:solidFill>
              <a:latin typeface="Calibri"/>
              <a:ea typeface="Calibri"/>
              <a:cs typeface="Calibri"/>
              <a:sym typeface="Calibri"/>
            </a:endParaRPr>
          </a:p>
        </p:txBody>
      </p:sp>
      <p:sp>
        <p:nvSpPr>
          <p:cNvPr id="34" name="Google Shape;34;p2"/>
          <p:cNvSpPr txBox="1"/>
          <p:nvPr/>
        </p:nvSpPr>
        <p:spPr>
          <a:xfrm>
            <a:off x="1371600" y="3099816"/>
            <a:ext cx="9875520" cy="731520"/>
          </a:xfrm>
          <a:prstGeom prst="rect">
            <a:avLst/>
          </a:prstGeom>
          <a:noFill/>
          <a:ln>
            <a:noFill/>
          </a:ln>
        </p:spPr>
        <p:txBody>
          <a:bodyPr anchorCtr="0" anchor="ctr" bIns="45700" lIns="91425" spcFirstLastPara="1" rIns="91425" wrap="square" tIns="45700">
            <a:noAutofit/>
          </a:bodyPr>
          <a:lstStyle/>
          <a:p>
            <a:pPr indent="0" lvl="0" marL="0" marR="0" rtl="1" algn="r">
              <a:lnSpc>
                <a:spcPct val="152941"/>
              </a:lnSpc>
              <a:spcBef>
                <a:spcPts val="0"/>
              </a:spcBef>
              <a:spcAft>
                <a:spcPts val="0"/>
              </a:spcAft>
              <a:buClr>
                <a:srgbClr val="EDE7DD"/>
              </a:buClr>
              <a:buSzPts val="1700"/>
              <a:buFont typeface="Arial"/>
              <a:buNone/>
            </a:pPr>
            <a:r>
              <a:rPr lang="en-US" sz="1700">
                <a:solidFill>
                  <a:srgbClr val="EDE7DD"/>
                </a:solidFill>
                <a:latin typeface="Calibri"/>
                <a:ea typeface="Calibri"/>
                <a:cs typeface="Calibri"/>
                <a:sym typeface="Calibri"/>
              </a:rPr>
              <a:t>בתוך שמונה שעות נקראו 3.20 GB משרת הקבצים, הועלו 1.32GB  לענן דרך קישור ללא תפוגה, נמחקה עבודת גיבוי, ו-9,412 קבצים בשרת החיוב הוצפנו.</a:t>
            </a:r>
            <a:endParaRPr sz="1700">
              <a:solidFill>
                <a:schemeClr val="dk1"/>
              </a:solidFill>
              <a:latin typeface="Calibri"/>
              <a:ea typeface="Calibri"/>
              <a:cs typeface="Calibri"/>
              <a:sym typeface="Calibri"/>
            </a:endParaRPr>
          </a:p>
        </p:txBody>
      </p:sp>
      <p:sp>
        <p:nvSpPr>
          <p:cNvPr id="35" name="Google Shape;35;p2"/>
          <p:cNvSpPr/>
          <p:nvPr/>
        </p:nvSpPr>
        <p:spPr>
          <a:xfrm>
            <a:off x="640080" y="4197096"/>
            <a:ext cx="10881360" cy="1078992"/>
          </a:xfrm>
          <a:prstGeom prst="roundRect">
            <a:avLst>
              <a:gd fmla="val 3390" name="adj"/>
            </a:avLst>
          </a:prstGeom>
          <a:solidFill>
            <a:srgbClr val="1E1912"/>
          </a:solidFill>
          <a:ln cap="flat" cmpd="sng" w="12700">
            <a:solidFill>
              <a:srgbClr val="2C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11466576" y="4197096"/>
            <a:ext cx="54864" cy="1078992"/>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txBox="1"/>
          <p:nvPr/>
        </p:nvSpPr>
        <p:spPr>
          <a:xfrm>
            <a:off x="777240" y="4471416"/>
            <a:ext cx="54864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latin typeface="Arial"/>
                <a:ea typeface="Arial"/>
                <a:cs typeface="Arial"/>
                <a:sym typeface="Arial"/>
              </a:rPr>
              <a:t>3</a:t>
            </a:r>
            <a:endParaRPr sz="3000">
              <a:solidFill>
                <a:schemeClr val="dk1"/>
              </a:solidFill>
              <a:latin typeface="Calibri"/>
              <a:ea typeface="Calibri"/>
              <a:cs typeface="Calibri"/>
              <a:sym typeface="Calibri"/>
            </a:endParaRPr>
          </a:p>
        </p:txBody>
      </p:sp>
      <p:sp>
        <p:nvSpPr>
          <p:cNvPr id="38" name="Google Shape;38;p2"/>
          <p:cNvSpPr txBox="1"/>
          <p:nvPr/>
        </p:nvSpPr>
        <p:spPr>
          <a:xfrm>
            <a:off x="1371600" y="4398264"/>
            <a:ext cx="9875520" cy="731520"/>
          </a:xfrm>
          <a:prstGeom prst="rect">
            <a:avLst/>
          </a:prstGeom>
          <a:noFill/>
          <a:ln>
            <a:noFill/>
          </a:ln>
        </p:spPr>
        <p:txBody>
          <a:bodyPr anchorCtr="0" anchor="ctr" bIns="45700" lIns="91425" spcFirstLastPara="1" rIns="91425" wrap="square" tIns="45700">
            <a:noAutofit/>
          </a:bodyPr>
          <a:lstStyle/>
          <a:p>
            <a:pPr indent="0" lvl="0" marL="0" marR="0" rtl="1" algn="r">
              <a:lnSpc>
                <a:spcPct val="152941"/>
              </a:lnSpc>
              <a:spcBef>
                <a:spcPts val="0"/>
              </a:spcBef>
              <a:spcAft>
                <a:spcPts val="0"/>
              </a:spcAft>
              <a:buClr>
                <a:srgbClr val="EDE7DD"/>
              </a:buClr>
              <a:buSzPts val="1700"/>
              <a:buFont typeface="Arial"/>
              <a:buNone/>
            </a:pPr>
            <a:r>
              <a:rPr lang="en-US" sz="1700">
                <a:solidFill>
                  <a:srgbClr val="EDE7DD"/>
                </a:solidFill>
                <a:latin typeface="Calibri"/>
                <a:ea typeface="Calibri"/>
                <a:cs typeface="Calibri"/>
                <a:sym typeface="Calibri"/>
              </a:rPr>
              <a:t>האירוע אינו בלום  הקישור פתוח, לא ידוע אם קיים גיבוי, ונוצרה דרך גישה שנייה שלא נסגרה.</a:t>
            </a:r>
            <a:endParaRPr sz="1700">
              <a:solidFill>
                <a:schemeClr val="dk1"/>
              </a:solidFill>
              <a:latin typeface="Calibri"/>
              <a:ea typeface="Calibri"/>
              <a:cs typeface="Calibri"/>
              <a:sym typeface="Calibri"/>
            </a:endParaRPr>
          </a:p>
        </p:txBody>
      </p:sp>
      <p:sp>
        <p:nvSpPr>
          <p:cNvPr id="39" name="Google Shape;39;p2"/>
          <p:cNvSpPr txBox="1"/>
          <p:nvPr/>
        </p:nvSpPr>
        <p:spPr>
          <a:xfrm>
            <a:off x="868680" y="5751590"/>
            <a:ext cx="10881300" cy="36570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300"/>
              <a:buFont typeface="Arial"/>
              <a:buNone/>
            </a:pPr>
            <a:r>
              <a:t/>
            </a:r>
            <a:endParaRPr sz="13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30F"/>
        </a:solidFill>
      </p:bgPr>
    </p:bg>
    <p:spTree>
      <p:nvGrpSpPr>
        <p:cNvPr id="44" name="Shape 44"/>
        <p:cNvGrpSpPr/>
        <p:nvPr/>
      </p:nvGrpSpPr>
      <p:grpSpPr>
        <a:xfrm>
          <a:off x="0" y="0"/>
          <a:ext cx="0" cy="0"/>
          <a:chOff x="0" y="0"/>
          <a:chExt cx="0" cy="0"/>
        </a:xfrm>
      </p:grpSpPr>
      <p:sp>
        <p:nvSpPr>
          <p:cNvPr id="45" name="Google Shape;45;p3"/>
          <p:cNvSpPr/>
          <p:nvPr/>
        </p:nvSpPr>
        <p:spPr>
          <a:xfrm>
            <a:off x="0" y="0"/>
            <a:ext cx="12161520" cy="54864"/>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txBox="1"/>
          <p:nvPr/>
        </p:nvSpPr>
        <p:spPr>
          <a:xfrm>
            <a:off x="365760" y="29260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latin typeface="Arial"/>
                <a:ea typeface="Arial"/>
                <a:cs typeface="Arial"/>
                <a:sym typeface="Arial"/>
              </a:rPr>
              <a:t>03</a:t>
            </a:r>
            <a:endParaRPr sz="3000">
              <a:solidFill>
                <a:schemeClr val="dk1"/>
              </a:solidFill>
              <a:latin typeface="Calibri"/>
              <a:ea typeface="Calibri"/>
              <a:cs typeface="Calibri"/>
              <a:sym typeface="Calibri"/>
            </a:endParaRPr>
          </a:p>
        </p:txBody>
      </p:sp>
      <p:sp>
        <p:nvSpPr>
          <p:cNvPr id="47" name="Google Shape;47;p3"/>
          <p:cNvSpPr txBox="1"/>
          <p:nvPr/>
        </p:nvSpPr>
        <p:spPr>
          <a:xfrm>
            <a:off x="1097280" y="310896"/>
            <a:ext cx="10698480" cy="47548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2700"/>
              <a:buFont typeface="Arial"/>
              <a:buNone/>
            </a:pPr>
            <a:r>
              <a:rPr b="1" lang="en-US" sz="2700">
                <a:solidFill>
                  <a:srgbClr val="E4572E"/>
                </a:solidFill>
                <a:latin typeface="Arial"/>
                <a:ea typeface="Arial"/>
                <a:cs typeface="Arial"/>
                <a:sym typeface="Arial"/>
              </a:rPr>
              <a:t>ציר זמן</a:t>
            </a:r>
            <a:endParaRPr sz="2700">
              <a:solidFill>
                <a:schemeClr val="dk1"/>
              </a:solidFill>
              <a:latin typeface="Calibri"/>
              <a:ea typeface="Calibri"/>
              <a:cs typeface="Calibri"/>
              <a:sym typeface="Calibri"/>
            </a:endParaRPr>
          </a:p>
        </p:txBody>
      </p:sp>
      <p:sp>
        <p:nvSpPr>
          <p:cNvPr id="48" name="Google Shape;48;p3"/>
          <p:cNvSpPr txBox="1"/>
          <p:nvPr/>
        </p:nvSpPr>
        <p:spPr>
          <a:xfrm>
            <a:off x="1097280" y="804672"/>
            <a:ext cx="10698480"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500"/>
              <a:buFont typeface="Arial"/>
              <a:buNone/>
            </a:pPr>
            <a:r>
              <a:rPr lang="en-US" sz="1500">
                <a:solidFill>
                  <a:srgbClr val="A69A8A"/>
                </a:solidFill>
                <a:latin typeface="Arial"/>
                <a:ea typeface="Arial"/>
                <a:cs typeface="Arial"/>
                <a:sym typeface="Arial"/>
              </a:rPr>
              <a:t>התקיפה לפי סדר, כל השעות ב-UTC, עם טכניקת MITRE לכל שלב</a:t>
            </a:r>
            <a:endParaRPr sz="1500">
              <a:solidFill>
                <a:schemeClr val="dk1"/>
              </a:solidFill>
              <a:latin typeface="Calibri"/>
              <a:ea typeface="Calibri"/>
              <a:cs typeface="Calibri"/>
              <a:sym typeface="Calibri"/>
            </a:endParaRPr>
          </a:p>
        </p:txBody>
      </p:sp>
      <p:cxnSp>
        <p:nvCxnSpPr>
          <p:cNvPr id="49" name="Google Shape;49;p3"/>
          <p:cNvCxnSpPr/>
          <p:nvPr/>
        </p:nvCxnSpPr>
        <p:spPr>
          <a:xfrm>
            <a:off x="548640" y="1207008"/>
            <a:ext cx="11064240" cy="0"/>
          </a:xfrm>
          <a:prstGeom prst="straightConnector1">
            <a:avLst/>
          </a:prstGeom>
          <a:noFill/>
          <a:ln cap="flat" cmpd="sng" w="12700">
            <a:solidFill>
              <a:srgbClr val="2C2620"/>
            </a:solidFill>
            <a:prstDash val="solid"/>
            <a:round/>
            <a:headEnd len="sm" w="sm" type="none"/>
            <a:tailEnd len="sm" w="sm" type="none"/>
          </a:ln>
        </p:spPr>
      </p:cxnSp>
      <p:cxnSp>
        <p:nvCxnSpPr>
          <p:cNvPr id="50" name="Google Shape;50;p3"/>
          <p:cNvCxnSpPr/>
          <p:nvPr/>
        </p:nvCxnSpPr>
        <p:spPr>
          <a:xfrm>
            <a:off x="960120" y="3703320"/>
            <a:ext cx="10241280" cy="0"/>
          </a:xfrm>
          <a:prstGeom prst="straightConnector1">
            <a:avLst/>
          </a:prstGeom>
          <a:noFill/>
          <a:ln cap="flat" cmpd="sng" w="25400">
            <a:solidFill>
              <a:srgbClr val="4A4030"/>
            </a:solidFill>
            <a:prstDash val="solid"/>
            <a:round/>
            <a:headEnd len="sm" w="sm" type="none"/>
            <a:tailEnd len="sm" w="sm" type="none"/>
          </a:ln>
        </p:spPr>
      </p:cxnSp>
      <p:sp>
        <p:nvSpPr>
          <p:cNvPr id="51" name="Google Shape;51;p3"/>
          <p:cNvSpPr/>
          <p:nvPr/>
        </p:nvSpPr>
        <p:spPr>
          <a:xfrm>
            <a:off x="11132820" y="3634740"/>
            <a:ext cx="137160" cy="137160"/>
          </a:xfrm>
          <a:prstGeom prst="ellipse">
            <a:avLst/>
          </a:prstGeom>
          <a:solidFill>
            <a:srgbClr val="8A82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 name="Google Shape;52;p3"/>
          <p:cNvCxnSpPr/>
          <p:nvPr/>
        </p:nvCxnSpPr>
        <p:spPr>
          <a:xfrm>
            <a:off x="11201400" y="3429000"/>
            <a:ext cx="0" cy="274320"/>
          </a:xfrm>
          <a:prstGeom prst="straightConnector1">
            <a:avLst/>
          </a:prstGeom>
          <a:noFill/>
          <a:ln cap="flat" cmpd="sng" w="12700">
            <a:solidFill>
              <a:srgbClr val="8A8275"/>
            </a:solidFill>
            <a:prstDash val="solid"/>
            <a:round/>
            <a:headEnd len="sm" w="sm" type="none"/>
            <a:tailEnd len="sm" w="sm" type="none"/>
          </a:ln>
        </p:spPr>
      </p:cxnSp>
      <p:sp>
        <p:nvSpPr>
          <p:cNvPr id="53" name="Google Shape;53;p3"/>
          <p:cNvSpPr txBox="1"/>
          <p:nvPr/>
        </p:nvSpPr>
        <p:spPr>
          <a:xfrm>
            <a:off x="10634472" y="2404872"/>
            <a:ext cx="1133856" cy="2743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8A8275"/>
              </a:buClr>
              <a:buSzPts val="1400"/>
              <a:buFont typeface="Arial"/>
              <a:buNone/>
            </a:pPr>
            <a:r>
              <a:rPr b="1" lang="en-US" sz="1400">
                <a:solidFill>
                  <a:srgbClr val="8A8275"/>
                </a:solidFill>
                <a:latin typeface="Arial"/>
                <a:ea typeface="Arial"/>
                <a:cs typeface="Arial"/>
                <a:sym typeface="Arial"/>
              </a:rPr>
              <a:t>22:41</a:t>
            </a:r>
            <a:endParaRPr sz="1400">
              <a:solidFill>
                <a:schemeClr val="dk1"/>
              </a:solidFill>
              <a:latin typeface="Calibri"/>
              <a:ea typeface="Calibri"/>
              <a:cs typeface="Calibri"/>
              <a:sym typeface="Calibri"/>
            </a:endParaRPr>
          </a:p>
        </p:txBody>
      </p:sp>
      <p:sp>
        <p:nvSpPr>
          <p:cNvPr id="54" name="Google Shape;54;p3"/>
          <p:cNvSpPr txBox="1"/>
          <p:nvPr/>
        </p:nvSpPr>
        <p:spPr>
          <a:xfrm>
            <a:off x="10543032" y="2660904"/>
            <a:ext cx="1316736" cy="31089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DE7DD"/>
              </a:buClr>
              <a:buSzPts val="1200"/>
              <a:buFont typeface="Arial"/>
              <a:buNone/>
            </a:pPr>
            <a:r>
              <a:rPr b="1" lang="en-US" sz="1200">
                <a:solidFill>
                  <a:srgbClr val="EDE7DD"/>
                </a:solidFill>
                <a:latin typeface="Arial"/>
                <a:ea typeface="Arial"/>
                <a:cs typeface="Arial"/>
                <a:sym typeface="Arial"/>
              </a:rPr>
              <a:t>התחברות VPN</a:t>
            </a:r>
            <a:endParaRPr sz="1200">
              <a:solidFill>
                <a:schemeClr val="dk1"/>
              </a:solidFill>
              <a:latin typeface="Calibri"/>
              <a:ea typeface="Calibri"/>
              <a:cs typeface="Calibri"/>
              <a:sym typeface="Calibri"/>
            </a:endParaRPr>
          </a:p>
        </p:txBody>
      </p:sp>
      <p:sp>
        <p:nvSpPr>
          <p:cNvPr id="55" name="Google Shape;55;p3"/>
          <p:cNvSpPr txBox="1"/>
          <p:nvPr/>
        </p:nvSpPr>
        <p:spPr>
          <a:xfrm>
            <a:off x="10460736" y="2971800"/>
            <a:ext cx="1481328" cy="40233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69A8A"/>
              </a:buClr>
              <a:buSzPts val="1000"/>
              <a:buFont typeface="Arial"/>
              <a:buNone/>
            </a:pPr>
            <a:r>
              <a:rPr lang="en-US" sz="1000">
                <a:solidFill>
                  <a:srgbClr val="A69A8A"/>
                </a:solidFill>
                <a:latin typeface="Arial"/>
                <a:ea typeface="Arial"/>
                <a:cs typeface="Arial"/>
                <a:sym typeface="Arial"/>
              </a:rPr>
              <a:t>T1078.002 · d.aviram · רומניה · ללא MFA</a:t>
            </a:r>
            <a:endParaRPr sz="1000">
              <a:solidFill>
                <a:schemeClr val="dk1"/>
              </a:solidFill>
              <a:latin typeface="Calibri"/>
              <a:ea typeface="Calibri"/>
              <a:cs typeface="Calibri"/>
              <a:sym typeface="Calibri"/>
            </a:endParaRPr>
          </a:p>
        </p:txBody>
      </p:sp>
      <p:sp>
        <p:nvSpPr>
          <p:cNvPr id="56" name="Google Shape;56;p3"/>
          <p:cNvSpPr/>
          <p:nvPr/>
        </p:nvSpPr>
        <p:spPr>
          <a:xfrm>
            <a:off x="10201795" y="3634740"/>
            <a:ext cx="137160" cy="13716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 name="Google Shape;57;p3"/>
          <p:cNvCxnSpPr/>
          <p:nvPr/>
        </p:nvCxnSpPr>
        <p:spPr>
          <a:xfrm>
            <a:off x="10270375" y="4014216"/>
            <a:ext cx="0" cy="274320"/>
          </a:xfrm>
          <a:prstGeom prst="straightConnector1">
            <a:avLst/>
          </a:prstGeom>
          <a:noFill/>
          <a:ln cap="flat" cmpd="sng" w="12700">
            <a:solidFill>
              <a:srgbClr val="C9A227"/>
            </a:solidFill>
            <a:prstDash val="solid"/>
            <a:round/>
            <a:headEnd len="sm" w="sm" type="none"/>
            <a:tailEnd len="sm" w="sm" type="none"/>
          </a:ln>
        </p:spPr>
      </p:cxnSp>
      <p:sp>
        <p:nvSpPr>
          <p:cNvPr id="58" name="Google Shape;58;p3"/>
          <p:cNvSpPr txBox="1"/>
          <p:nvPr/>
        </p:nvSpPr>
        <p:spPr>
          <a:xfrm>
            <a:off x="9703447" y="4343400"/>
            <a:ext cx="1133856" cy="2743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C9A227"/>
              </a:buClr>
              <a:buSzPts val="1400"/>
              <a:buFont typeface="Arial"/>
              <a:buNone/>
            </a:pPr>
            <a:r>
              <a:rPr b="1" lang="en-US" sz="1400">
                <a:solidFill>
                  <a:srgbClr val="C9A227"/>
                </a:solidFill>
                <a:latin typeface="Arial"/>
                <a:ea typeface="Arial"/>
                <a:cs typeface="Arial"/>
                <a:sym typeface="Arial"/>
              </a:rPr>
              <a:t>22:58</a:t>
            </a:r>
            <a:endParaRPr sz="1400">
              <a:solidFill>
                <a:schemeClr val="dk1"/>
              </a:solidFill>
              <a:latin typeface="Calibri"/>
              <a:ea typeface="Calibri"/>
              <a:cs typeface="Calibri"/>
              <a:sym typeface="Calibri"/>
            </a:endParaRPr>
          </a:p>
        </p:txBody>
      </p:sp>
      <p:sp>
        <p:nvSpPr>
          <p:cNvPr id="59" name="Google Shape;59;p3"/>
          <p:cNvSpPr txBox="1"/>
          <p:nvPr/>
        </p:nvSpPr>
        <p:spPr>
          <a:xfrm>
            <a:off x="9612007" y="4599432"/>
            <a:ext cx="1316736" cy="31089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DE7DD"/>
              </a:buClr>
              <a:buSzPts val="1200"/>
              <a:buFont typeface="Arial"/>
              <a:buNone/>
            </a:pPr>
            <a:r>
              <a:rPr b="1" lang="en-US" sz="1200">
                <a:solidFill>
                  <a:srgbClr val="EDE7DD"/>
                </a:solidFill>
                <a:latin typeface="Arial"/>
                <a:ea typeface="Arial"/>
                <a:cs typeface="Arial"/>
                <a:sym typeface="Arial"/>
              </a:rPr>
              <a:t>מיפוי דומיין</a:t>
            </a:r>
            <a:endParaRPr sz="1200">
              <a:solidFill>
                <a:schemeClr val="dk1"/>
              </a:solidFill>
              <a:latin typeface="Calibri"/>
              <a:ea typeface="Calibri"/>
              <a:cs typeface="Calibri"/>
              <a:sym typeface="Calibri"/>
            </a:endParaRPr>
          </a:p>
        </p:txBody>
      </p:sp>
      <p:sp>
        <p:nvSpPr>
          <p:cNvPr id="60" name="Google Shape;60;p3"/>
          <p:cNvSpPr txBox="1"/>
          <p:nvPr/>
        </p:nvSpPr>
        <p:spPr>
          <a:xfrm>
            <a:off x="9529711" y="4910328"/>
            <a:ext cx="1481328" cy="40233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69A8A"/>
              </a:buClr>
              <a:buSzPts val="1000"/>
              <a:buFont typeface="Arial"/>
              <a:buNone/>
            </a:pPr>
            <a:r>
              <a:rPr lang="en-US" sz="1000">
                <a:solidFill>
                  <a:srgbClr val="A69A8A"/>
                </a:solidFill>
                <a:latin typeface="Arial"/>
                <a:ea typeface="Arial"/>
                <a:cs typeface="Arial"/>
                <a:sym typeface="Arial"/>
              </a:rPr>
              <a:t>T1087.002 · T1018 · פקודות מובנות</a:t>
            </a:r>
            <a:endParaRPr sz="1000">
              <a:solidFill>
                <a:schemeClr val="dk1"/>
              </a:solidFill>
              <a:latin typeface="Calibri"/>
              <a:ea typeface="Calibri"/>
              <a:cs typeface="Calibri"/>
              <a:sym typeface="Calibri"/>
            </a:endParaRPr>
          </a:p>
        </p:txBody>
      </p:sp>
      <p:sp>
        <p:nvSpPr>
          <p:cNvPr id="61" name="Google Shape;61;p3"/>
          <p:cNvSpPr/>
          <p:nvPr/>
        </p:nvSpPr>
        <p:spPr>
          <a:xfrm>
            <a:off x="9270769" y="3634740"/>
            <a:ext cx="137160" cy="13716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 name="Google Shape;62;p3"/>
          <p:cNvCxnSpPr/>
          <p:nvPr/>
        </p:nvCxnSpPr>
        <p:spPr>
          <a:xfrm>
            <a:off x="9339349" y="3429000"/>
            <a:ext cx="0" cy="274320"/>
          </a:xfrm>
          <a:prstGeom prst="straightConnector1">
            <a:avLst/>
          </a:prstGeom>
          <a:noFill/>
          <a:ln cap="flat" cmpd="sng" w="12700">
            <a:solidFill>
              <a:srgbClr val="C9A227"/>
            </a:solidFill>
            <a:prstDash val="solid"/>
            <a:round/>
            <a:headEnd len="sm" w="sm" type="none"/>
            <a:tailEnd len="sm" w="sm" type="none"/>
          </a:ln>
        </p:spPr>
      </p:cxnSp>
      <p:sp>
        <p:nvSpPr>
          <p:cNvPr id="63" name="Google Shape;63;p3"/>
          <p:cNvSpPr txBox="1"/>
          <p:nvPr/>
        </p:nvSpPr>
        <p:spPr>
          <a:xfrm>
            <a:off x="8772421" y="2404872"/>
            <a:ext cx="1133856" cy="2743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C9A227"/>
              </a:buClr>
              <a:buSzPts val="1400"/>
              <a:buFont typeface="Arial"/>
              <a:buNone/>
            </a:pPr>
            <a:r>
              <a:rPr b="1" lang="en-US" sz="1400">
                <a:solidFill>
                  <a:srgbClr val="C9A227"/>
                </a:solidFill>
                <a:latin typeface="Arial"/>
                <a:ea typeface="Arial"/>
                <a:cs typeface="Arial"/>
                <a:sym typeface="Arial"/>
              </a:rPr>
              <a:t>23:30</a:t>
            </a:r>
            <a:endParaRPr sz="1400">
              <a:solidFill>
                <a:schemeClr val="dk1"/>
              </a:solidFill>
              <a:latin typeface="Calibri"/>
              <a:ea typeface="Calibri"/>
              <a:cs typeface="Calibri"/>
              <a:sym typeface="Calibri"/>
            </a:endParaRPr>
          </a:p>
        </p:txBody>
      </p:sp>
      <p:sp>
        <p:nvSpPr>
          <p:cNvPr id="64" name="Google Shape;64;p3"/>
          <p:cNvSpPr txBox="1"/>
          <p:nvPr/>
        </p:nvSpPr>
        <p:spPr>
          <a:xfrm>
            <a:off x="8680981" y="2660904"/>
            <a:ext cx="1316736" cy="31089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DE7DD"/>
              </a:buClr>
              <a:buSzPts val="1200"/>
              <a:buFont typeface="Arial"/>
              <a:buNone/>
            </a:pPr>
            <a:r>
              <a:rPr b="1" lang="en-US" sz="1200">
                <a:solidFill>
                  <a:srgbClr val="EDE7DD"/>
                </a:solidFill>
                <a:latin typeface="Arial"/>
                <a:ea typeface="Arial"/>
                <a:cs typeface="Arial"/>
                <a:sym typeface="Arial"/>
              </a:rPr>
              <a:t>העלאה ל-upload.aspx</a:t>
            </a:r>
            <a:endParaRPr sz="1200">
              <a:solidFill>
                <a:schemeClr val="dk1"/>
              </a:solidFill>
              <a:latin typeface="Calibri"/>
              <a:ea typeface="Calibri"/>
              <a:cs typeface="Calibri"/>
              <a:sym typeface="Calibri"/>
            </a:endParaRPr>
          </a:p>
        </p:txBody>
      </p:sp>
      <p:sp>
        <p:nvSpPr>
          <p:cNvPr id="65" name="Google Shape;65;p3"/>
          <p:cNvSpPr txBox="1"/>
          <p:nvPr/>
        </p:nvSpPr>
        <p:spPr>
          <a:xfrm>
            <a:off x="8598685" y="2971800"/>
            <a:ext cx="1481328" cy="40233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69A8A"/>
              </a:buClr>
              <a:buSzPts val="1000"/>
              <a:buFont typeface="Arial"/>
              <a:buNone/>
            </a:pPr>
            <a:r>
              <a:rPr lang="en-US" sz="1000">
                <a:solidFill>
                  <a:srgbClr val="A69A8A"/>
                </a:solidFill>
                <a:latin typeface="Arial"/>
                <a:ea typeface="Arial"/>
                <a:cs typeface="Arial"/>
                <a:sym typeface="Arial"/>
              </a:rPr>
              <a:t>T1505.003 · POST · 200 · WebShell</a:t>
            </a:r>
            <a:endParaRPr sz="1000">
              <a:solidFill>
                <a:schemeClr val="dk1"/>
              </a:solidFill>
              <a:latin typeface="Calibri"/>
              <a:ea typeface="Calibri"/>
              <a:cs typeface="Calibri"/>
              <a:sym typeface="Calibri"/>
            </a:endParaRPr>
          </a:p>
        </p:txBody>
      </p:sp>
      <p:sp>
        <p:nvSpPr>
          <p:cNvPr id="66" name="Google Shape;66;p3"/>
          <p:cNvSpPr/>
          <p:nvPr/>
        </p:nvSpPr>
        <p:spPr>
          <a:xfrm>
            <a:off x="8339744" y="3634740"/>
            <a:ext cx="137160" cy="137160"/>
          </a:xfrm>
          <a:prstGeom prst="ellipse">
            <a:avLst/>
          </a:prstGeom>
          <a:solidFill>
            <a:srgbClr val="D98E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 name="Google Shape;67;p3"/>
          <p:cNvCxnSpPr/>
          <p:nvPr/>
        </p:nvCxnSpPr>
        <p:spPr>
          <a:xfrm>
            <a:off x="8408324" y="4014216"/>
            <a:ext cx="0" cy="274320"/>
          </a:xfrm>
          <a:prstGeom prst="straightConnector1">
            <a:avLst/>
          </a:prstGeom>
          <a:noFill/>
          <a:ln cap="flat" cmpd="sng" w="12700">
            <a:solidFill>
              <a:srgbClr val="D98E2B"/>
            </a:solidFill>
            <a:prstDash val="solid"/>
            <a:round/>
            <a:headEnd len="sm" w="sm" type="none"/>
            <a:tailEnd len="sm" w="sm" type="none"/>
          </a:ln>
        </p:spPr>
      </p:cxnSp>
      <p:sp>
        <p:nvSpPr>
          <p:cNvPr id="68" name="Google Shape;68;p3"/>
          <p:cNvSpPr txBox="1"/>
          <p:nvPr/>
        </p:nvSpPr>
        <p:spPr>
          <a:xfrm>
            <a:off x="7841396" y="4343400"/>
            <a:ext cx="1133856" cy="2743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D98E2B"/>
              </a:buClr>
              <a:buSzPts val="1400"/>
              <a:buFont typeface="Arial"/>
              <a:buNone/>
            </a:pPr>
            <a:r>
              <a:rPr b="1" lang="en-US" sz="1400">
                <a:solidFill>
                  <a:srgbClr val="D98E2B"/>
                </a:solidFill>
                <a:latin typeface="Arial"/>
                <a:ea typeface="Arial"/>
                <a:cs typeface="Arial"/>
                <a:sym typeface="Arial"/>
              </a:rPr>
              <a:t>00:14</a:t>
            </a:r>
            <a:endParaRPr sz="1400">
              <a:solidFill>
                <a:schemeClr val="dk1"/>
              </a:solidFill>
              <a:latin typeface="Calibri"/>
              <a:ea typeface="Calibri"/>
              <a:cs typeface="Calibri"/>
              <a:sym typeface="Calibri"/>
            </a:endParaRPr>
          </a:p>
        </p:txBody>
      </p:sp>
      <p:sp>
        <p:nvSpPr>
          <p:cNvPr id="69" name="Google Shape;69;p3"/>
          <p:cNvSpPr txBox="1"/>
          <p:nvPr/>
        </p:nvSpPr>
        <p:spPr>
          <a:xfrm>
            <a:off x="7749956" y="4599432"/>
            <a:ext cx="1316736" cy="31089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DE7DD"/>
              </a:buClr>
              <a:buSzPts val="1200"/>
              <a:buFont typeface="Arial"/>
              <a:buNone/>
            </a:pPr>
            <a:r>
              <a:rPr b="1" lang="en-US" sz="1200">
                <a:solidFill>
                  <a:srgbClr val="EDE7DD"/>
                </a:solidFill>
                <a:latin typeface="Arial"/>
                <a:ea typeface="Arial"/>
                <a:cs typeface="Arial"/>
                <a:sym typeface="Arial"/>
              </a:rPr>
              <a:t>Kerberoasting</a:t>
            </a:r>
            <a:endParaRPr sz="1200">
              <a:solidFill>
                <a:schemeClr val="dk1"/>
              </a:solidFill>
              <a:latin typeface="Calibri"/>
              <a:ea typeface="Calibri"/>
              <a:cs typeface="Calibri"/>
              <a:sym typeface="Calibri"/>
            </a:endParaRPr>
          </a:p>
        </p:txBody>
      </p:sp>
      <p:sp>
        <p:nvSpPr>
          <p:cNvPr id="70" name="Google Shape;70;p3"/>
          <p:cNvSpPr txBox="1"/>
          <p:nvPr/>
        </p:nvSpPr>
        <p:spPr>
          <a:xfrm>
            <a:off x="7667660" y="4910328"/>
            <a:ext cx="1481328" cy="40233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69A8A"/>
              </a:buClr>
              <a:buSzPts val="1000"/>
              <a:buFont typeface="Arial"/>
              <a:buNone/>
            </a:pPr>
            <a:r>
              <a:rPr lang="en-US" sz="1000">
                <a:solidFill>
                  <a:srgbClr val="A69A8A"/>
                </a:solidFill>
                <a:latin typeface="Arial"/>
                <a:ea typeface="Arial"/>
                <a:cs typeface="Arial"/>
                <a:sym typeface="Arial"/>
              </a:rPr>
              <a:t>T1558.003 · 63 בקשות ל-19 שירותים</a:t>
            </a:r>
            <a:endParaRPr sz="1000">
              <a:solidFill>
                <a:schemeClr val="dk1"/>
              </a:solidFill>
              <a:latin typeface="Calibri"/>
              <a:ea typeface="Calibri"/>
              <a:cs typeface="Calibri"/>
              <a:sym typeface="Calibri"/>
            </a:endParaRPr>
          </a:p>
        </p:txBody>
      </p:sp>
      <p:sp>
        <p:nvSpPr>
          <p:cNvPr id="71" name="Google Shape;71;p3"/>
          <p:cNvSpPr/>
          <p:nvPr/>
        </p:nvSpPr>
        <p:spPr>
          <a:xfrm>
            <a:off x="7408718" y="3634740"/>
            <a:ext cx="137160" cy="137160"/>
          </a:xfrm>
          <a:prstGeom prst="ellipse">
            <a:avLst/>
          </a:prstGeom>
          <a:solidFill>
            <a:srgbClr val="D98E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 name="Google Shape;72;p3"/>
          <p:cNvCxnSpPr/>
          <p:nvPr/>
        </p:nvCxnSpPr>
        <p:spPr>
          <a:xfrm>
            <a:off x="7477298" y="3429000"/>
            <a:ext cx="0" cy="274320"/>
          </a:xfrm>
          <a:prstGeom prst="straightConnector1">
            <a:avLst/>
          </a:prstGeom>
          <a:noFill/>
          <a:ln cap="flat" cmpd="sng" w="12700">
            <a:solidFill>
              <a:srgbClr val="D98E2B"/>
            </a:solidFill>
            <a:prstDash val="solid"/>
            <a:round/>
            <a:headEnd len="sm" w="sm" type="none"/>
            <a:tailEnd len="sm" w="sm" type="none"/>
          </a:ln>
        </p:spPr>
      </p:cxnSp>
      <p:sp>
        <p:nvSpPr>
          <p:cNvPr id="73" name="Google Shape;73;p3"/>
          <p:cNvSpPr txBox="1"/>
          <p:nvPr/>
        </p:nvSpPr>
        <p:spPr>
          <a:xfrm>
            <a:off x="6910370" y="2404872"/>
            <a:ext cx="1133856" cy="2743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D98E2B"/>
              </a:buClr>
              <a:buSzPts val="1400"/>
              <a:buFont typeface="Arial"/>
              <a:buNone/>
            </a:pPr>
            <a:r>
              <a:rPr b="1" lang="en-US" sz="1400">
                <a:solidFill>
                  <a:srgbClr val="D98E2B"/>
                </a:solidFill>
                <a:latin typeface="Arial"/>
                <a:ea typeface="Arial"/>
                <a:cs typeface="Arial"/>
                <a:sym typeface="Arial"/>
              </a:rPr>
              <a:t>00:52</a:t>
            </a:r>
            <a:endParaRPr sz="1400">
              <a:solidFill>
                <a:schemeClr val="dk1"/>
              </a:solidFill>
              <a:latin typeface="Calibri"/>
              <a:ea typeface="Calibri"/>
              <a:cs typeface="Calibri"/>
              <a:sym typeface="Calibri"/>
            </a:endParaRPr>
          </a:p>
        </p:txBody>
      </p:sp>
      <p:sp>
        <p:nvSpPr>
          <p:cNvPr id="74" name="Google Shape;74;p3"/>
          <p:cNvSpPr txBox="1"/>
          <p:nvPr/>
        </p:nvSpPr>
        <p:spPr>
          <a:xfrm>
            <a:off x="6818930" y="2660904"/>
            <a:ext cx="1316736" cy="31089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DE7DD"/>
              </a:buClr>
              <a:buSzPts val="1200"/>
              <a:buFont typeface="Arial"/>
              <a:buNone/>
            </a:pPr>
            <a:r>
              <a:rPr b="1" lang="en-US" sz="1200">
                <a:solidFill>
                  <a:srgbClr val="EDE7DD"/>
                </a:solidFill>
                <a:latin typeface="Arial"/>
                <a:ea typeface="Arial"/>
                <a:cs typeface="Arial"/>
                <a:sym typeface="Arial"/>
              </a:rPr>
              <a:t>התראת Defender</a:t>
            </a:r>
            <a:endParaRPr sz="1200">
              <a:solidFill>
                <a:schemeClr val="dk1"/>
              </a:solidFill>
              <a:latin typeface="Calibri"/>
              <a:ea typeface="Calibri"/>
              <a:cs typeface="Calibri"/>
              <a:sym typeface="Calibri"/>
            </a:endParaRPr>
          </a:p>
        </p:txBody>
      </p:sp>
      <p:sp>
        <p:nvSpPr>
          <p:cNvPr id="75" name="Google Shape;75;p3"/>
          <p:cNvSpPr txBox="1"/>
          <p:nvPr/>
        </p:nvSpPr>
        <p:spPr>
          <a:xfrm>
            <a:off x="6736634" y="2971800"/>
            <a:ext cx="1481328" cy="40233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69A8A"/>
              </a:buClr>
              <a:buSzPts val="1000"/>
              <a:buFont typeface="Arial"/>
              <a:buNone/>
            </a:pPr>
            <a:r>
              <a:rPr lang="en-US" sz="1000">
                <a:solidFill>
                  <a:srgbClr val="A69A8A"/>
                </a:solidFill>
                <a:latin typeface="Arial"/>
                <a:ea typeface="Arial"/>
                <a:cs typeface="Arial"/>
                <a:sym typeface="Arial"/>
              </a:rPr>
              <a:t>T1003 · קובץ חילוץ סיסמאות</a:t>
            </a:r>
            <a:endParaRPr sz="1000">
              <a:solidFill>
                <a:schemeClr val="dk1"/>
              </a:solidFill>
              <a:latin typeface="Calibri"/>
              <a:ea typeface="Calibri"/>
              <a:cs typeface="Calibri"/>
              <a:sym typeface="Calibri"/>
            </a:endParaRPr>
          </a:p>
        </p:txBody>
      </p:sp>
      <p:sp>
        <p:nvSpPr>
          <p:cNvPr id="76" name="Google Shape;76;p3"/>
          <p:cNvSpPr/>
          <p:nvPr/>
        </p:nvSpPr>
        <p:spPr>
          <a:xfrm>
            <a:off x="6477693" y="3634740"/>
            <a:ext cx="137160" cy="137160"/>
          </a:xfrm>
          <a:prstGeom prst="ellipse">
            <a:avLst/>
          </a:prstGeom>
          <a:solidFill>
            <a:srgbClr val="CC6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 name="Google Shape;77;p3"/>
          <p:cNvCxnSpPr/>
          <p:nvPr/>
        </p:nvCxnSpPr>
        <p:spPr>
          <a:xfrm>
            <a:off x="6546273" y="4014216"/>
            <a:ext cx="0" cy="274320"/>
          </a:xfrm>
          <a:prstGeom prst="straightConnector1">
            <a:avLst/>
          </a:prstGeom>
          <a:noFill/>
          <a:ln cap="flat" cmpd="sng" w="12700">
            <a:solidFill>
              <a:srgbClr val="CC6A2E"/>
            </a:solidFill>
            <a:prstDash val="solid"/>
            <a:round/>
            <a:headEnd len="sm" w="sm" type="none"/>
            <a:tailEnd len="sm" w="sm" type="none"/>
          </a:ln>
        </p:spPr>
      </p:cxnSp>
      <p:sp>
        <p:nvSpPr>
          <p:cNvPr id="78" name="Google Shape;78;p3"/>
          <p:cNvSpPr txBox="1"/>
          <p:nvPr/>
        </p:nvSpPr>
        <p:spPr>
          <a:xfrm>
            <a:off x="5979345" y="4343400"/>
            <a:ext cx="1133856" cy="2743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CC6A2E"/>
              </a:buClr>
              <a:buSzPts val="1400"/>
              <a:buFont typeface="Arial"/>
              <a:buNone/>
            </a:pPr>
            <a:r>
              <a:rPr b="1" lang="en-US" sz="1400">
                <a:solidFill>
                  <a:srgbClr val="CC6A2E"/>
                </a:solidFill>
                <a:latin typeface="Arial"/>
                <a:ea typeface="Arial"/>
                <a:cs typeface="Arial"/>
                <a:sym typeface="Arial"/>
              </a:rPr>
              <a:t>02:20</a:t>
            </a:r>
            <a:endParaRPr sz="1400">
              <a:solidFill>
                <a:schemeClr val="dk1"/>
              </a:solidFill>
              <a:latin typeface="Calibri"/>
              <a:ea typeface="Calibri"/>
              <a:cs typeface="Calibri"/>
              <a:sym typeface="Calibri"/>
            </a:endParaRPr>
          </a:p>
        </p:txBody>
      </p:sp>
      <p:sp>
        <p:nvSpPr>
          <p:cNvPr id="79" name="Google Shape;79;p3"/>
          <p:cNvSpPr txBox="1"/>
          <p:nvPr/>
        </p:nvSpPr>
        <p:spPr>
          <a:xfrm>
            <a:off x="5887905" y="4599432"/>
            <a:ext cx="1316736" cy="31089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DE7DD"/>
              </a:buClr>
              <a:buSzPts val="1200"/>
              <a:buFont typeface="Arial"/>
              <a:buNone/>
            </a:pPr>
            <a:r>
              <a:rPr b="1" lang="en-US" sz="1200">
                <a:solidFill>
                  <a:srgbClr val="EDE7DD"/>
                </a:solidFill>
                <a:latin typeface="Arial"/>
                <a:ea typeface="Arial"/>
                <a:cs typeface="Arial"/>
                <a:sym typeface="Arial"/>
              </a:rPr>
              <a:t>RDP לשרת הקבצים</a:t>
            </a:r>
            <a:endParaRPr sz="1200">
              <a:solidFill>
                <a:schemeClr val="dk1"/>
              </a:solidFill>
              <a:latin typeface="Calibri"/>
              <a:ea typeface="Calibri"/>
              <a:cs typeface="Calibri"/>
              <a:sym typeface="Calibri"/>
            </a:endParaRPr>
          </a:p>
        </p:txBody>
      </p:sp>
      <p:sp>
        <p:nvSpPr>
          <p:cNvPr id="80" name="Google Shape;80;p3"/>
          <p:cNvSpPr txBox="1"/>
          <p:nvPr/>
        </p:nvSpPr>
        <p:spPr>
          <a:xfrm>
            <a:off x="5805609" y="4910328"/>
            <a:ext cx="1481328" cy="40233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69A8A"/>
              </a:buClr>
              <a:buSzPts val="1000"/>
              <a:buFont typeface="Arial"/>
              <a:buNone/>
            </a:pPr>
            <a:r>
              <a:rPr lang="en-US" sz="1000">
                <a:solidFill>
                  <a:srgbClr val="A69A8A"/>
                </a:solidFill>
                <a:latin typeface="Arial"/>
                <a:ea typeface="Arial"/>
                <a:cs typeface="Arial"/>
                <a:sym typeface="Arial"/>
              </a:rPr>
              <a:t>T1021.001 · y.shaked מ-WKS-OPS-03</a:t>
            </a:r>
            <a:endParaRPr sz="1000">
              <a:solidFill>
                <a:schemeClr val="dk1"/>
              </a:solidFill>
              <a:latin typeface="Calibri"/>
              <a:ea typeface="Calibri"/>
              <a:cs typeface="Calibri"/>
              <a:sym typeface="Calibri"/>
            </a:endParaRPr>
          </a:p>
        </p:txBody>
      </p:sp>
      <p:sp>
        <p:nvSpPr>
          <p:cNvPr id="81" name="Google Shape;81;p3"/>
          <p:cNvSpPr/>
          <p:nvPr/>
        </p:nvSpPr>
        <p:spPr>
          <a:xfrm>
            <a:off x="5546667" y="3634740"/>
            <a:ext cx="137160" cy="137160"/>
          </a:xfrm>
          <a:prstGeom prst="ellipse">
            <a:avLst/>
          </a:prstGeom>
          <a:solidFill>
            <a:srgbClr val="CC6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2" name="Google Shape;82;p3"/>
          <p:cNvCxnSpPr/>
          <p:nvPr/>
        </p:nvCxnSpPr>
        <p:spPr>
          <a:xfrm>
            <a:off x="5615247" y="3429000"/>
            <a:ext cx="0" cy="274320"/>
          </a:xfrm>
          <a:prstGeom prst="straightConnector1">
            <a:avLst/>
          </a:prstGeom>
          <a:noFill/>
          <a:ln cap="flat" cmpd="sng" w="12700">
            <a:solidFill>
              <a:srgbClr val="CC6A2E"/>
            </a:solidFill>
            <a:prstDash val="solid"/>
            <a:round/>
            <a:headEnd len="sm" w="sm" type="none"/>
            <a:tailEnd len="sm" w="sm" type="none"/>
          </a:ln>
        </p:spPr>
      </p:cxnSp>
      <p:sp>
        <p:nvSpPr>
          <p:cNvPr id="83" name="Google Shape;83;p3"/>
          <p:cNvSpPr txBox="1"/>
          <p:nvPr/>
        </p:nvSpPr>
        <p:spPr>
          <a:xfrm>
            <a:off x="5048319" y="2404872"/>
            <a:ext cx="1133856" cy="2743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CC6A2E"/>
              </a:buClr>
              <a:buSzPts val="1400"/>
              <a:buFont typeface="Arial"/>
              <a:buNone/>
            </a:pPr>
            <a:r>
              <a:rPr b="1" lang="en-US" sz="1400">
                <a:solidFill>
                  <a:srgbClr val="CC6A2E"/>
                </a:solidFill>
                <a:latin typeface="Arial"/>
                <a:ea typeface="Arial"/>
                <a:cs typeface="Arial"/>
                <a:sym typeface="Arial"/>
              </a:rPr>
              <a:t>03:05</a:t>
            </a:r>
            <a:endParaRPr sz="1400">
              <a:solidFill>
                <a:schemeClr val="dk1"/>
              </a:solidFill>
              <a:latin typeface="Calibri"/>
              <a:ea typeface="Calibri"/>
              <a:cs typeface="Calibri"/>
              <a:sym typeface="Calibri"/>
            </a:endParaRPr>
          </a:p>
        </p:txBody>
      </p:sp>
      <p:sp>
        <p:nvSpPr>
          <p:cNvPr id="84" name="Google Shape;84;p3"/>
          <p:cNvSpPr txBox="1"/>
          <p:nvPr/>
        </p:nvSpPr>
        <p:spPr>
          <a:xfrm>
            <a:off x="4956879" y="2660904"/>
            <a:ext cx="1316736" cy="31089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DE7DD"/>
              </a:buClr>
              <a:buSzPts val="1200"/>
              <a:buFont typeface="Arial"/>
              <a:buNone/>
            </a:pPr>
            <a:r>
              <a:rPr b="1" lang="en-US" sz="1200">
                <a:solidFill>
                  <a:srgbClr val="EDE7DD"/>
                </a:solidFill>
                <a:latin typeface="Arial"/>
                <a:ea typeface="Arial"/>
                <a:cs typeface="Arial"/>
                <a:sym typeface="Arial"/>
              </a:rPr>
              <a:t>קריאת 840 קבצים</a:t>
            </a:r>
            <a:endParaRPr sz="1200">
              <a:solidFill>
                <a:schemeClr val="dk1"/>
              </a:solidFill>
              <a:latin typeface="Calibri"/>
              <a:ea typeface="Calibri"/>
              <a:cs typeface="Calibri"/>
              <a:sym typeface="Calibri"/>
            </a:endParaRPr>
          </a:p>
        </p:txBody>
      </p:sp>
      <p:sp>
        <p:nvSpPr>
          <p:cNvPr id="85" name="Google Shape;85;p3"/>
          <p:cNvSpPr txBox="1"/>
          <p:nvPr/>
        </p:nvSpPr>
        <p:spPr>
          <a:xfrm>
            <a:off x="4874583" y="2971800"/>
            <a:ext cx="1481328" cy="40233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69A8A"/>
              </a:buClr>
              <a:buSzPts val="1000"/>
              <a:buFont typeface="Arial"/>
              <a:buNone/>
            </a:pPr>
            <a:r>
              <a:rPr lang="en-US" sz="1000">
                <a:solidFill>
                  <a:srgbClr val="A69A8A"/>
                </a:solidFill>
                <a:latin typeface="Arial"/>
                <a:ea typeface="Arial"/>
                <a:cs typeface="Arial"/>
                <a:sym typeface="Arial"/>
              </a:rPr>
              <a:t>T1039 · 3.20GB · עד 03:54</a:t>
            </a:r>
            <a:endParaRPr sz="1000">
              <a:solidFill>
                <a:schemeClr val="dk1"/>
              </a:solidFill>
              <a:latin typeface="Calibri"/>
              <a:ea typeface="Calibri"/>
              <a:cs typeface="Calibri"/>
              <a:sym typeface="Calibri"/>
            </a:endParaRPr>
          </a:p>
        </p:txBody>
      </p:sp>
      <p:sp>
        <p:nvSpPr>
          <p:cNvPr id="86" name="Google Shape;86;p3"/>
          <p:cNvSpPr/>
          <p:nvPr/>
        </p:nvSpPr>
        <p:spPr>
          <a:xfrm>
            <a:off x="4615642" y="3634740"/>
            <a:ext cx="137160" cy="137160"/>
          </a:xfrm>
          <a:prstGeom prst="ellipse">
            <a:avLst/>
          </a:prstGeom>
          <a:solidFill>
            <a:srgbClr val="D948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87" name="Google Shape;87;p3"/>
          <p:cNvCxnSpPr/>
          <p:nvPr/>
        </p:nvCxnSpPr>
        <p:spPr>
          <a:xfrm>
            <a:off x="4684222" y="4014216"/>
            <a:ext cx="0" cy="274320"/>
          </a:xfrm>
          <a:prstGeom prst="straightConnector1">
            <a:avLst/>
          </a:prstGeom>
          <a:noFill/>
          <a:ln cap="flat" cmpd="sng" w="12700">
            <a:solidFill>
              <a:srgbClr val="D9482E"/>
            </a:solidFill>
            <a:prstDash val="solid"/>
            <a:round/>
            <a:headEnd len="sm" w="sm" type="none"/>
            <a:tailEnd len="sm" w="sm" type="none"/>
          </a:ln>
        </p:spPr>
      </p:cxnSp>
      <p:sp>
        <p:nvSpPr>
          <p:cNvPr id="88" name="Google Shape;88;p3"/>
          <p:cNvSpPr txBox="1"/>
          <p:nvPr/>
        </p:nvSpPr>
        <p:spPr>
          <a:xfrm>
            <a:off x="4117294" y="4343400"/>
            <a:ext cx="1133856" cy="2743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D9482E"/>
              </a:buClr>
              <a:buSzPts val="1400"/>
              <a:buFont typeface="Arial"/>
              <a:buNone/>
            </a:pPr>
            <a:r>
              <a:rPr b="1" lang="en-US" sz="1400">
                <a:solidFill>
                  <a:srgbClr val="D9482E"/>
                </a:solidFill>
                <a:latin typeface="Arial"/>
                <a:ea typeface="Arial"/>
                <a:cs typeface="Arial"/>
                <a:sym typeface="Arial"/>
              </a:rPr>
              <a:t>04:48</a:t>
            </a:r>
            <a:endParaRPr sz="1400">
              <a:solidFill>
                <a:schemeClr val="dk1"/>
              </a:solidFill>
              <a:latin typeface="Calibri"/>
              <a:ea typeface="Calibri"/>
              <a:cs typeface="Calibri"/>
              <a:sym typeface="Calibri"/>
            </a:endParaRPr>
          </a:p>
        </p:txBody>
      </p:sp>
      <p:sp>
        <p:nvSpPr>
          <p:cNvPr id="89" name="Google Shape;89;p3"/>
          <p:cNvSpPr txBox="1"/>
          <p:nvPr/>
        </p:nvSpPr>
        <p:spPr>
          <a:xfrm>
            <a:off x="4025854" y="4599432"/>
            <a:ext cx="1316736" cy="31089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DE7DD"/>
              </a:buClr>
              <a:buSzPts val="1200"/>
              <a:buFont typeface="Arial"/>
              <a:buNone/>
            </a:pPr>
            <a:r>
              <a:rPr b="1" lang="en-US" sz="1200">
                <a:solidFill>
                  <a:srgbClr val="EDE7DD"/>
                </a:solidFill>
                <a:latin typeface="Arial"/>
                <a:ea typeface="Arial"/>
                <a:cs typeface="Arial"/>
                <a:sym typeface="Arial"/>
              </a:rPr>
              <a:t>שיתוף ענן והעלאה</a:t>
            </a:r>
            <a:endParaRPr sz="1200">
              <a:solidFill>
                <a:schemeClr val="dk1"/>
              </a:solidFill>
              <a:latin typeface="Calibri"/>
              <a:ea typeface="Calibri"/>
              <a:cs typeface="Calibri"/>
              <a:sym typeface="Calibri"/>
            </a:endParaRPr>
          </a:p>
        </p:txBody>
      </p:sp>
      <p:sp>
        <p:nvSpPr>
          <p:cNvPr id="90" name="Google Shape;90;p3"/>
          <p:cNvSpPr txBox="1"/>
          <p:nvPr/>
        </p:nvSpPr>
        <p:spPr>
          <a:xfrm>
            <a:off x="3943558" y="4910328"/>
            <a:ext cx="1481328" cy="40233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69A8A"/>
              </a:buClr>
              <a:buSzPts val="1000"/>
              <a:buFont typeface="Arial"/>
              <a:buNone/>
            </a:pPr>
            <a:r>
              <a:rPr lang="en-US" sz="1000">
                <a:solidFill>
                  <a:srgbClr val="A69A8A"/>
                </a:solidFill>
                <a:latin typeface="Arial"/>
                <a:ea typeface="Arial"/>
                <a:cs typeface="Arial"/>
                <a:sym typeface="Arial"/>
              </a:rPr>
              <a:t>T1560.001 · T1567.002 · 1.32GB</a:t>
            </a:r>
            <a:endParaRPr sz="1000">
              <a:solidFill>
                <a:schemeClr val="dk1"/>
              </a:solidFill>
              <a:latin typeface="Calibri"/>
              <a:ea typeface="Calibri"/>
              <a:cs typeface="Calibri"/>
              <a:sym typeface="Calibri"/>
            </a:endParaRPr>
          </a:p>
        </p:txBody>
      </p:sp>
      <p:sp>
        <p:nvSpPr>
          <p:cNvPr id="91" name="Google Shape;91;p3"/>
          <p:cNvSpPr/>
          <p:nvPr/>
        </p:nvSpPr>
        <p:spPr>
          <a:xfrm>
            <a:off x="3684616" y="3634740"/>
            <a:ext cx="137160" cy="137160"/>
          </a:xfrm>
          <a:prstGeom prst="ellipse">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3"/>
          <p:cNvCxnSpPr/>
          <p:nvPr/>
        </p:nvCxnSpPr>
        <p:spPr>
          <a:xfrm>
            <a:off x="3753196" y="3429000"/>
            <a:ext cx="0" cy="274320"/>
          </a:xfrm>
          <a:prstGeom prst="straightConnector1">
            <a:avLst/>
          </a:prstGeom>
          <a:noFill/>
          <a:ln cap="flat" cmpd="sng" w="12700">
            <a:solidFill>
              <a:srgbClr val="E4572E"/>
            </a:solidFill>
            <a:prstDash val="solid"/>
            <a:round/>
            <a:headEnd len="sm" w="sm" type="none"/>
            <a:tailEnd len="sm" w="sm" type="none"/>
          </a:ln>
        </p:spPr>
      </p:cxnSp>
      <p:sp>
        <p:nvSpPr>
          <p:cNvPr id="93" name="Google Shape;93;p3"/>
          <p:cNvSpPr txBox="1"/>
          <p:nvPr/>
        </p:nvSpPr>
        <p:spPr>
          <a:xfrm>
            <a:off x="3186268" y="2404872"/>
            <a:ext cx="1133856" cy="2743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4572E"/>
              </a:buClr>
              <a:buSzPts val="1400"/>
              <a:buFont typeface="Arial"/>
              <a:buNone/>
            </a:pPr>
            <a:r>
              <a:rPr b="1" lang="en-US" sz="1400">
                <a:solidFill>
                  <a:srgbClr val="E4572E"/>
                </a:solidFill>
                <a:latin typeface="Arial"/>
                <a:ea typeface="Arial"/>
                <a:cs typeface="Arial"/>
                <a:sym typeface="Arial"/>
              </a:rPr>
              <a:t>05:30</a:t>
            </a:r>
            <a:endParaRPr sz="1400">
              <a:solidFill>
                <a:schemeClr val="dk1"/>
              </a:solidFill>
              <a:latin typeface="Calibri"/>
              <a:ea typeface="Calibri"/>
              <a:cs typeface="Calibri"/>
              <a:sym typeface="Calibri"/>
            </a:endParaRPr>
          </a:p>
        </p:txBody>
      </p:sp>
      <p:sp>
        <p:nvSpPr>
          <p:cNvPr id="94" name="Google Shape;94;p3"/>
          <p:cNvSpPr txBox="1"/>
          <p:nvPr/>
        </p:nvSpPr>
        <p:spPr>
          <a:xfrm>
            <a:off x="3094828" y="2660904"/>
            <a:ext cx="1316736" cy="31089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DE7DD"/>
              </a:buClr>
              <a:buSzPts val="1200"/>
              <a:buFont typeface="Arial"/>
              <a:buNone/>
            </a:pPr>
            <a:r>
              <a:rPr b="1" lang="en-US" sz="1200">
                <a:solidFill>
                  <a:srgbClr val="EDE7DD"/>
                </a:solidFill>
                <a:latin typeface="Arial"/>
                <a:ea typeface="Arial"/>
                <a:cs typeface="Arial"/>
                <a:sym typeface="Arial"/>
              </a:rPr>
              <a:t>מחיקת הגיבוי</a:t>
            </a:r>
            <a:endParaRPr sz="1200">
              <a:solidFill>
                <a:schemeClr val="dk1"/>
              </a:solidFill>
              <a:latin typeface="Calibri"/>
              <a:ea typeface="Calibri"/>
              <a:cs typeface="Calibri"/>
              <a:sym typeface="Calibri"/>
            </a:endParaRPr>
          </a:p>
        </p:txBody>
      </p:sp>
      <p:sp>
        <p:nvSpPr>
          <p:cNvPr id="95" name="Google Shape;95;p3"/>
          <p:cNvSpPr txBox="1"/>
          <p:nvPr/>
        </p:nvSpPr>
        <p:spPr>
          <a:xfrm>
            <a:off x="3012532" y="2971800"/>
            <a:ext cx="1481328" cy="40233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69A8A"/>
              </a:buClr>
              <a:buSzPts val="1000"/>
              <a:buFont typeface="Arial"/>
              <a:buNone/>
            </a:pPr>
            <a:r>
              <a:rPr lang="en-US" sz="1000">
                <a:solidFill>
                  <a:srgbClr val="A69A8A"/>
                </a:solidFill>
                <a:latin typeface="Arial"/>
                <a:ea typeface="Arial"/>
                <a:cs typeface="Arial"/>
                <a:sym typeface="Arial"/>
              </a:rPr>
              <a:t>T1490 · actor: d.aviram ·</a:t>
            </a:r>
            <a:endParaRPr sz="1000">
              <a:solidFill>
                <a:schemeClr val="dk1"/>
              </a:solidFill>
              <a:latin typeface="Calibri"/>
              <a:ea typeface="Calibri"/>
              <a:cs typeface="Calibri"/>
              <a:sym typeface="Calibri"/>
            </a:endParaRPr>
          </a:p>
        </p:txBody>
      </p:sp>
      <p:sp>
        <p:nvSpPr>
          <p:cNvPr id="96" name="Google Shape;96;p3"/>
          <p:cNvSpPr/>
          <p:nvPr/>
        </p:nvSpPr>
        <p:spPr>
          <a:xfrm>
            <a:off x="2753591" y="3634740"/>
            <a:ext cx="137160" cy="137160"/>
          </a:xfrm>
          <a:prstGeom prst="ellipse">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7" name="Google Shape;97;p3"/>
          <p:cNvCxnSpPr/>
          <p:nvPr/>
        </p:nvCxnSpPr>
        <p:spPr>
          <a:xfrm>
            <a:off x="2822171" y="4014216"/>
            <a:ext cx="0" cy="274320"/>
          </a:xfrm>
          <a:prstGeom prst="straightConnector1">
            <a:avLst/>
          </a:prstGeom>
          <a:noFill/>
          <a:ln cap="flat" cmpd="sng" w="12700">
            <a:solidFill>
              <a:srgbClr val="E4572E"/>
            </a:solidFill>
            <a:prstDash val="solid"/>
            <a:round/>
            <a:headEnd len="sm" w="sm" type="none"/>
            <a:tailEnd len="sm" w="sm" type="none"/>
          </a:ln>
        </p:spPr>
      </p:cxnSp>
      <p:sp>
        <p:nvSpPr>
          <p:cNvPr id="98" name="Google Shape;98;p3"/>
          <p:cNvSpPr txBox="1"/>
          <p:nvPr/>
        </p:nvSpPr>
        <p:spPr>
          <a:xfrm>
            <a:off x="2255243" y="4343400"/>
            <a:ext cx="1133856" cy="2743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4572E"/>
              </a:buClr>
              <a:buSzPts val="1400"/>
              <a:buFont typeface="Arial"/>
              <a:buNone/>
            </a:pPr>
            <a:r>
              <a:rPr b="1" lang="en-US" sz="1400">
                <a:solidFill>
                  <a:srgbClr val="E4572E"/>
                </a:solidFill>
                <a:latin typeface="Arial"/>
                <a:ea typeface="Arial"/>
                <a:cs typeface="Arial"/>
                <a:sym typeface="Arial"/>
              </a:rPr>
              <a:t>06:12</a:t>
            </a:r>
            <a:endParaRPr sz="1400">
              <a:solidFill>
                <a:schemeClr val="dk1"/>
              </a:solidFill>
              <a:latin typeface="Calibri"/>
              <a:ea typeface="Calibri"/>
              <a:cs typeface="Calibri"/>
              <a:sym typeface="Calibri"/>
            </a:endParaRPr>
          </a:p>
        </p:txBody>
      </p:sp>
      <p:sp>
        <p:nvSpPr>
          <p:cNvPr id="99" name="Google Shape;99;p3"/>
          <p:cNvSpPr txBox="1"/>
          <p:nvPr/>
        </p:nvSpPr>
        <p:spPr>
          <a:xfrm>
            <a:off x="2163803" y="4599432"/>
            <a:ext cx="1316736" cy="31089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DE7DD"/>
              </a:buClr>
              <a:buSzPts val="1200"/>
              <a:buFont typeface="Arial"/>
              <a:buNone/>
            </a:pPr>
            <a:r>
              <a:rPr b="1" lang="en-US" sz="1200">
                <a:solidFill>
                  <a:srgbClr val="EDE7DD"/>
                </a:solidFill>
                <a:latin typeface="Arial"/>
                <a:ea typeface="Arial"/>
                <a:cs typeface="Arial"/>
                <a:sym typeface="Arial"/>
              </a:rPr>
              <a:t>הצפנת 9,412 קבצים</a:t>
            </a:r>
            <a:endParaRPr sz="1200">
              <a:solidFill>
                <a:schemeClr val="dk1"/>
              </a:solidFill>
              <a:latin typeface="Calibri"/>
              <a:ea typeface="Calibri"/>
              <a:cs typeface="Calibri"/>
              <a:sym typeface="Calibri"/>
            </a:endParaRPr>
          </a:p>
        </p:txBody>
      </p:sp>
      <p:sp>
        <p:nvSpPr>
          <p:cNvPr id="100" name="Google Shape;100;p3"/>
          <p:cNvSpPr txBox="1"/>
          <p:nvPr/>
        </p:nvSpPr>
        <p:spPr>
          <a:xfrm>
            <a:off x="2081507" y="4910328"/>
            <a:ext cx="1481328" cy="40233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69A8A"/>
              </a:buClr>
              <a:buSzPts val="1000"/>
              <a:buFont typeface="Arial"/>
              <a:buNone/>
            </a:pPr>
            <a:r>
              <a:rPr lang="en-US" sz="1000">
                <a:solidFill>
                  <a:srgbClr val="A69A8A"/>
                </a:solidFill>
                <a:latin typeface="Arial"/>
                <a:ea typeface="Arial"/>
                <a:cs typeface="Arial"/>
                <a:sym typeface="Arial"/>
              </a:rPr>
              <a:t>T1486 · SRV-BILLING · עד 06:38</a:t>
            </a:r>
            <a:endParaRPr sz="1000">
              <a:solidFill>
                <a:schemeClr val="dk1"/>
              </a:solidFill>
              <a:latin typeface="Calibri"/>
              <a:ea typeface="Calibri"/>
              <a:cs typeface="Calibri"/>
              <a:sym typeface="Calibri"/>
            </a:endParaRPr>
          </a:p>
        </p:txBody>
      </p:sp>
      <p:sp>
        <p:nvSpPr>
          <p:cNvPr id="101" name="Google Shape;101;p3"/>
          <p:cNvSpPr/>
          <p:nvPr/>
        </p:nvSpPr>
        <p:spPr>
          <a:xfrm>
            <a:off x="1822565" y="3634740"/>
            <a:ext cx="137160" cy="137160"/>
          </a:xfrm>
          <a:prstGeom prst="ellipse">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 name="Google Shape;102;p3"/>
          <p:cNvCxnSpPr/>
          <p:nvPr/>
        </p:nvCxnSpPr>
        <p:spPr>
          <a:xfrm>
            <a:off x="1891145" y="3429000"/>
            <a:ext cx="0" cy="274320"/>
          </a:xfrm>
          <a:prstGeom prst="straightConnector1">
            <a:avLst/>
          </a:prstGeom>
          <a:noFill/>
          <a:ln cap="flat" cmpd="sng" w="12700">
            <a:solidFill>
              <a:srgbClr val="E4572E"/>
            </a:solidFill>
            <a:prstDash val="solid"/>
            <a:round/>
            <a:headEnd len="sm" w="sm" type="none"/>
            <a:tailEnd len="sm" w="sm" type="none"/>
          </a:ln>
        </p:spPr>
      </p:cxnSp>
      <p:sp>
        <p:nvSpPr>
          <p:cNvPr id="103" name="Google Shape;103;p3"/>
          <p:cNvSpPr txBox="1"/>
          <p:nvPr/>
        </p:nvSpPr>
        <p:spPr>
          <a:xfrm>
            <a:off x="1324217" y="2404872"/>
            <a:ext cx="1133856" cy="2743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4572E"/>
              </a:buClr>
              <a:buSzPts val="1400"/>
              <a:buFont typeface="Arial"/>
              <a:buNone/>
            </a:pPr>
            <a:r>
              <a:rPr b="1" lang="en-US" sz="1400">
                <a:solidFill>
                  <a:srgbClr val="E4572E"/>
                </a:solidFill>
                <a:latin typeface="Arial"/>
                <a:ea typeface="Arial"/>
                <a:cs typeface="Arial"/>
                <a:sym typeface="Arial"/>
              </a:rPr>
              <a:t>06:40</a:t>
            </a:r>
            <a:endParaRPr sz="1400">
              <a:solidFill>
                <a:schemeClr val="dk1"/>
              </a:solidFill>
              <a:latin typeface="Calibri"/>
              <a:ea typeface="Calibri"/>
              <a:cs typeface="Calibri"/>
              <a:sym typeface="Calibri"/>
            </a:endParaRPr>
          </a:p>
        </p:txBody>
      </p:sp>
      <p:sp>
        <p:nvSpPr>
          <p:cNvPr id="104" name="Google Shape;104;p3"/>
          <p:cNvSpPr txBox="1"/>
          <p:nvPr/>
        </p:nvSpPr>
        <p:spPr>
          <a:xfrm>
            <a:off x="1232777" y="2660904"/>
            <a:ext cx="1316736" cy="31089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DE7DD"/>
              </a:buClr>
              <a:buSzPts val="1200"/>
              <a:buFont typeface="Arial"/>
              <a:buNone/>
            </a:pPr>
            <a:r>
              <a:rPr b="1" lang="en-US" sz="1200">
                <a:solidFill>
                  <a:srgbClr val="EDE7DD"/>
                </a:solidFill>
                <a:latin typeface="Arial"/>
                <a:ea typeface="Arial"/>
                <a:cs typeface="Arial"/>
                <a:sym typeface="Arial"/>
              </a:rPr>
              <a:t>פתק כופר</a:t>
            </a:r>
            <a:endParaRPr sz="1200">
              <a:solidFill>
                <a:schemeClr val="dk1"/>
              </a:solidFill>
              <a:latin typeface="Calibri"/>
              <a:ea typeface="Calibri"/>
              <a:cs typeface="Calibri"/>
              <a:sym typeface="Calibri"/>
            </a:endParaRPr>
          </a:p>
        </p:txBody>
      </p:sp>
      <p:sp>
        <p:nvSpPr>
          <p:cNvPr id="105" name="Google Shape;105;p3"/>
          <p:cNvSpPr txBox="1"/>
          <p:nvPr/>
        </p:nvSpPr>
        <p:spPr>
          <a:xfrm>
            <a:off x="1150481" y="2971800"/>
            <a:ext cx="1481328" cy="40233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69A8A"/>
              </a:buClr>
              <a:buSzPts val="1000"/>
              <a:buFont typeface="Arial"/>
              <a:buNone/>
            </a:pPr>
            <a:r>
              <a:rPr lang="en-US" sz="1000">
                <a:solidFill>
                  <a:srgbClr val="A69A8A"/>
                </a:solidFill>
                <a:latin typeface="Arial"/>
                <a:ea typeface="Arial"/>
                <a:cs typeface="Arial"/>
                <a:sym typeface="Arial"/>
              </a:rPr>
              <a:t>T1486 · קובץ HOW_TO_RESTORE</a:t>
            </a:r>
            <a:endParaRPr sz="1000">
              <a:solidFill>
                <a:schemeClr val="dk1"/>
              </a:solidFill>
              <a:latin typeface="Calibri"/>
              <a:ea typeface="Calibri"/>
              <a:cs typeface="Calibri"/>
              <a:sym typeface="Calibri"/>
            </a:endParaRPr>
          </a:p>
        </p:txBody>
      </p:sp>
      <p:sp>
        <p:nvSpPr>
          <p:cNvPr id="106" name="Google Shape;106;p3"/>
          <p:cNvSpPr/>
          <p:nvPr/>
        </p:nvSpPr>
        <p:spPr>
          <a:xfrm>
            <a:off x="891540" y="3634740"/>
            <a:ext cx="137160" cy="137160"/>
          </a:xfrm>
          <a:prstGeom prst="ellipse">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7" name="Google Shape;107;p3"/>
          <p:cNvCxnSpPr/>
          <p:nvPr/>
        </p:nvCxnSpPr>
        <p:spPr>
          <a:xfrm>
            <a:off x="960120" y="4014216"/>
            <a:ext cx="0" cy="274320"/>
          </a:xfrm>
          <a:prstGeom prst="straightConnector1">
            <a:avLst/>
          </a:prstGeom>
          <a:noFill/>
          <a:ln cap="flat" cmpd="sng" w="12700">
            <a:solidFill>
              <a:srgbClr val="E4572E"/>
            </a:solidFill>
            <a:prstDash val="solid"/>
            <a:round/>
            <a:headEnd len="sm" w="sm" type="none"/>
            <a:tailEnd len="sm" w="sm" type="none"/>
          </a:ln>
        </p:spPr>
      </p:cxnSp>
      <p:sp>
        <p:nvSpPr>
          <p:cNvPr id="108" name="Google Shape;108;p3"/>
          <p:cNvSpPr txBox="1"/>
          <p:nvPr/>
        </p:nvSpPr>
        <p:spPr>
          <a:xfrm>
            <a:off x="393192" y="4343400"/>
            <a:ext cx="1133856" cy="274320"/>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4572E"/>
              </a:buClr>
              <a:buSzPts val="1400"/>
              <a:buFont typeface="Arial"/>
              <a:buNone/>
            </a:pPr>
            <a:r>
              <a:rPr b="1" lang="en-US" sz="1400">
                <a:solidFill>
                  <a:srgbClr val="E4572E"/>
                </a:solidFill>
                <a:latin typeface="Arial"/>
                <a:ea typeface="Arial"/>
                <a:cs typeface="Arial"/>
                <a:sym typeface="Arial"/>
              </a:rPr>
              <a:t>07:04</a:t>
            </a:r>
            <a:endParaRPr sz="1400">
              <a:solidFill>
                <a:schemeClr val="dk1"/>
              </a:solidFill>
              <a:latin typeface="Calibri"/>
              <a:ea typeface="Calibri"/>
              <a:cs typeface="Calibri"/>
              <a:sym typeface="Calibri"/>
            </a:endParaRPr>
          </a:p>
        </p:txBody>
      </p:sp>
      <p:sp>
        <p:nvSpPr>
          <p:cNvPr id="109" name="Google Shape;109;p3"/>
          <p:cNvSpPr txBox="1"/>
          <p:nvPr/>
        </p:nvSpPr>
        <p:spPr>
          <a:xfrm>
            <a:off x="301752" y="4599432"/>
            <a:ext cx="1316736" cy="31089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EDE7DD"/>
              </a:buClr>
              <a:buSzPts val="1200"/>
              <a:buFont typeface="Arial"/>
              <a:buNone/>
            </a:pPr>
            <a:r>
              <a:rPr b="1" lang="en-US" sz="1200">
                <a:solidFill>
                  <a:srgbClr val="EDE7DD"/>
                </a:solidFill>
                <a:latin typeface="Arial"/>
                <a:ea typeface="Arial"/>
                <a:cs typeface="Arial"/>
                <a:sym typeface="Arial"/>
              </a:rPr>
              <a:t>503 ללקוחות</a:t>
            </a:r>
            <a:endParaRPr sz="1200">
              <a:solidFill>
                <a:schemeClr val="dk1"/>
              </a:solidFill>
              <a:latin typeface="Calibri"/>
              <a:ea typeface="Calibri"/>
              <a:cs typeface="Calibri"/>
              <a:sym typeface="Calibri"/>
            </a:endParaRPr>
          </a:p>
        </p:txBody>
      </p:sp>
      <p:sp>
        <p:nvSpPr>
          <p:cNvPr id="110" name="Google Shape;110;p3"/>
          <p:cNvSpPr txBox="1"/>
          <p:nvPr/>
        </p:nvSpPr>
        <p:spPr>
          <a:xfrm>
            <a:off x="219456" y="4910328"/>
            <a:ext cx="1481328" cy="402336"/>
          </a:xfrm>
          <a:prstGeom prst="rect">
            <a:avLst/>
          </a:prstGeom>
          <a:noFill/>
          <a:ln>
            <a:noFill/>
          </a:ln>
        </p:spPr>
        <p:txBody>
          <a:bodyPr anchorCtr="0" anchor="ctr" bIns="0" lIns="0" spcFirstLastPara="1" rIns="0" wrap="square" tIns="0">
            <a:noAutofit/>
          </a:bodyPr>
          <a:lstStyle/>
          <a:p>
            <a:pPr indent="0" lvl="0" marL="0" marR="0" rtl="1" algn="ctr">
              <a:spcBef>
                <a:spcPts val="0"/>
              </a:spcBef>
              <a:spcAft>
                <a:spcPts val="0"/>
              </a:spcAft>
              <a:buClr>
                <a:srgbClr val="A69A8A"/>
              </a:buClr>
              <a:buSzPts val="1000"/>
              <a:buFont typeface="Arial"/>
              <a:buNone/>
            </a:pPr>
            <a:r>
              <a:rPr lang="en-US" sz="1000">
                <a:solidFill>
                  <a:srgbClr val="A69A8A"/>
                </a:solidFill>
                <a:latin typeface="Arial"/>
                <a:ea typeface="Arial"/>
                <a:cs typeface="Arial"/>
                <a:sym typeface="Arial"/>
              </a:rPr>
              <a:t>תוצאה · הפורטל מפסיק להגיב</a:t>
            </a:r>
            <a:endParaRPr sz="1000">
              <a:solidFill>
                <a:schemeClr val="dk1"/>
              </a:solidFill>
              <a:latin typeface="Calibri"/>
              <a:ea typeface="Calibri"/>
              <a:cs typeface="Calibri"/>
              <a:sym typeface="Calibri"/>
            </a:endParaRPr>
          </a:p>
        </p:txBody>
      </p:sp>
      <p:sp>
        <p:nvSpPr>
          <p:cNvPr id="111" name="Google Shape;111;p3"/>
          <p:cNvSpPr txBox="1"/>
          <p:nvPr/>
        </p:nvSpPr>
        <p:spPr>
          <a:xfrm>
            <a:off x="11292840" y="5806440"/>
            <a:ext cx="73152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69A8A"/>
              </a:buClr>
              <a:buSzPts val="1200"/>
              <a:buFont typeface="Arial"/>
              <a:buNone/>
            </a:pPr>
            <a:r>
              <a:rPr lang="en-US" sz="1200">
                <a:solidFill>
                  <a:srgbClr val="A69A8A"/>
                </a:solidFill>
                <a:latin typeface="Arial"/>
                <a:ea typeface="Arial"/>
                <a:cs typeface="Arial"/>
                <a:sym typeface="Arial"/>
              </a:rPr>
              <a:t>13/08</a:t>
            </a:r>
            <a:endParaRPr sz="1200">
              <a:solidFill>
                <a:schemeClr val="dk1"/>
              </a:solidFill>
              <a:latin typeface="Calibri"/>
              <a:ea typeface="Calibri"/>
              <a:cs typeface="Calibri"/>
              <a:sym typeface="Calibri"/>
            </a:endParaRPr>
          </a:p>
        </p:txBody>
      </p:sp>
      <p:sp>
        <p:nvSpPr>
          <p:cNvPr id="112" name="Google Shape;112;p3"/>
          <p:cNvSpPr txBox="1"/>
          <p:nvPr/>
        </p:nvSpPr>
        <p:spPr>
          <a:xfrm>
            <a:off x="457200" y="5806440"/>
            <a:ext cx="73152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69A8A"/>
              </a:buClr>
              <a:buSzPts val="1200"/>
              <a:buFont typeface="Arial"/>
              <a:buNone/>
            </a:pPr>
            <a:r>
              <a:rPr lang="en-US" sz="1200">
                <a:solidFill>
                  <a:srgbClr val="A69A8A"/>
                </a:solidFill>
                <a:latin typeface="Arial"/>
                <a:ea typeface="Arial"/>
                <a:cs typeface="Arial"/>
                <a:sym typeface="Arial"/>
              </a:rPr>
              <a:t>14/08</a:t>
            </a:r>
            <a:endParaRPr sz="1200">
              <a:solidFill>
                <a:schemeClr val="dk1"/>
              </a:solidFill>
              <a:latin typeface="Calibri"/>
              <a:ea typeface="Calibri"/>
              <a:cs typeface="Calibri"/>
              <a:sym typeface="Calibri"/>
            </a:endParaRPr>
          </a:p>
        </p:txBody>
      </p:sp>
      <p:sp>
        <p:nvSpPr>
          <p:cNvPr id="113" name="Google Shape;113;p3"/>
          <p:cNvSpPr txBox="1"/>
          <p:nvPr/>
        </p:nvSpPr>
        <p:spPr>
          <a:xfrm>
            <a:off x="640080" y="6172200"/>
            <a:ext cx="10881360" cy="32004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30F"/>
        </a:solidFill>
      </p:bgPr>
    </p:bg>
    <p:spTree>
      <p:nvGrpSpPr>
        <p:cNvPr id="118" name="Shape 118"/>
        <p:cNvGrpSpPr/>
        <p:nvPr/>
      </p:nvGrpSpPr>
      <p:grpSpPr>
        <a:xfrm>
          <a:off x="0" y="0"/>
          <a:ext cx="0" cy="0"/>
          <a:chOff x="0" y="0"/>
          <a:chExt cx="0" cy="0"/>
        </a:xfrm>
      </p:grpSpPr>
      <p:sp>
        <p:nvSpPr>
          <p:cNvPr id="119" name="Google Shape;119;p4"/>
          <p:cNvSpPr/>
          <p:nvPr/>
        </p:nvSpPr>
        <p:spPr>
          <a:xfrm>
            <a:off x="0" y="0"/>
            <a:ext cx="12161520" cy="54864"/>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txBox="1"/>
          <p:nvPr/>
        </p:nvSpPr>
        <p:spPr>
          <a:xfrm>
            <a:off x="365760" y="29260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latin typeface="Arial"/>
                <a:ea typeface="Arial"/>
                <a:cs typeface="Arial"/>
                <a:sym typeface="Arial"/>
              </a:rPr>
              <a:t>04</a:t>
            </a:r>
            <a:endParaRPr sz="3000">
              <a:solidFill>
                <a:schemeClr val="dk1"/>
              </a:solidFill>
              <a:latin typeface="Calibri"/>
              <a:ea typeface="Calibri"/>
              <a:cs typeface="Calibri"/>
              <a:sym typeface="Calibri"/>
            </a:endParaRPr>
          </a:p>
        </p:txBody>
      </p:sp>
      <p:sp>
        <p:nvSpPr>
          <p:cNvPr id="121" name="Google Shape;121;p4"/>
          <p:cNvSpPr txBox="1"/>
          <p:nvPr/>
        </p:nvSpPr>
        <p:spPr>
          <a:xfrm>
            <a:off x="1097280" y="310896"/>
            <a:ext cx="10698480" cy="47548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2700"/>
              <a:buFont typeface="Arial"/>
              <a:buNone/>
            </a:pPr>
            <a:r>
              <a:rPr b="1" lang="en-US" sz="2700">
                <a:solidFill>
                  <a:srgbClr val="E4572E"/>
                </a:solidFill>
                <a:latin typeface="Arial"/>
                <a:ea typeface="Arial"/>
                <a:cs typeface="Arial"/>
                <a:sym typeface="Arial"/>
              </a:rPr>
              <a:t>חלון הזמן הקריטי</a:t>
            </a:r>
            <a:endParaRPr sz="2700">
              <a:solidFill>
                <a:schemeClr val="dk1"/>
              </a:solidFill>
              <a:latin typeface="Calibri"/>
              <a:ea typeface="Calibri"/>
              <a:cs typeface="Calibri"/>
              <a:sym typeface="Calibri"/>
            </a:endParaRPr>
          </a:p>
        </p:txBody>
      </p:sp>
      <p:sp>
        <p:nvSpPr>
          <p:cNvPr id="122" name="Google Shape;122;p4"/>
          <p:cNvSpPr txBox="1"/>
          <p:nvPr/>
        </p:nvSpPr>
        <p:spPr>
          <a:xfrm>
            <a:off x="1097280" y="804672"/>
            <a:ext cx="10698480"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500"/>
              <a:buFont typeface="Arial"/>
              <a:buNone/>
            </a:pPr>
            <a:r>
              <a:rPr lang="en-US" sz="1500">
                <a:solidFill>
                  <a:srgbClr val="A69A8A"/>
                </a:solidFill>
                <a:latin typeface="Arial"/>
                <a:ea typeface="Arial"/>
                <a:cs typeface="Arial"/>
                <a:sym typeface="Arial"/>
              </a:rPr>
              <a:t>היכן זה הוכרע</a:t>
            </a:r>
            <a:endParaRPr sz="1500">
              <a:solidFill>
                <a:schemeClr val="dk1"/>
              </a:solidFill>
              <a:latin typeface="Calibri"/>
              <a:ea typeface="Calibri"/>
              <a:cs typeface="Calibri"/>
              <a:sym typeface="Calibri"/>
            </a:endParaRPr>
          </a:p>
        </p:txBody>
      </p:sp>
      <p:cxnSp>
        <p:nvCxnSpPr>
          <p:cNvPr id="123" name="Google Shape;123;p4"/>
          <p:cNvCxnSpPr/>
          <p:nvPr/>
        </p:nvCxnSpPr>
        <p:spPr>
          <a:xfrm>
            <a:off x="548640" y="1207008"/>
            <a:ext cx="11064240" cy="0"/>
          </a:xfrm>
          <a:prstGeom prst="straightConnector1">
            <a:avLst/>
          </a:prstGeom>
          <a:noFill/>
          <a:ln cap="flat" cmpd="sng" w="12700">
            <a:solidFill>
              <a:srgbClr val="2C2620"/>
            </a:solidFill>
            <a:prstDash val="solid"/>
            <a:round/>
            <a:headEnd len="sm" w="sm" type="none"/>
            <a:tailEnd len="sm" w="sm" type="none"/>
          </a:ln>
        </p:spPr>
      </p:cxnSp>
      <p:sp>
        <p:nvSpPr>
          <p:cNvPr id="124" name="Google Shape;124;p4"/>
          <p:cNvSpPr/>
          <p:nvPr/>
        </p:nvSpPr>
        <p:spPr>
          <a:xfrm>
            <a:off x="640080" y="1481328"/>
            <a:ext cx="10881360" cy="1371600"/>
          </a:xfrm>
          <a:prstGeom prst="roundRect">
            <a:avLst>
              <a:gd fmla="val 3333" name="adj"/>
            </a:avLst>
          </a:prstGeom>
          <a:solidFill>
            <a:srgbClr val="2A1710"/>
          </a:solidFill>
          <a:ln cap="flat" cmpd="sng" w="19050">
            <a:solidFill>
              <a:srgbClr val="E45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txBox="1"/>
          <p:nvPr/>
        </p:nvSpPr>
        <p:spPr>
          <a:xfrm>
            <a:off x="1005840" y="1664208"/>
            <a:ext cx="10149840" cy="54864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3400"/>
              <a:buFont typeface="Arial"/>
              <a:buNone/>
            </a:pPr>
            <a:r>
              <a:rPr b="1" lang="en-US" sz="3400">
                <a:solidFill>
                  <a:srgbClr val="E4572E"/>
                </a:solidFill>
                <a:latin typeface="Arial"/>
                <a:ea typeface="Arial"/>
                <a:cs typeface="Arial"/>
                <a:sym typeface="Arial"/>
              </a:rPr>
              <a:t>5 שעות ו-20 דקות</a:t>
            </a:r>
            <a:endParaRPr sz="3400">
              <a:solidFill>
                <a:schemeClr val="dk1"/>
              </a:solidFill>
              <a:latin typeface="Calibri"/>
              <a:ea typeface="Calibri"/>
              <a:cs typeface="Calibri"/>
              <a:sym typeface="Calibri"/>
            </a:endParaRPr>
          </a:p>
        </p:txBody>
      </p:sp>
      <p:sp>
        <p:nvSpPr>
          <p:cNvPr id="126" name="Google Shape;126;p4"/>
          <p:cNvSpPr txBox="1"/>
          <p:nvPr/>
        </p:nvSpPr>
        <p:spPr>
          <a:xfrm>
            <a:off x="1005840" y="2212848"/>
            <a:ext cx="10149840" cy="685800"/>
          </a:xfrm>
          <a:prstGeom prst="rect">
            <a:avLst/>
          </a:prstGeom>
          <a:noFill/>
          <a:ln>
            <a:noFill/>
          </a:ln>
        </p:spPr>
        <p:txBody>
          <a:bodyPr anchorCtr="0" anchor="ctr" bIns="45700" lIns="91425" spcFirstLastPara="1" rIns="91425" wrap="square" tIns="45700">
            <a:noAutofit/>
          </a:bodyPr>
          <a:lstStyle/>
          <a:p>
            <a:pPr indent="0" lvl="0" marL="0" marR="0" rtl="1" algn="r">
              <a:lnSpc>
                <a:spcPct val="141935"/>
              </a:lnSpc>
              <a:spcBef>
                <a:spcPts val="0"/>
              </a:spcBef>
              <a:spcAft>
                <a:spcPts val="0"/>
              </a:spcAft>
              <a:buClr>
                <a:srgbClr val="EDE7DD"/>
              </a:buClr>
              <a:buSzPts val="1550"/>
              <a:buFont typeface="Arial"/>
              <a:buNone/>
            </a:pPr>
            <a:r>
              <a:rPr lang="en-US" sz="1550">
                <a:solidFill>
                  <a:srgbClr val="EDE7DD"/>
                </a:solidFill>
                <a:latin typeface="Arial"/>
                <a:ea typeface="Arial"/>
                <a:cs typeface="Arial"/>
                <a:sym typeface="Arial"/>
              </a:rPr>
              <a:t>בין התראת ה-Defender ב-00:52 לבין השינוי הראשון של שם קובץ ב-06:12. בכל הזמן הזה בלימה עוד הייתה אפשרית ושום פעולה לא ננקטה.</a:t>
            </a:r>
            <a:endParaRPr sz="1550">
              <a:solidFill>
                <a:schemeClr val="dk1"/>
              </a:solidFill>
              <a:latin typeface="Calibri"/>
              <a:ea typeface="Calibri"/>
              <a:cs typeface="Calibri"/>
              <a:sym typeface="Calibri"/>
            </a:endParaRPr>
          </a:p>
        </p:txBody>
      </p:sp>
      <p:sp>
        <p:nvSpPr>
          <p:cNvPr id="127" name="Google Shape;127;p4"/>
          <p:cNvSpPr/>
          <p:nvPr/>
        </p:nvSpPr>
        <p:spPr>
          <a:xfrm>
            <a:off x="11475720" y="3300984"/>
            <a:ext cx="182880" cy="18288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
          <p:cNvSpPr txBox="1"/>
          <p:nvPr/>
        </p:nvSpPr>
        <p:spPr>
          <a:xfrm>
            <a:off x="10424160" y="3246120"/>
            <a:ext cx="91440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4572E"/>
              </a:buClr>
              <a:buSzPts val="1600"/>
              <a:buFont typeface="Arial"/>
              <a:buNone/>
            </a:pPr>
            <a:r>
              <a:rPr b="1" lang="en-US" sz="1600">
                <a:solidFill>
                  <a:srgbClr val="E4572E"/>
                </a:solidFill>
                <a:latin typeface="Arial"/>
                <a:ea typeface="Arial"/>
                <a:cs typeface="Arial"/>
                <a:sym typeface="Arial"/>
              </a:rPr>
              <a:t>00:52</a:t>
            </a:r>
            <a:endParaRPr sz="1600">
              <a:solidFill>
                <a:schemeClr val="dk1"/>
              </a:solidFill>
              <a:latin typeface="Calibri"/>
              <a:ea typeface="Calibri"/>
              <a:cs typeface="Calibri"/>
              <a:sym typeface="Calibri"/>
            </a:endParaRPr>
          </a:p>
        </p:txBody>
      </p:sp>
      <p:sp>
        <p:nvSpPr>
          <p:cNvPr id="129" name="Google Shape;129;p4"/>
          <p:cNvSpPr txBox="1"/>
          <p:nvPr/>
        </p:nvSpPr>
        <p:spPr>
          <a:xfrm>
            <a:off x="4937760" y="3246120"/>
            <a:ext cx="539496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500"/>
              <a:buFont typeface="Arial"/>
              <a:buNone/>
            </a:pPr>
            <a:r>
              <a:rPr lang="en-US" sz="1500">
                <a:solidFill>
                  <a:srgbClr val="EDE7DD"/>
                </a:solidFill>
                <a:latin typeface="Arial"/>
                <a:ea typeface="Arial"/>
                <a:cs typeface="Arial"/>
                <a:sym typeface="Arial"/>
              </a:rPr>
              <a:t>Defender מזהה כלי לגניבת אישורים על WKS-OPS-03</a:t>
            </a:r>
            <a:endParaRPr sz="1500">
              <a:solidFill>
                <a:schemeClr val="dk1"/>
              </a:solidFill>
              <a:latin typeface="Calibri"/>
              <a:ea typeface="Calibri"/>
              <a:cs typeface="Calibri"/>
              <a:sym typeface="Calibri"/>
            </a:endParaRPr>
          </a:p>
        </p:txBody>
      </p:sp>
      <p:sp>
        <p:nvSpPr>
          <p:cNvPr id="130" name="Google Shape;130;p4"/>
          <p:cNvSpPr txBox="1"/>
          <p:nvPr/>
        </p:nvSpPr>
        <p:spPr>
          <a:xfrm>
            <a:off x="640080" y="3264408"/>
            <a:ext cx="420624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A69A8A"/>
              </a:buClr>
              <a:buSzPts val="1300"/>
              <a:buFont typeface="Arial"/>
              <a:buNone/>
            </a:pPr>
            <a:r>
              <a:rPr lang="en-US" sz="1300">
                <a:solidFill>
                  <a:srgbClr val="A69A8A"/>
                </a:solidFill>
                <a:latin typeface="Arial"/>
                <a:ea typeface="Arial"/>
                <a:cs typeface="Arial"/>
                <a:sym typeface="Arial"/>
              </a:rPr>
              <a:t>התראת Windows על קובץ זדוני.</a:t>
            </a:r>
            <a:endParaRPr sz="1300">
              <a:solidFill>
                <a:schemeClr val="dk1"/>
              </a:solidFill>
              <a:latin typeface="Calibri"/>
              <a:ea typeface="Calibri"/>
              <a:cs typeface="Calibri"/>
              <a:sym typeface="Calibri"/>
            </a:endParaRPr>
          </a:p>
        </p:txBody>
      </p:sp>
      <p:sp>
        <p:nvSpPr>
          <p:cNvPr id="131" name="Google Shape;131;p4"/>
          <p:cNvSpPr/>
          <p:nvPr/>
        </p:nvSpPr>
        <p:spPr>
          <a:xfrm>
            <a:off x="11475720" y="3867912"/>
            <a:ext cx="182880" cy="182880"/>
          </a:xfrm>
          <a:prstGeom prst="rect">
            <a:avLst/>
          </a:prstGeom>
          <a:solidFill>
            <a:srgbClr val="CC6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txBox="1"/>
          <p:nvPr/>
        </p:nvSpPr>
        <p:spPr>
          <a:xfrm>
            <a:off x="10424160" y="3813048"/>
            <a:ext cx="91440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CC6A2E"/>
              </a:buClr>
              <a:buSzPts val="1600"/>
              <a:buFont typeface="Arial"/>
              <a:buNone/>
            </a:pPr>
            <a:r>
              <a:rPr b="1" lang="en-US" sz="1600">
                <a:solidFill>
                  <a:srgbClr val="CC6A2E"/>
                </a:solidFill>
                <a:latin typeface="Arial"/>
                <a:ea typeface="Arial"/>
                <a:cs typeface="Arial"/>
                <a:sym typeface="Arial"/>
              </a:rPr>
              <a:t>02:20</a:t>
            </a:r>
            <a:endParaRPr sz="1600">
              <a:solidFill>
                <a:schemeClr val="dk1"/>
              </a:solidFill>
              <a:latin typeface="Calibri"/>
              <a:ea typeface="Calibri"/>
              <a:cs typeface="Calibri"/>
              <a:sym typeface="Calibri"/>
            </a:endParaRPr>
          </a:p>
        </p:txBody>
      </p:sp>
      <p:sp>
        <p:nvSpPr>
          <p:cNvPr id="133" name="Google Shape;133;p4"/>
          <p:cNvSpPr txBox="1"/>
          <p:nvPr/>
        </p:nvSpPr>
        <p:spPr>
          <a:xfrm>
            <a:off x="4937760" y="3813048"/>
            <a:ext cx="539496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500"/>
              <a:buFont typeface="Arial"/>
              <a:buNone/>
            </a:pPr>
            <a:r>
              <a:rPr lang="en-US" sz="1500">
                <a:solidFill>
                  <a:srgbClr val="EDE7DD"/>
                </a:solidFill>
                <a:latin typeface="Arial"/>
                <a:ea typeface="Arial"/>
                <a:cs typeface="Arial"/>
                <a:sym typeface="Arial"/>
              </a:rPr>
              <a:t>תנועה רוחבית ל-SRV-FS-01 עם חשבון שני</a:t>
            </a:r>
            <a:endParaRPr sz="1500">
              <a:solidFill>
                <a:schemeClr val="dk1"/>
              </a:solidFill>
              <a:latin typeface="Calibri"/>
              <a:ea typeface="Calibri"/>
              <a:cs typeface="Calibri"/>
              <a:sym typeface="Calibri"/>
            </a:endParaRPr>
          </a:p>
        </p:txBody>
      </p:sp>
      <p:sp>
        <p:nvSpPr>
          <p:cNvPr id="134" name="Google Shape;134;p4"/>
          <p:cNvSpPr txBox="1"/>
          <p:nvPr/>
        </p:nvSpPr>
        <p:spPr>
          <a:xfrm>
            <a:off x="640080" y="3831336"/>
            <a:ext cx="420624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A69A8A"/>
              </a:buClr>
              <a:buSzPts val="1300"/>
              <a:buFont typeface="Arial"/>
              <a:buNone/>
            </a:pPr>
            <a:r>
              <a:rPr lang="en-US" sz="1300">
                <a:solidFill>
                  <a:srgbClr val="A69A8A"/>
                </a:solidFill>
                <a:latin typeface="Arial"/>
                <a:ea typeface="Arial"/>
                <a:cs typeface="Arial"/>
                <a:sym typeface="Arial"/>
              </a:rPr>
              <a:t>כאן עוד אפשר היה לנתק ולעצור הכל</a:t>
            </a:r>
            <a:endParaRPr sz="1300">
              <a:solidFill>
                <a:schemeClr val="dk1"/>
              </a:solidFill>
              <a:latin typeface="Calibri"/>
              <a:ea typeface="Calibri"/>
              <a:cs typeface="Calibri"/>
              <a:sym typeface="Calibri"/>
            </a:endParaRPr>
          </a:p>
        </p:txBody>
      </p:sp>
      <p:sp>
        <p:nvSpPr>
          <p:cNvPr id="135" name="Google Shape;135;p4"/>
          <p:cNvSpPr/>
          <p:nvPr/>
        </p:nvSpPr>
        <p:spPr>
          <a:xfrm>
            <a:off x="11475720" y="4434840"/>
            <a:ext cx="182880" cy="182880"/>
          </a:xfrm>
          <a:prstGeom prst="rect">
            <a:avLst/>
          </a:prstGeom>
          <a:solidFill>
            <a:srgbClr val="D948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txBox="1"/>
          <p:nvPr/>
        </p:nvSpPr>
        <p:spPr>
          <a:xfrm>
            <a:off x="10424160" y="4379976"/>
            <a:ext cx="91440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D9482E"/>
              </a:buClr>
              <a:buSzPts val="1600"/>
              <a:buFont typeface="Arial"/>
              <a:buNone/>
            </a:pPr>
            <a:r>
              <a:rPr b="1" lang="en-US" sz="1600">
                <a:solidFill>
                  <a:srgbClr val="D9482E"/>
                </a:solidFill>
                <a:latin typeface="Arial"/>
                <a:ea typeface="Arial"/>
                <a:cs typeface="Arial"/>
                <a:sym typeface="Arial"/>
              </a:rPr>
              <a:t>04:48</a:t>
            </a:r>
            <a:endParaRPr sz="1600">
              <a:solidFill>
                <a:schemeClr val="dk1"/>
              </a:solidFill>
              <a:latin typeface="Calibri"/>
              <a:ea typeface="Calibri"/>
              <a:cs typeface="Calibri"/>
              <a:sym typeface="Calibri"/>
            </a:endParaRPr>
          </a:p>
        </p:txBody>
      </p:sp>
      <p:sp>
        <p:nvSpPr>
          <p:cNvPr id="137" name="Google Shape;137;p4"/>
          <p:cNvSpPr txBox="1"/>
          <p:nvPr/>
        </p:nvSpPr>
        <p:spPr>
          <a:xfrm>
            <a:off x="4937760" y="4379976"/>
            <a:ext cx="539496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500"/>
              <a:buFont typeface="Arial"/>
              <a:buNone/>
            </a:pPr>
            <a:r>
              <a:rPr lang="en-US" sz="1500">
                <a:solidFill>
                  <a:srgbClr val="EDE7DD"/>
                </a:solidFill>
                <a:latin typeface="Arial"/>
                <a:ea typeface="Arial"/>
                <a:cs typeface="Arial"/>
                <a:sym typeface="Arial"/>
              </a:rPr>
              <a:t>יצירת שיתוף ענן ללא תפוגה והעלאת 1.32GB</a:t>
            </a:r>
            <a:endParaRPr sz="1500">
              <a:solidFill>
                <a:schemeClr val="dk1"/>
              </a:solidFill>
              <a:latin typeface="Calibri"/>
              <a:ea typeface="Calibri"/>
              <a:cs typeface="Calibri"/>
              <a:sym typeface="Calibri"/>
            </a:endParaRPr>
          </a:p>
        </p:txBody>
      </p:sp>
      <p:sp>
        <p:nvSpPr>
          <p:cNvPr id="138" name="Google Shape;138;p4"/>
          <p:cNvSpPr txBox="1"/>
          <p:nvPr/>
        </p:nvSpPr>
        <p:spPr>
          <a:xfrm>
            <a:off x="640080" y="4398264"/>
            <a:ext cx="420624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A69A8A"/>
              </a:buClr>
              <a:buSzPts val="1300"/>
              <a:buFont typeface="Arial"/>
              <a:buNone/>
            </a:pPr>
            <a:r>
              <a:rPr lang="en-US" sz="1300">
                <a:solidFill>
                  <a:srgbClr val="A69A8A"/>
                </a:solidFill>
                <a:latin typeface="Arial"/>
                <a:ea typeface="Arial"/>
                <a:cs typeface="Arial"/>
                <a:sym typeface="Arial"/>
              </a:rPr>
              <a:t>מכאן והלאה הודלף, כבר לא הפיך</a:t>
            </a:r>
            <a:endParaRPr sz="1300">
              <a:solidFill>
                <a:schemeClr val="dk1"/>
              </a:solidFill>
              <a:latin typeface="Calibri"/>
              <a:ea typeface="Calibri"/>
              <a:cs typeface="Calibri"/>
              <a:sym typeface="Calibri"/>
            </a:endParaRPr>
          </a:p>
        </p:txBody>
      </p:sp>
      <p:sp>
        <p:nvSpPr>
          <p:cNvPr id="139" name="Google Shape;139;p4"/>
          <p:cNvSpPr/>
          <p:nvPr/>
        </p:nvSpPr>
        <p:spPr>
          <a:xfrm>
            <a:off x="11475720" y="5001768"/>
            <a:ext cx="182880" cy="182880"/>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txBox="1"/>
          <p:nvPr/>
        </p:nvSpPr>
        <p:spPr>
          <a:xfrm>
            <a:off x="10424160" y="4946904"/>
            <a:ext cx="91440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C9A227"/>
              </a:buClr>
              <a:buSzPts val="1600"/>
              <a:buFont typeface="Arial"/>
              <a:buNone/>
            </a:pPr>
            <a:r>
              <a:rPr b="1" lang="en-US" sz="1600">
                <a:solidFill>
                  <a:srgbClr val="C9A227"/>
                </a:solidFill>
                <a:latin typeface="Arial"/>
                <a:ea typeface="Arial"/>
                <a:cs typeface="Arial"/>
                <a:sym typeface="Arial"/>
              </a:rPr>
              <a:t>05:30</a:t>
            </a:r>
            <a:endParaRPr sz="1600">
              <a:solidFill>
                <a:schemeClr val="dk1"/>
              </a:solidFill>
              <a:latin typeface="Calibri"/>
              <a:ea typeface="Calibri"/>
              <a:cs typeface="Calibri"/>
              <a:sym typeface="Calibri"/>
            </a:endParaRPr>
          </a:p>
        </p:txBody>
      </p:sp>
      <p:sp>
        <p:nvSpPr>
          <p:cNvPr id="141" name="Google Shape;141;p4"/>
          <p:cNvSpPr txBox="1"/>
          <p:nvPr/>
        </p:nvSpPr>
        <p:spPr>
          <a:xfrm>
            <a:off x="4937760" y="4946904"/>
            <a:ext cx="539496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500"/>
              <a:buFont typeface="Arial"/>
              <a:buNone/>
            </a:pPr>
            <a:r>
              <a:rPr lang="en-US" sz="1500">
                <a:solidFill>
                  <a:srgbClr val="EDE7DD"/>
                </a:solidFill>
                <a:latin typeface="Arial"/>
                <a:ea typeface="Arial"/>
                <a:cs typeface="Arial"/>
                <a:sym typeface="Arial"/>
              </a:rPr>
              <a:t>מחיקת עבודת הגיבוי בידי d.aviram</a:t>
            </a:r>
            <a:endParaRPr sz="1500">
              <a:solidFill>
                <a:schemeClr val="dk1"/>
              </a:solidFill>
              <a:latin typeface="Calibri"/>
              <a:ea typeface="Calibri"/>
              <a:cs typeface="Calibri"/>
              <a:sym typeface="Calibri"/>
            </a:endParaRPr>
          </a:p>
        </p:txBody>
      </p:sp>
      <p:sp>
        <p:nvSpPr>
          <p:cNvPr id="142" name="Google Shape;142;p4"/>
          <p:cNvSpPr txBox="1"/>
          <p:nvPr/>
        </p:nvSpPr>
        <p:spPr>
          <a:xfrm>
            <a:off x="640080" y="4965192"/>
            <a:ext cx="420624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A69A8A"/>
              </a:buClr>
              <a:buSzPts val="1300"/>
              <a:buFont typeface="Arial"/>
              <a:buNone/>
            </a:pPr>
            <a:r>
              <a:rPr lang="en-US" sz="1300">
                <a:solidFill>
                  <a:srgbClr val="A69A8A"/>
                </a:solidFill>
                <a:latin typeface="Arial"/>
                <a:ea typeface="Arial"/>
                <a:cs typeface="Arial"/>
                <a:sym typeface="Arial"/>
              </a:rPr>
              <a:t>הנקודה שממנה גם השחזור מוטל בספק</a:t>
            </a:r>
            <a:endParaRPr sz="1300">
              <a:solidFill>
                <a:schemeClr val="dk1"/>
              </a:solidFill>
              <a:latin typeface="Calibri"/>
              <a:ea typeface="Calibri"/>
              <a:cs typeface="Calibri"/>
              <a:sym typeface="Calibri"/>
            </a:endParaRPr>
          </a:p>
        </p:txBody>
      </p:sp>
      <p:sp>
        <p:nvSpPr>
          <p:cNvPr id="143" name="Google Shape;143;p4"/>
          <p:cNvSpPr/>
          <p:nvPr/>
        </p:nvSpPr>
        <p:spPr>
          <a:xfrm>
            <a:off x="11475720" y="5568696"/>
            <a:ext cx="182880" cy="18288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
          <p:cNvSpPr txBox="1"/>
          <p:nvPr/>
        </p:nvSpPr>
        <p:spPr>
          <a:xfrm>
            <a:off x="10424160" y="5513832"/>
            <a:ext cx="91440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4572E"/>
              </a:buClr>
              <a:buSzPts val="1600"/>
              <a:buFont typeface="Arial"/>
              <a:buNone/>
            </a:pPr>
            <a:r>
              <a:rPr b="1" lang="en-US" sz="1600">
                <a:solidFill>
                  <a:srgbClr val="E4572E"/>
                </a:solidFill>
                <a:latin typeface="Arial"/>
                <a:ea typeface="Arial"/>
                <a:cs typeface="Arial"/>
                <a:sym typeface="Arial"/>
              </a:rPr>
              <a:t>06:12</a:t>
            </a:r>
            <a:endParaRPr sz="1600">
              <a:solidFill>
                <a:schemeClr val="dk1"/>
              </a:solidFill>
              <a:latin typeface="Calibri"/>
              <a:ea typeface="Calibri"/>
              <a:cs typeface="Calibri"/>
              <a:sym typeface="Calibri"/>
            </a:endParaRPr>
          </a:p>
        </p:txBody>
      </p:sp>
      <p:sp>
        <p:nvSpPr>
          <p:cNvPr id="145" name="Google Shape;145;p4"/>
          <p:cNvSpPr txBox="1"/>
          <p:nvPr/>
        </p:nvSpPr>
        <p:spPr>
          <a:xfrm>
            <a:off x="4937760" y="5513832"/>
            <a:ext cx="539496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500"/>
              <a:buFont typeface="Arial"/>
              <a:buNone/>
            </a:pPr>
            <a:r>
              <a:rPr lang="en-US" sz="1500">
                <a:solidFill>
                  <a:srgbClr val="EDE7DD"/>
                </a:solidFill>
                <a:latin typeface="Arial"/>
                <a:ea typeface="Arial"/>
                <a:cs typeface="Arial"/>
                <a:sym typeface="Arial"/>
              </a:rPr>
              <a:t>תחילת ההצפנה של 9,412 קבצים</a:t>
            </a:r>
            <a:endParaRPr sz="1500">
              <a:solidFill>
                <a:schemeClr val="dk1"/>
              </a:solidFill>
              <a:latin typeface="Calibri"/>
              <a:ea typeface="Calibri"/>
              <a:cs typeface="Calibri"/>
              <a:sym typeface="Calibri"/>
            </a:endParaRPr>
          </a:p>
        </p:txBody>
      </p:sp>
      <p:sp>
        <p:nvSpPr>
          <p:cNvPr id="146" name="Google Shape;146;p4"/>
          <p:cNvSpPr txBox="1"/>
          <p:nvPr/>
        </p:nvSpPr>
        <p:spPr>
          <a:xfrm>
            <a:off x="640080" y="5532120"/>
            <a:ext cx="420624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A69A8A"/>
              </a:buClr>
              <a:buSzPts val="1300"/>
              <a:buFont typeface="Arial"/>
              <a:buNone/>
            </a:pPr>
            <a:r>
              <a:rPr lang="en-US" sz="1300">
                <a:solidFill>
                  <a:srgbClr val="A69A8A"/>
                </a:solidFill>
                <a:latin typeface="Arial"/>
                <a:ea typeface="Arial"/>
                <a:cs typeface="Arial"/>
                <a:sym typeface="Arial"/>
              </a:rPr>
              <a:t>הנזק העסקי מתחיל</a:t>
            </a:r>
            <a:endParaRPr sz="1300">
              <a:solidFill>
                <a:schemeClr val="dk1"/>
              </a:solidFill>
              <a:latin typeface="Calibri"/>
              <a:ea typeface="Calibri"/>
              <a:cs typeface="Calibri"/>
              <a:sym typeface="Calibri"/>
            </a:endParaRPr>
          </a:p>
        </p:txBody>
      </p:sp>
      <p:sp>
        <p:nvSpPr>
          <p:cNvPr id="147" name="Google Shape;147;p4"/>
          <p:cNvSpPr txBox="1"/>
          <p:nvPr/>
        </p:nvSpPr>
        <p:spPr>
          <a:xfrm>
            <a:off x="685800" y="6080760"/>
            <a:ext cx="10881360" cy="32004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None/>
            </a:pPr>
            <a:r>
              <a:rPr lang="en-US" sz="1100">
                <a:solidFill>
                  <a:srgbClr val="E4572E"/>
                </a:solidFill>
                <a:latin typeface="Arial"/>
                <a:ea typeface="Arial"/>
                <a:cs typeface="Arial"/>
                <a:sym typeface="Arial"/>
              </a:rPr>
              <a:t>שורות שמקורן ב-winevent הופחתו בשלוש שעות מ-UTC+3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30F"/>
        </a:solidFill>
      </p:bgPr>
    </p:bg>
    <p:spTree>
      <p:nvGrpSpPr>
        <p:cNvPr id="152" name="Shape 152"/>
        <p:cNvGrpSpPr/>
        <p:nvPr/>
      </p:nvGrpSpPr>
      <p:grpSpPr>
        <a:xfrm>
          <a:off x="0" y="0"/>
          <a:ext cx="0" cy="0"/>
          <a:chOff x="0" y="0"/>
          <a:chExt cx="0" cy="0"/>
        </a:xfrm>
      </p:grpSpPr>
      <p:sp>
        <p:nvSpPr>
          <p:cNvPr id="153" name="Google Shape;153;p5"/>
          <p:cNvSpPr/>
          <p:nvPr/>
        </p:nvSpPr>
        <p:spPr>
          <a:xfrm>
            <a:off x="0" y="0"/>
            <a:ext cx="12161520" cy="54864"/>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txBox="1"/>
          <p:nvPr/>
        </p:nvSpPr>
        <p:spPr>
          <a:xfrm>
            <a:off x="365760" y="29260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latin typeface="Arial"/>
                <a:ea typeface="Arial"/>
                <a:cs typeface="Arial"/>
                <a:sym typeface="Arial"/>
              </a:rPr>
              <a:t>05</a:t>
            </a:r>
            <a:endParaRPr sz="3000">
              <a:solidFill>
                <a:schemeClr val="dk1"/>
              </a:solidFill>
              <a:latin typeface="Calibri"/>
              <a:ea typeface="Calibri"/>
              <a:cs typeface="Calibri"/>
              <a:sym typeface="Calibri"/>
            </a:endParaRPr>
          </a:p>
        </p:txBody>
      </p:sp>
      <p:sp>
        <p:nvSpPr>
          <p:cNvPr id="155" name="Google Shape;155;p5"/>
          <p:cNvSpPr txBox="1"/>
          <p:nvPr/>
        </p:nvSpPr>
        <p:spPr>
          <a:xfrm>
            <a:off x="1097280" y="310896"/>
            <a:ext cx="10698480" cy="47548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2700"/>
              <a:buFont typeface="Arial"/>
              <a:buNone/>
            </a:pPr>
            <a:r>
              <a:rPr b="1" lang="en-US" sz="2700">
                <a:solidFill>
                  <a:srgbClr val="E4572E"/>
                </a:solidFill>
                <a:latin typeface="Arial"/>
                <a:ea typeface="Arial"/>
                <a:cs typeface="Arial"/>
                <a:sym typeface="Arial"/>
              </a:rPr>
              <a:t>איך מצאנו את זה</a:t>
            </a:r>
            <a:endParaRPr sz="2700">
              <a:solidFill>
                <a:schemeClr val="dk1"/>
              </a:solidFill>
              <a:latin typeface="Calibri"/>
              <a:ea typeface="Calibri"/>
              <a:cs typeface="Calibri"/>
              <a:sym typeface="Calibri"/>
            </a:endParaRPr>
          </a:p>
        </p:txBody>
      </p:sp>
      <p:sp>
        <p:nvSpPr>
          <p:cNvPr id="156" name="Google Shape;156;p5"/>
          <p:cNvSpPr txBox="1"/>
          <p:nvPr/>
        </p:nvSpPr>
        <p:spPr>
          <a:xfrm>
            <a:off x="1097280" y="804672"/>
            <a:ext cx="10698480"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500"/>
              <a:buFont typeface="Arial"/>
              <a:buNone/>
            </a:pPr>
            <a:r>
              <a:rPr lang="en-US" sz="1500">
                <a:solidFill>
                  <a:srgbClr val="A69A8A"/>
                </a:solidFill>
                <a:latin typeface="Arial"/>
                <a:ea typeface="Arial"/>
                <a:cs typeface="Arial"/>
                <a:sym typeface="Arial"/>
              </a:rPr>
              <a:t>שלוש התנועות שפתחו את התיק</a:t>
            </a:r>
            <a:endParaRPr sz="1500">
              <a:solidFill>
                <a:schemeClr val="dk1"/>
              </a:solidFill>
              <a:latin typeface="Calibri"/>
              <a:ea typeface="Calibri"/>
              <a:cs typeface="Calibri"/>
              <a:sym typeface="Calibri"/>
            </a:endParaRPr>
          </a:p>
        </p:txBody>
      </p:sp>
      <p:cxnSp>
        <p:nvCxnSpPr>
          <p:cNvPr id="157" name="Google Shape;157;p5"/>
          <p:cNvCxnSpPr/>
          <p:nvPr/>
        </p:nvCxnSpPr>
        <p:spPr>
          <a:xfrm>
            <a:off x="548640" y="1207008"/>
            <a:ext cx="11064240" cy="0"/>
          </a:xfrm>
          <a:prstGeom prst="straightConnector1">
            <a:avLst/>
          </a:prstGeom>
          <a:noFill/>
          <a:ln cap="flat" cmpd="sng" w="12700">
            <a:solidFill>
              <a:srgbClr val="2C2620"/>
            </a:solidFill>
            <a:prstDash val="solid"/>
            <a:round/>
            <a:headEnd len="sm" w="sm" type="none"/>
            <a:tailEnd len="sm" w="sm" type="none"/>
          </a:ln>
        </p:spPr>
      </p:cxnSp>
      <p:sp>
        <p:nvSpPr>
          <p:cNvPr id="158" name="Google Shape;158;p5"/>
          <p:cNvSpPr/>
          <p:nvPr/>
        </p:nvSpPr>
        <p:spPr>
          <a:xfrm>
            <a:off x="640080" y="1572768"/>
            <a:ext cx="10881360" cy="1243584"/>
          </a:xfrm>
          <a:prstGeom prst="roundRect">
            <a:avLst>
              <a:gd fmla="val 2941" name="adj"/>
            </a:avLst>
          </a:prstGeom>
          <a:solidFill>
            <a:srgbClr val="1E1912"/>
          </a:solidFill>
          <a:ln cap="flat" cmpd="sng" w="12700">
            <a:solidFill>
              <a:srgbClr val="2C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p:nvPr/>
        </p:nvSpPr>
        <p:spPr>
          <a:xfrm>
            <a:off x="11466576" y="1572768"/>
            <a:ext cx="54864" cy="1243584"/>
          </a:xfrm>
          <a:prstGeom prst="rect">
            <a:avLst/>
          </a:prstGeom>
          <a:solidFill>
            <a:srgbClr val="CC6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txBox="1"/>
          <p:nvPr/>
        </p:nvSpPr>
        <p:spPr>
          <a:xfrm>
            <a:off x="914400" y="1719072"/>
            <a:ext cx="10332720" cy="310896"/>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CC6A2E"/>
              </a:buClr>
              <a:buSzPts val="1700"/>
              <a:buFont typeface="Arial"/>
              <a:buNone/>
            </a:pPr>
            <a:r>
              <a:rPr b="1" lang="en-US" sz="1700">
                <a:solidFill>
                  <a:srgbClr val="CC6A2E"/>
                </a:solidFill>
                <a:latin typeface="Arial"/>
                <a:ea typeface="Arial"/>
                <a:cs typeface="Arial"/>
                <a:sym typeface="Arial"/>
              </a:rPr>
              <a:t>ההמרה של אזור הזמן</a:t>
            </a:r>
            <a:endParaRPr sz="1700">
              <a:solidFill>
                <a:schemeClr val="dk1"/>
              </a:solidFill>
              <a:latin typeface="Calibri"/>
              <a:ea typeface="Calibri"/>
              <a:cs typeface="Calibri"/>
              <a:sym typeface="Calibri"/>
            </a:endParaRPr>
          </a:p>
        </p:txBody>
      </p:sp>
      <p:sp>
        <p:nvSpPr>
          <p:cNvPr id="161" name="Google Shape;161;p5"/>
          <p:cNvSpPr txBox="1"/>
          <p:nvPr/>
        </p:nvSpPr>
        <p:spPr>
          <a:xfrm>
            <a:off x="914400" y="2066544"/>
            <a:ext cx="10332720" cy="658368"/>
          </a:xfrm>
          <a:prstGeom prst="rect">
            <a:avLst/>
          </a:prstGeom>
          <a:no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Clr>
                <a:srgbClr val="D9CFC0"/>
              </a:buClr>
              <a:buSzPts val="1400"/>
              <a:buFont typeface="Arial"/>
              <a:buNone/>
            </a:pPr>
            <a:r>
              <a:rPr lang="en-US" sz="1400">
                <a:solidFill>
                  <a:srgbClr val="D9CFC0"/>
                </a:solidFill>
                <a:latin typeface="Arial"/>
                <a:ea typeface="Arial"/>
                <a:cs typeface="Arial"/>
                <a:sym typeface="Arial"/>
              </a:rPr>
              <a:t>winevent מדווח ב-UTC+3 וכל שאר המקורות ב-UTC. לפני ההמרה, ההרצה של 7z הופיעה לפני קריאת הקבצים שהיא דחסה. אחרי הפחתת שלוש שעות מכל שורות winevent, השרשרת מתיישרת ונפתחת.</a:t>
            </a:r>
            <a:endParaRPr sz="1400">
              <a:solidFill>
                <a:schemeClr val="dk1"/>
              </a:solidFill>
              <a:latin typeface="Calibri"/>
              <a:ea typeface="Calibri"/>
              <a:cs typeface="Calibri"/>
              <a:sym typeface="Calibri"/>
            </a:endParaRPr>
          </a:p>
        </p:txBody>
      </p:sp>
      <p:sp>
        <p:nvSpPr>
          <p:cNvPr id="162" name="Google Shape;162;p5"/>
          <p:cNvSpPr/>
          <p:nvPr/>
        </p:nvSpPr>
        <p:spPr>
          <a:xfrm>
            <a:off x="640080" y="3035808"/>
            <a:ext cx="10881360" cy="1243584"/>
          </a:xfrm>
          <a:prstGeom prst="roundRect">
            <a:avLst>
              <a:gd fmla="val 2941" name="adj"/>
            </a:avLst>
          </a:prstGeom>
          <a:solidFill>
            <a:srgbClr val="1E1912"/>
          </a:solidFill>
          <a:ln cap="flat" cmpd="sng" w="12700">
            <a:solidFill>
              <a:srgbClr val="2C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p:nvPr/>
        </p:nvSpPr>
        <p:spPr>
          <a:xfrm>
            <a:off x="11466576" y="3035808"/>
            <a:ext cx="54864" cy="1243584"/>
          </a:xfrm>
          <a:prstGeom prst="rect">
            <a:avLst/>
          </a:prstGeom>
          <a:solidFill>
            <a:srgbClr val="8A827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txBox="1"/>
          <p:nvPr/>
        </p:nvSpPr>
        <p:spPr>
          <a:xfrm>
            <a:off x="914400" y="3182112"/>
            <a:ext cx="10332720" cy="310896"/>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8A8275"/>
              </a:buClr>
              <a:buSzPts val="1700"/>
              <a:buFont typeface="Arial"/>
              <a:buNone/>
            </a:pPr>
            <a:r>
              <a:rPr b="1" lang="en-US" sz="1700">
                <a:solidFill>
                  <a:srgbClr val="8A8275"/>
                </a:solidFill>
                <a:latin typeface="Arial"/>
                <a:ea typeface="Arial"/>
                <a:cs typeface="Arial"/>
                <a:sym typeface="Arial"/>
              </a:rPr>
              <a:t>הצלבה בין חשבון לשעת סיום העסקה</a:t>
            </a:r>
            <a:endParaRPr sz="1700">
              <a:solidFill>
                <a:schemeClr val="dk1"/>
              </a:solidFill>
              <a:latin typeface="Calibri"/>
              <a:ea typeface="Calibri"/>
              <a:cs typeface="Calibri"/>
              <a:sym typeface="Calibri"/>
            </a:endParaRPr>
          </a:p>
        </p:txBody>
      </p:sp>
      <p:sp>
        <p:nvSpPr>
          <p:cNvPr id="165" name="Google Shape;165;p5"/>
          <p:cNvSpPr txBox="1"/>
          <p:nvPr/>
        </p:nvSpPr>
        <p:spPr>
          <a:xfrm>
            <a:off x="914400" y="3529584"/>
            <a:ext cx="10332720" cy="658368"/>
          </a:xfrm>
          <a:prstGeom prst="rect">
            <a:avLst/>
          </a:prstGeom>
          <a:no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Clr>
                <a:srgbClr val="D9CFC0"/>
              </a:buClr>
              <a:buSzPts val="1400"/>
              <a:buFont typeface="Arial"/>
              <a:buNone/>
            </a:pPr>
            <a:r>
              <a:rPr lang="en-US" sz="1400">
                <a:solidFill>
                  <a:srgbClr val="D9CFC0"/>
                </a:solidFill>
                <a:latin typeface="Arial"/>
                <a:ea typeface="Arial"/>
                <a:cs typeface="Arial"/>
                <a:sym typeface="Arial"/>
              </a:rPr>
              <a:t>החיפוש התחיל מ-lookup של identity, בחיפוש חשבונות עם termination_date. ההצלבה מול vpn נתנה התחברות מוצלחת אחת מרומניה, ללא MFA, מחשבון שסיים ביוני 2025.</a:t>
            </a:r>
            <a:endParaRPr sz="1400">
              <a:solidFill>
                <a:schemeClr val="dk1"/>
              </a:solidFill>
              <a:latin typeface="Calibri"/>
              <a:ea typeface="Calibri"/>
              <a:cs typeface="Calibri"/>
              <a:sym typeface="Calibri"/>
            </a:endParaRPr>
          </a:p>
        </p:txBody>
      </p:sp>
      <p:sp>
        <p:nvSpPr>
          <p:cNvPr id="166" name="Google Shape;166;p5"/>
          <p:cNvSpPr/>
          <p:nvPr/>
        </p:nvSpPr>
        <p:spPr>
          <a:xfrm>
            <a:off x="640080" y="4498848"/>
            <a:ext cx="10881360" cy="1243584"/>
          </a:xfrm>
          <a:prstGeom prst="roundRect">
            <a:avLst>
              <a:gd fmla="val 2941" name="adj"/>
            </a:avLst>
          </a:prstGeom>
          <a:solidFill>
            <a:srgbClr val="1E1912"/>
          </a:solidFill>
          <a:ln cap="flat" cmpd="sng" w="12700">
            <a:solidFill>
              <a:srgbClr val="2C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p:nvPr/>
        </p:nvSpPr>
        <p:spPr>
          <a:xfrm>
            <a:off x="11466576" y="4498848"/>
            <a:ext cx="54864" cy="1243584"/>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5"/>
          <p:cNvSpPr txBox="1"/>
          <p:nvPr/>
        </p:nvSpPr>
        <p:spPr>
          <a:xfrm>
            <a:off x="914400" y="4645152"/>
            <a:ext cx="10332720" cy="310896"/>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1700"/>
              <a:buFont typeface="Arial"/>
              <a:buNone/>
            </a:pPr>
            <a:r>
              <a:rPr b="1" lang="en-US" sz="1700">
                <a:solidFill>
                  <a:srgbClr val="E4572E"/>
                </a:solidFill>
                <a:latin typeface="Arial"/>
                <a:ea typeface="Arial"/>
                <a:cs typeface="Arial"/>
                <a:sym typeface="Arial"/>
              </a:rPr>
              <a:t>צירוף השחקן לרשומת הגיבוי</a:t>
            </a:r>
            <a:endParaRPr sz="1700">
              <a:solidFill>
                <a:schemeClr val="dk1"/>
              </a:solidFill>
              <a:latin typeface="Calibri"/>
              <a:ea typeface="Calibri"/>
              <a:cs typeface="Calibri"/>
              <a:sym typeface="Calibri"/>
            </a:endParaRPr>
          </a:p>
        </p:txBody>
      </p:sp>
      <p:sp>
        <p:nvSpPr>
          <p:cNvPr id="169" name="Google Shape;169;p5"/>
          <p:cNvSpPr txBox="1"/>
          <p:nvPr/>
        </p:nvSpPr>
        <p:spPr>
          <a:xfrm>
            <a:off x="914400" y="4992624"/>
            <a:ext cx="10332720" cy="658368"/>
          </a:xfrm>
          <a:prstGeom prst="rect">
            <a:avLst/>
          </a:prstGeom>
          <a:no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Clr>
                <a:srgbClr val="D9CFC0"/>
              </a:buClr>
              <a:buSzPts val="1400"/>
              <a:buFont typeface="Arial"/>
              <a:buNone/>
            </a:pPr>
            <a:r>
              <a:rPr lang="en-US" sz="1400">
                <a:solidFill>
                  <a:srgbClr val="D9CFC0"/>
                </a:solidFill>
                <a:latin typeface="Arial"/>
                <a:ea typeface="Arial"/>
                <a:cs typeface="Arial"/>
                <a:sym typeface="Arial"/>
              </a:rPr>
              <a:t>רשומת המחיקה נושאת actor=d.aviram ולא את חשבון השירות. שש דקות קודם לכן יש 4624 של אותו חשבון אל SRV-BKP-01. זה מה שהפך את המחיקה מתקלה לפעולה מכוונת.</a:t>
            </a:r>
            <a:endParaRPr sz="14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30F"/>
        </a:solidFill>
      </p:bgPr>
    </p:bg>
    <p:spTree>
      <p:nvGrpSpPr>
        <p:cNvPr id="174" name="Shape 174"/>
        <p:cNvGrpSpPr/>
        <p:nvPr/>
      </p:nvGrpSpPr>
      <p:grpSpPr>
        <a:xfrm>
          <a:off x="0" y="0"/>
          <a:ext cx="0" cy="0"/>
          <a:chOff x="0" y="0"/>
          <a:chExt cx="0" cy="0"/>
        </a:xfrm>
      </p:grpSpPr>
      <p:sp>
        <p:nvSpPr>
          <p:cNvPr id="175" name="Google Shape;175;p6"/>
          <p:cNvSpPr/>
          <p:nvPr/>
        </p:nvSpPr>
        <p:spPr>
          <a:xfrm>
            <a:off x="0" y="0"/>
            <a:ext cx="12161520" cy="54864"/>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
          <p:cNvSpPr txBox="1"/>
          <p:nvPr/>
        </p:nvSpPr>
        <p:spPr>
          <a:xfrm>
            <a:off x="365760" y="29260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latin typeface="Arial"/>
                <a:ea typeface="Arial"/>
                <a:cs typeface="Arial"/>
                <a:sym typeface="Arial"/>
              </a:rPr>
              <a:t>06</a:t>
            </a:r>
            <a:endParaRPr sz="3000">
              <a:solidFill>
                <a:schemeClr val="dk1"/>
              </a:solidFill>
              <a:latin typeface="Calibri"/>
              <a:ea typeface="Calibri"/>
              <a:cs typeface="Calibri"/>
              <a:sym typeface="Calibri"/>
            </a:endParaRPr>
          </a:p>
        </p:txBody>
      </p:sp>
      <p:sp>
        <p:nvSpPr>
          <p:cNvPr id="177" name="Google Shape;177;p6"/>
          <p:cNvSpPr txBox="1"/>
          <p:nvPr/>
        </p:nvSpPr>
        <p:spPr>
          <a:xfrm>
            <a:off x="1097280" y="310896"/>
            <a:ext cx="10698480" cy="47548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2700"/>
              <a:buFont typeface="Arial"/>
              <a:buNone/>
            </a:pPr>
            <a:r>
              <a:rPr b="1" lang="en-US" sz="2700">
                <a:solidFill>
                  <a:srgbClr val="E4572E"/>
                </a:solidFill>
                <a:latin typeface="Arial"/>
                <a:ea typeface="Arial"/>
                <a:cs typeface="Arial"/>
                <a:sym typeface="Arial"/>
              </a:rPr>
              <a:t>מה פסלנו</a:t>
            </a:r>
            <a:endParaRPr sz="2700">
              <a:solidFill>
                <a:schemeClr val="dk1"/>
              </a:solidFill>
              <a:latin typeface="Calibri"/>
              <a:ea typeface="Calibri"/>
              <a:cs typeface="Calibri"/>
              <a:sym typeface="Calibri"/>
            </a:endParaRPr>
          </a:p>
        </p:txBody>
      </p:sp>
      <p:sp>
        <p:nvSpPr>
          <p:cNvPr id="178" name="Google Shape;178;p6"/>
          <p:cNvSpPr txBox="1"/>
          <p:nvPr/>
        </p:nvSpPr>
        <p:spPr>
          <a:xfrm>
            <a:off x="1097280" y="804672"/>
            <a:ext cx="10698480"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500"/>
              <a:buFont typeface="Arial"/>
              <a:buNone/>
            </a:pPr>
            <a:r>
              <a:rPr lang="en-US" sz="1500">
                <a:solidFill>
                  <a:srgbClr val="A69A8A"/>
                </a:solidFill>
                <a:latin typeface="Arial"/>
                <a:ea typeface="Arial"/>
                <a:cs typeface="Arial"/>
                <a:sym typeface="Arial"/>
              </a:rPr>
              <a:t>וכיצד</a:t>
            </a:r>
            <a:endParaRPr sz="1500">
              <a:solidFill>
                <a:schemeClr val="dk1"/>
              </a:solidFill>
              <a:latin typeface="Calibri"/>
              <a:ea typeface="Calibri"/>
              <a:cs typeface="Calibri"/>
              <a:sym typeface="Calibri"/>
            </a:endParaRPr>
          </a:p>
        </p:txBody>
      </p:sp>
      <p:cxnSp>
        <p:nvCxnSpPr>
          <p:cNvPr id="179" name="Google Shape;179;p6"/>
          <p:cNvCxnSpPr/>
          <p:nvPr/>
        </p:nvCxnSpPr>
        <p:spPr>
          <a:xfrm>
            <a:off x="548640" y="1207008"/>
            <a:ext cx="11064240" cy="0"/>
          </a:xfrm>
          <a:prstGeom prst="straightConnector1">
            <a:avLst/>
          </a:prstGeom>
          <a:noFill/>
          <a:ln cap="flat" cmpd="sng" w="12700">
            <a:solidFill>
              <a:srgbClr val="2C2620"/>
            </a:solidFill>
            <a:prstDash val="solid"/>
            <a:round/>
            <a:headEnd len="sm" w="sm" type="none"/>
            <a:tailEnd len="sm" w="sm" type="none"/>
          </a:ln>
        </p:spPr>
      </p:cxnSp>
      <p:sp>
        <p:nvSpPr>
          <p:cNvPr id="180" name="Google Shape;180;p6"/>
          <p:cNvSpPr/>
          <p:nvPr/>
        </p:nvSpPr>
        <p:spPr>
          <a:xfrm>
            <a:off x="6263640" y="1554480"/>
            <a:ext cx="5257800" cy="1298448"/>
          </a:xfrm>
          <a:prstGeom prst="roundRect">
            <a:avLst>
              <a:gd fmla="val 2817" name="adj"/>
            </a:avLst>
          </a:prstGeom>
          <a:solidFill>
            <a:srgbClr val="1E1912"/>
          </a:solidFill>
          <a:ln cap="flat" cmpd="sng" w="12700">
            <a:solidFill>
              <a:srgbClr val="2C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11466576" y="1554480"/>
            <a:ext cx="54864" cy="1298448"/>
          </a:xfrm>
          <a:prstGeom prst="rect">
            <a:avLst/>
          </a:prstGeom>
          <a:solidFill>
            <a:srgbClr val="CC6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txBox="1"/>
          <p:nvPr/>
        </p:nvSpPr>
        <p:spPr>
          <a:xfrm>
            <a:off x="6428232" y="1682496"/>
            <a:ext cx="4892040" cy="29260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CC6A2E"/>
              </a:buClr>
              <a:buSzPts val="1500"/>
              <a:buFont typeface="Arial"/>
              <a:buNone/>
            </a:pPr>
            <a:r>
              <a:rPr b="1" lang="en-US" sz="1500" u="sng">
                <a:solidFill>
                  <a:srgbClr val="CC6A2E"/>
                </a:solidFill>
                <a:latin typeface="Arial"/>
                <a:ea typeface="Arial"/>
                <a:cs typeface="Arial"/>
                <a:sym typeface="Arial"/>
              </a:rPr>
              <a:t>212.143.200.14</a:t>
            </a:r>
            <a:endParaRPr sz="1500" u="sng">
              <a:solidFill>
                <a:schemeClr val="dk1"/>
              </a:solidFill>
              <a:latin typeface="Calibri"/>
              <a:ea typeface="Calibri"/>
              <a:cs typeface="Calibri"/>
              <a:sym typeface="Calibri"/>
            </a:endParaRPr>
          </a:p>
        </p:txBody>
      </p:sp>
      <p:sp>
        <p:nvSpPr>
          <p:cNvPr id="183" name="Google Shape;183;p6"/>
          <p:cNvSpPr txBox="1"/>
          <p:nvPr/>
        </p:nvSpPr>
        <p:spPr>
          <a:xfrm>
            <a:off x="6428232" y="1993392"/>
            <a:ext cx="4892040" cy="786384"/>
          </a:xfrm>
          <a:prstGeom prst="rect">
            <a:avLst/>
          </a:prstGeom>
          <a:no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היה חשוד בעבר שאליו יצאו הקבצים. הוא מופיע בכל 702 רשומות הענן לאורך 90 יום, כולל פעילות רגילה במאי, והוא המקור של בדיקת התקינות השגרתית. זו כתובת היציאה שלנו.</a:t>
            </a:r>
            <a:endParaRPr sz="1200">
              <a:solidFill>
                <a:schemeClr val="dk1"/>
              </a:solidFill>
              <a:latin typeface="Calibri"/>
              <a:ea typeface="Calibri"/>
              <a:cs typeface="Calibri"/>
              <a:sym typeface="Calibri"/>
            </a:endParaRPr>
          </a:p>
        </p:txBody>
      </p:sp>
      <p:sp>
        <p:nvSpPr>
          <p:cNvPr id="184" name="Google Shape;184;p6"/>
          <p:cNvSpPr/>
          <p:nvPr/>
        </p:nvSpPr>
        <p:spPr>
          <a:xfrm>
            <a:off x="640080" y="1554480"/>
            <a:ext cx="5257800" cy="1298448"/>
          </a:xfrm>
          <a:prstGeom prst="roundRect">
            <a:avLst>
              <a:gd fmla="val 2817" name="adj"/>
            </a:avLst>
          </a:prstGeom>
          <a:solidFill>
            <a:srgbClr val="1E1912"/>
          </a:solidFill>
          <a:ln cap="flat" cmpd="sng" w="12700">
            <a:solidFill>
              <a:srgbClr val="2C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5843016" y="1554480"/>
            <a:ext cx="54864" cy="1298448"/>
          </a:xfrm>
          <a:prstGeom prst="rect">
            <a:avLst/>
          </a:prstGeom>
          <a:solidFill>
            <a:srgbClr val="D948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txBox="1"/>
          <p:nvPr/>
        </p:nvSpPr>
        <p:spPr>
          <a:xfrm>
            <a:off x="804672" y="1682496"/>
            <a:ext cx="4892040" cy="29260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D9482E"/>
              </a:buClr>
              <a:buSzPts val="1500"/>
              <a:buFont typeface="Arial"/>
              <a:buNone/>
            </a:pPr>
            <a:r>
              <a:rPr b="1" lang="en-US" sz="1500">
                <a:solidFill>
                  <a:srgbClr val="D9482E"/>
                </a:solidFill>
                <a:latin typeface="Arial"/>
                <a:ea typeface="Arial"/>
                <a:cs typeface="Arial"/>
                <a:sym typeface="Arial"/>
              </a:rPr>
              <a:t>svc_backup</a:t>
            </a:r>
            <a:endParaRPr sz="1500">
              <a:solidFill>
                <a:schemeClr val="dk1"/>
              </a:solidFill>
              <a:latin typeface="Calibri"/>
              <a:ea typeface="Calibri"/>
              <a:cs typeface="Calibri"/>
              <a:sym typeface="Calibri"/>
            </a:endParaRPr>
          </a:p>
        </p:txBody>
      </p:sp>
      <p:sp>
        <p:nvSpPr>
          <p:cNvPr id="187" name="Google Shape;187;p6"/>
          <p:cNvSpPr txBox="1"/>
          <p:nvPr/>
        </p:nvSpPr>
        <p:spPr>
          <a:xfrm>
            <a:off x="804672" y="2001859"/>
            <a:ext cx="4892040" cy="786384"/>
          </a:xfrm>
          <a:prstGeom prst="rect">
            <a:avLst/>
          </a:prstGeom>
          <a:no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חשבון שירות ללא MFA שרץ מדי לילה. רשומת המחיקה ב-05:30 נושאת actor אחר לגמרי. החשבון לא נגע במחיקה, מה שמוסיף לחשד.</a:t>
            </a:r>
            <a:endParaRPr sz="1200">
              <a:solidFill>
                <a:schemeClr val="dk1"/>
              </a:solidFill>
              <a:latin typeface="Calibri"/>
              <a:ea typeface="Calibri"/>
              <a:cs typeface="Calibri"/>
              <a:sym typeface="Calibri"/>
            </a:endParaRPr>
          </a:p>
        </p:txBody>
      </p:sp>
      <p:sp>
        <p:nvSpPr>
          <p:cNvPr id="188" name="Google Shape;188;p6"/>
          <p:cNvSpPr/>
          <p:nvPr/>
        </p:nvSpPr>
        <p:spPr>
          <a:xfrm>
            <a:off x="6263640" y="3044952"/>
            <a:ext cx="5257800" cy="1298448"/>
          </a:xfrm>
          <a:prstGeom prst="roundRect">
            <a:avLst>
              <a:gd fmla="val 2817" name="adj"/>
            </a:avLst>
          </a:prstGeom>
          <a:solidFill>
            <a:srgbClr val="1E1912"/>
          </a:solidFill>
          <a:ln cap="flat" cmpd="sng" w="12700">
            <a:solidFill>
              <a:srgbClr val="2C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11466576" y="3044952"/>
            <a:ext cx="54864" cy="1298448"/>
          </a:xfrm>
          <a:prstGeom prst="rect">
            <a:avLst/>
          </a:prstGeom>
          <a:solidFill>
            <a:srgbClr val="D948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txBox="1"/>
          <p:nvPr/>
        </p:nvSpPr>
        <p:spPr>
          <a:xfrm>
            <a:off x="6428232" y="3172968"/>
            <a:ext cx="4892040" cy="29260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D9482E"/>
              </a:buClr>
              <a:buSzPts val="1500"/>
              <a:buFont typeface="Arial"/>
              <a:buNone/>
            </a:pPr>
            <a:r>
              <a:rPr b="1" lang="en-US" sz="1500">
                <a:solidFill>
                  <a:srgbClr val="D9482E"/>
                </a:solidFill>
                <a:latin typeface="Arial"/>
                <a:ea typeface="Arial"/>
                <a:cs typeface="Arial"/>
                <a:sym typeface="Arial"/>
              </a:rPr>
              <a:t>svc_scada</a:t>
            </a:r>
            <a:endParaRPr sz="1500">
              <a:solidFill>
                <a:schemeClr val="dk1"/>
              </a:solidFill>
              <a:latin typeface="Calibri"/>
              <a:ea typeface="Calibri"/>
              <a:cs typeface="Calibri"/>
              <a:sym typeface="Calibri"/>
            </a:endParaRPr>
          </a:p>
        </p:txBody>
      </p:sp>
      <p:sp>
        <p:nvSpPr>
          <p:cNvPr id="191" name="Google Shape;191;p6"/>
          <p:cNvSpPr txBox="1"/>
          <p:nvPr/>
        </p:nvSpPr>
        <p:spPr>
          <a:xfrm>
            <a:off x="6428232" y="3483864"/>
            <a:ext cx="4892040" cy="786384"/>
          </a:xfrm>
          <a:prstGeom prst="rect">
            <a:avLst/>
          </a:prstGeom>
          <a:no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חשבון שירות ללא MFA. קריאות ה-Historian שלו רצות בין 40 ל-61 בחצי שעה, גם בלילה שלפני התקיפה וגם בלילה שאחריה, וגם בשבוע שלפניו. בייסליין.</a:t>
            </a:r>
            <a:endParaRPr sz="1200">
              <a:solidFill>
                <a:schemeClr val="dk1"/>
              </a:solidFill>
              <a:latin typeface="Calibri"/>
              <a:ea typeface="Calibri"/>
              <a:cs typeface="Calibri"/>
              <a:sym typeface="Calibri"/>
            </a:endParaRPr>
          </a:p>
        </p:txBody>
      </p:sp>
      <p:sp>
        <p:nvSpPr>
          <p:cNvPr id="192" name="Google Shape;192;p6"/>
          <p:cNvSpPr/>
          <p:nvPr/>
        </p:nvSpPr>
        <p:spPr>
          <a:xfrm>
            <a:off x="640080" y="3044952"/>
            <a:ext cx="5257800" cy="1298448"/>
          </a:xfrm>
          <a:prstGeom prst="roundRect">
            <a:avLst>
              <a:gd fmla="val 2817" name="adj"/>
            </a:avLst>
          </a:prstGeom>
          <a:solidFill>
            <a:srgbClr val="1E1912"/>
          </a:solidFill>
          <a:ln cap="flat" cmpd="sng" w="12700">
            <a:solidFill>
              <a:srgbClr val="2C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5843016" y="3044952"/>
            <a:ext cx="54864" cy="1298448"/>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txBox="1"/>
          <p:nvPr/>
        </p:nvSpPr>
        <p:spPr>
          <a:xfrm>
            <a:off x="804672" y="3172968"/>
            <a:ext cx="4892040" cy="29260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C9A227"/>
              </a:buClr>
              <a:buSzPts val="1500"/>
              <a:buFont typeface="Arial"/>
              <a:buNone/>
            </a:pPr>
            <a:r>
              <a:rPr b="1" lang="en-US" sz="1500">
                <a:solidFill>
                  <a:srgbClr val="C9A227"/>
                </a:solidFill>
                <a:latin typeface="Arial"/>
                <a:ea typeface="Arial"/>
                <a:cs typeface="Arial"/>
                <a:sym typeface="Arial"/>
              </a:rPr>
              <a:t>m.aharon ו-p.weiss</a:t>
            </a:r>
            <a:endParaRPr sz="1500">
              <a:solidFill>
                <a:schemeClr val="dk1"/>
              </a:solidFill>
              <a:latin typeface="Calibri"/>
              <a:ea typeface="Calibri"/>
              <a:cs typeface="Calibri"/>
              <a:sym typeface="Calibri"/>
            </a:endParaRPr>
          </a:p>
        </p:txBody>
      </p:sp>
      <p:sp>
        <p:nvSpPr>
          <p:cNvPr id="195" name="Google Shape;195;p6"/>
          <p:cNvSpPr txBox="1"/>
          <p:nvPr/>
        </p:nvSpPr>
        <p:spPr>
          <a:xfrm>
            <a:off x="804672" y="3483864"/>
            <a:ext cx="4892040" cy="786384"/>
          </a:xfrm>
          <a:prstGeom prst="rect">
            <a:avLst/>
          </a:prstGeom>
          <a:no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שניהם ללא MFA, אחד מהם terminated. אף אחד מהם אינו מופיע בחלון האירוע.</a:t>
            </a:r>
            <a:endParaRPr sz="1200">
              <a:solidFill>
                <a:schemeClr val="dk1"/>
              </a:solidFill>
              <a:latin typeface="Calibri"/>
              <a:ea typeface="Calibri"/>
              <a:cs typeface="Calibri"/>
              <a:sym typeface="Calibri"/>
            </a:endParaRPr>
          </a:p>
        </p:txBody>
      </p:sp>
      <p:sp>
        <p:nvSpPr>
          <p:cNvPr id="196" name="Google Shape;196;p6"/>
          <p:cNvSpPr/>
          <p:nvPr/>
        </p:nvSpPr>
        <p:spPr>
          <a:xfrm>
            <a:off x="6263640" y="4535424"/>
            <a:ext cx="5257800" cy="1298448"/>
          </a:xfrm>
          <a:prstGeom prst="roundRect">
            <a:avLst>
              <a:gd fmla="val 2817" name="adj"/>
            </a:avLst>
          </a:prstGeom>
          <a:solidFill>
            <a:srgbClr val="1E1912"/>
          </a:solidFill>
          <a:ln cap="flat" cmpd="sng" w="12700">
            <a:solidFill>
              <a:srgbClr val="2C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11466576" y="4535424"/>
            <a:ext cx="54864" cy="1298448"/>
          </a:xfrm>
          <a:prstGeom prst="rect">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txBox="1"/>
          <p:nvPr/>
        </p:nvSpPr>
        <p:spPr>
          <a:xfrm>
            <a:off x="6428232" y="4663440"/>
            <a:ext cx="4892040" cy="29260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C9A227"/>
              </a:buClr>
              <a:buSzPts val="1500"/>
              <a:buFont typeface="Arial"/>
              <a:buNone/>
            </a:pPr>
            <a:r>
              <a:rPr b="1" lang="en-US" sz="1500">
                <a:solidFill>
                  <a:srgbClr val="C9A227"/>
                </a:solidFill>
                <a:latin typeface="Arial"/>
                <a:ea typeface="Arial"/>
                <a:cs typeface="Arial"/>
                <a:sym typeface="Arial"/>
              </a:rPr>
              <a:t>upgradeagent.exe</a:t>
            </a:r>
            <a:endParaRPr sz="1500">
              <a:solidFill>
                <a:schemeClr val="dk1"/>
              </a:solidFill>
              <a:latin typeface="Calibri"/>
              <a:ea typeface="Calibri"/>
              <a:cs typeface="Calibri"/>
              <a:sym typeface="Calibri"/>
            </a:endParaRPr>
          </a:p>
        </p:txBody>
      </p:sp>
      <p:sp>
        <p:nvSpPr>
          <p:cNvPr id="199" name="Google Shape;199;p6"/>
          <p:cNvSpPr txBox="1"/>
          <p:nvPr/>
        </p:nvSpPr>
        <p:spPr>
          <a:xfrm>
            <a:off x="6428232" y="4974336"/>
            <a:ext cx="4892040" cy="786384"/>
          </a:xfrm>
          <a:prstGeom prst="rect">
            <a:avLst/>
          </a:prstGeom>
          <a:no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48 הרצות ב-SYSTEM בין 01:30 ל-01:42, בתוך חלון התקיפה. פריסת עדכון מתוזמנת על כל העמדות, לא קשורה.</a:t>
            </a:r>
            <a:endParaRPr/>
          </a:p>
          <a:p>
            <a:pPr indent="0" lvl="0" marL="0" marR="0" rtl="1" algn="r">
              <a:lnSpc>
                <a:spcPct val="150000"/>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קרה גם בעבר בפעמיים נפרדות.</a:t>
            </a:r>
            <a:endParaRPr sz="1200">
              <a:solidFill>
                <a:schemeClr val="dk1"/>
              </a:solidFill>
              <a:latin typeface="Calibri"/>
              <a:ea typeface="Calibri"/>
              <a:cs typeface="Calibri"/>
              <a:sym typeface="Calibri"/>
            </a:endParaRPr>
          </a:p>
        </p:txBody>
      </p:sp>
      <p:sp>
        <p:nvSpPr>
          <p:cNvPr id="200" name="Google Shape;200;p6"/>
          <p:cNvSpPr/>
          <p:nvPr/>
        </p:nvSpPr>
        <p:spPr>
          <a:xfrm>
            <a:off x="640080" y="4535424"/>
            <a:ext cx="5257800" cy="1298448"/>
          </a:xfrm>
          <a:prstGeom prst="roundRect">
            <a:avLst>
              <a:gd fmla="val 2817" name="adj"/>
            </a:avLst>
          </a:prstGeom>
          <a:solidFill>
            <a:srgbClr val="1E1912"/>
          </a:solidFill>
          <a:ln cap="flat" cmpd="sng" w="12700">
            <a:solidFill>
              <a:srgbClr val="2C262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5843016" y="4535424"/>
            <a:ext cx="54864" cy="1298448"/>
          </a:xfrm>
          <a:prstGeom prst="rect">
            <a:avLst/>
          </a:prstGeom>
          <a:solidFill>
            <a:srgbClr val="D98E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txBox="1"/>
          <p:nvPr/>
        </p:nvSpPr>
        <p:spPr>
          <a:xfrm>
            <a:off x="804672" y="4663440"/>
            <a:ext cx="4892040" cy="29260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D98E2B"/>
              </a:buClr>
              <a:buSzPts val="1500"/>
              <a:buFont typeface="Arial"/>
              <a:buNone/>
            </a:pPr>
            <a:r>
              <a:rPr b="1" lang="en-US" sz="1500">
                <a:solidFill>
                  <a:srgbClr val="D98E2B"/>
                </a:solidFill>
                <a:latin typeface="Arial"/>
                <a:ea typeface="Arial"/>
                <a:cs typeface="Arial"/>
                <a:sym typeface="Arial"/>
              </a:rPr>
              <a:t>התחברויות f.nagar מקפריסין</a:t>
            </a:r>
            <a:endParaRPr sz="1500">
              <a:solidFill>
                <a:schemeClr val="dk1"/>
              </a:solidFill>
              <a:latin typeface="Calibri"/>
              <a:ea typeface="Calibri"/>
              <a:cs typeface="Calibri"/>
              <a:sym typeface="Calibri"/>
            </a:endParaRPr>
          </a:p>
        </p:txBody>
      </p:sp>
      <p:sp>
        <p:nvSpPr>
          <p:cNvPr id="203" name="Google Shape;203;p6"/>
          <p:cNvSpPr txBox="1"/>
          <p:nvPr/>
        </p:nvSpPr>
        <p:spPr>
          <a:xfrm>
            <a:off x="804672" y="4974336"/>
            <a:ext cx="4892040" cy="786384"/>
          </a:xfrm>
          <a:prstGeom prst="rect">
            <a:avLst/>
          </a:prstGeom>
          <a:noFill/>
          <a:ln>
            <a:noFill/>
          </a:ln>
        </p:spPr>
        <p:txBody>
          <a:bodyPr anchorCtr="0" anchor="ctr" bIns="45700" lIns="91425" spcFirstLastPara="1" rIns="91425" wrap="square" tIns="45700">
            <a:noAutofit/>
          </a:bodyPr>
          <a:lstStyle/>
          <a:p>
            <a:pPr indent="0" lvl="0" marL="0" marR="0" rtl="1" algn="r">
              <a:lnSpc>
                <a:spcPct val="150000"/>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שבע התחברויות VPN ממדינה זרה ביוני. כולן עם totp, ברצף יומי. נסיעת עבודה.</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30F"/>
        </a:solidFill>
      </p:bgPr>
    </p:bg>
    <p:spTree>
      <p:nvGrpSpPr>
        <p:cNvPr id="208" name="Shape 208"/>
        <p:cNvGrpSpPr/>
        <p:nvPr/>
      </p:nvGrpSpPr>
      <p:grpSpPr>
        <a:xfrm>
          <a:off x="0" y="0"/>
          <a:ext cx="0" cy="0"/>
          <a:chOff x="0" y="0"/>
          <a:chExt cx="0" cy="0"/>
        </a:xfrm>
      </p:grpSpPr>
      <p:sp>
        <p:nvSpPr>
          <p:cNvPr id="209" name="Google Shape;209;p8"/>
          <p:cNvSpPr/>
          <p:nvPr/>
        </p:nvSpPr>
        <p:spPr>
          <a:xfrm>
            <a:off x="0" y="0"/>
            <a:ext cx="12161520" cy="54864"/>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txBox="1"/>
          <p:nvPr/>
        </p:nvSpPr>
        <p:spPr>
          <a:xfrm>
            <a:off x="365760" y="29260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rPr>
              <a:t>07</a:t>
            </a:r>
            <a:endParaRPr sz="3000">
              <a:solidFill>
                <a:schemeClr val="dk1"/>
              </a:solidFill>
              <a:latin typeface="Calibri"/>
              <a:ea typeface="Calibri"/>
              <a:cs typeface="Calibri"/>
              <a:sym typeface="Calibri"/>
            </a:endParaRPr>
          </a:p>
        </p:txBody>
      </p:sp>
      <p:sp>
        <p:nvSpPr>
          <p:cNvPr id="211" name="Google Shape;211;p8"/>
          <p:cNvSpPr txBox="1"/>
          <p:nvPr/>
        </p:nvSpPr>
        <p:spPr>
          <a:xfrm>
            <a:off x="1097280" y="310896"/>
            <a:ext cx="10698480" cy="47548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2700"/>
              <a:buFont typeface="Arial"/>
              <a:buNone/>
            </a:pPr>
            <a:r>
              <a:rPr b="1" lang="en-US" sz="2700">
                <a:solidFill>
                  <a:srgbClr val="E4572E"/>
                </a:solidFill>
                <a:latin typeface="Arial"/>
                <a:ea typeface="Arial"/>
                <a:cs typeface="Arial"/>
                <a:sym typeface="Arial"/>
              </a:rPr>
              <a:t>מה לא ניתן לקבוע</a:t>
            </a:r>
            <a:endParaRPr sz="2700">
              <a:solidFill>
                <a:schemeClr val="dk1"/>
              </a:solidFill>
              <a:latin typeface="Calibri"/>
              <a:ea typeface="Calibri"/>
              <a:cs typeface="Calibri"/>
              <a:sym typeface="Calibri"/>
            </a:endParaRPr>
          </a:p>
        </p:txBody>
      </p:sp>
      <p:sp>
        <p:nvSpPr>
          <p:cNvPr id="212" name="Google Shape;212;p8"/>
          <p:cNvSpPr txBox="1"/>
          <p:nvPr/>
        </p:nvSpPr>
        <p:spPr>
          <a:xfrm>
            <a:off x="1097280" y="804672"/>
            <a:ext cx="10698480"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500"/>
              <a:buFont typeface="Arial"/>
              <a:buNone/>
            </a:pPr>
            <a:r>
              <a:rPr lang="en-US" sz="1500">
                <a:solidFill>
                  <a:srgbClr val="A69A8A"/>
                </a:solidFill>
                <a:latin typeface="Arial"/>
                <a:ea typeface="Arial"/>
                <a:cs typeface="Arial"/>
                <a:sym typeface="Arial"/>
              </a:rPr>
              <a:t>ולמה</a:t>
            </a:r>
            <a:endParaRPr sz="1500">
              <a:solidFill>
                <a:schemeClr val="dk1"/>
              </a:solidFill>
              <a:latin typeface="Calibri"/>
              <a:ea typeface="Calibri"/>
              <a:cs typeface="Calibri"/>
              <a:sym typeface="Calibri"/>
            </a:endParaRPr>
          </a:p>
        </p:txBody>
      </p:sp>
      <p:cxnSp>
        <p:nvCxnSpPr>
          <p:cNvPr id="213" name="Google Shape;213;p8"/>
          <p:cNvCxnSpPr/>
          <p:nvPr/>
        </p:nvCxnSpPr>
        <p:spPr>
          <a:xfrm>
            <a:off x="548640" y="1207008"/>
            <a:ext cx="11064240" cy="0"/>
          </a:xfrm>
          <a:prstGeom prst="straightConnector1">
            <a:avLst/>
          </a:prstGeom>
          <a:noFill/>
          <a:ln cap="flat" cmpd="sng" w="12700">
            <a:solidFill>
              <a:srgbClr val="2C2620"/>
            </a:solidFill>
            <a:prstDash val="solid"/>
            <a:round/>
            <a:headEnd len="sm" w="sm" type="none"/>
            <a:tailEnd len="sm" w="sm" type="none"/>
          </a:ln>
        </p:spPr>
      </p:cxnSp>
      <p:sp>
        <p:nvSpPr>
          <p:cNvPr id="214" name="Google Shape;214;p8"/>
          <p:cNvSpPr/>
          <p:nvPr/>
        </p:nvSpPr>
        <p:spPr>
          <a:xfrm>
            <a:off x="640080" y="1536192"/>
            <a:ext cx="10881360" cy="329184"/>
          </a:xfrm>
          <a:prstGeom prst="rect">
            <a:avLst/>
          </a:prstGeom>
          <a:solidFill>
            <a:srgbClr val="231D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txBox="1"/>
          <p:nvPr/>
        </p:nvSpPr>
        <p:spPr>
          <a:xfrm>
            <a:off x="8503920" y="1554480"/>
            <a:ext cx="301752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הפריט</a:t>
            </a:r>
            <a:endParaRPr sz="1300">
              <a:solidFill>
                <a:schemeClr val="dk1"/>
              </a:solidFill>
              <a:latin typeface="Calibri"/>
              <a:ea typeface="Calibri"/>
              <a:cs typeface="Calibri"/>
              <a:sym typeface="Calibri"/>
            </a:endParaRPr>
          </a:p>
        </p:txBody>
      </p:sp>
      <p:sp>
        <p:nvSpPr>
          <p:cNvPr id="216" name="Google Shape;216;p8"/>
          <p:cNvSpPr txBox="1"/>
          <p:nvPr/>
        </p:nvSpPr>
        <p:spPr>
          <a:xfrm>
            <a:off x="6583680" y="1554480"/>
            <a:ext cx="182880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הסיבה</a:t>
            </a:r>
            <a:endParaRPr sz="1300">
              <a:solidFill>
                <a:schemeClr val="dk1"/>
              </a:solidFill>
              <a:latin typeface="Calibri"/>
              <a:ea typeface="Calibri"/>
              <a:cs typeface="Calibri"/>
              <a:sym typeface="Calibri"/>
            </a:endParaRPr>
          </a:p>
        </p:txBody>
      </p:sp>
      <p:sp>
        <p:nvSpPr>
          <p:cNvPr id="217" name="Google Shape;217;p8"/>
          <p:cNvSpPr txBox="1"/>
          <p:nvPr/>
        </p:nvSpPr>
        <p:spPr>
          <a:xfrm>
            <a:off x="731520" y="1554480"/>
            <a:ext cx="5760720" cy="292608"/>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מה זה אומר לקורא ואיך סוגרים</a:t>
            </a:r>
            <a:endParaRPr sz="1300">
              <a:solidFill>
                <a:schemeClr val="dk1"/>
              </a:solidFill>
              <a:latin typeface="Calibri"/>
              <a:ea typeface="Calibri"/>
              <a:cs typeface="Calibri"/>
              <a:sym typeface="Calibri"/>
            </a:endParaRPr>
          </a:p>
        </p:txBody>
      </p:sp>
      <p:sp>
        <p:nvSpPr>
          <p:cNvPr id="218" name="Google Shape;218;p8"/>
          <p:cNvSpPr/>
          <p:nvPr/>
        </p:nvSpPr>
        <p:spPr>
          <a:xfrm>
            <a:off x="640080" y="1911096"/>
            <a:ext cx="10881360" cy="621792"/>
          </a:xfrm>
          <a:prstGeom prst="rect">
            <a:avLst/>
          </a:prstGeom>
          <a:solidFill>
            <a:srgbClr val="1B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txBox="1"/>
          <p:nvPr/>
        </p:nvSpPr>
        <p:spPr>
          <a:xfrm>
            <a:off x="8503920" y="1956816"/>
            <a:ext cx="3017520" cy="530352"/>
          </a:xfrm>
          <a:prstGeom prst="rect">
            <a:avLst/>
          </a:prstGeom>
          <a:noFill/>
          <a:ln>
            <a:noFill/>
          </a:ln>
        </p:spPr>
        <p:txBody>
          <a:bodyPr anchorCtr="0" anchor="ctr" bIns="0" lIns="0" spcFirstLastPara="1" rIns="0" wrap="square" tIns="0">
            <a:noAutofit/>
          </a:bodyPr>
          <a:lstStyle/>
          <a:p>
            <a:pPr indent="0" lvl="0" marL="0" marR="0" rtl="1" algn="r">
              <a:lnSpc>
                <a:spcPct val="130769"/>
              </a:lnSpc>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האם נמחק גיבוי בפועל</a:t>
            </a:r>
            <a:endParaRPr sz="1300">
              <a:solidFill>
                <a:schemeClr val="dk1"/>
              </a:solidFill>
              <a:latin typeface="Calibri"/>
              <a:ea typeface="Calibri"/>
              <a:cs typeface="Calibri"/>
              <a:sym typeface="Calibri"/>
            </a:endParaRPr>
          </a:p>
        </p:txBody>
      </p:sp>
      <p:sp>
        <p:nvSpPr>
          <p:cNvPr id="220" name="Google Shape;220;p8"/>
          <p:cNvSpPr txBox="1"/>
          <p:nvPr/>
        </p:nvSpPr>
        <p:spPr>
          <a:xfrm>
            <a:off x="6583680" y="1956816"/>
            <a:ext cx="1828800" cy="53035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4572E"/>
              </a:buClr>
              <a:buSzPts val="1200"/>
              <a:buFont typeface="Arial"/>
              <a:buNone/>
            </a:pPr>
            <a:r>
              <a:rPr lang="en-US" sz="1200">
                <a:solidFill>
                  <a:srgbClr val="E4572E"/>
                </a:solidFill>
                <a:latin typeface="Arial"/>
                <a:ea typeface="Arial"/>
                <a:cs typeface="Arial"/>
                <a:sym typeface="Arial"/>
              </a:rPr>
              <a:t>אין מקור נתונים</a:t>
            </a:r>
            <a:endParaRPr sz="1200">
              <a:solidFill>
                <a:schemeClr val="dk1"/>
              </a:solidFill>
              <a:latin typeface="Calibri"/>
              <a:ea typeface="Calibri"/>
              <a:cs typeface="Calibri"/>
              <a:sym typeface="Calibri"/>
            </a:endParaRPr>
          </a:p>
        </p:txBody>
      </p:sp>
      <p:sp>
        <p:nvSpPr>
          <p:cNvPr id="221" name="Google Shape;221;p8"/>
          <p:cNvSpPr txBox="1"/>
          <p:nvPr/>
        </p:nvSpPr>
        <p:spPr>
          <a:xfrm>
            <a:off x="731520" y="1956816"/>
            <a:ext cx="5760720" cy="530352"/>
          </a:xfrm>
          <a:prstGeom prst="rect">
            <a:avLst/>
          </a:prstGeom>
          <a:noFill/>
          <a:ln>
            <a:noFill/>
          </a:ln>
        </p:spPr>
        <p:txBody>
          <a:bodyPr anchorCtr="0" anchor="ctr" bIns="0" lIns="0" spcFirstLastPara="1" rIns="0" wrap="square" tIns="0">
            <a:noAutofit/>
          </a:bodyPr>
          <a:lstStyle/>
          <a:p>
            <a:pPr indent="0" lvl="0" marL="0" marR="0" rtl="1" algn="r">
              <a:lnSpc>
                <a:spcPct val="141666"/>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הרשומה מציגה 0 קבצים ו-0GB. אי אפשר להסתמך לשני הכיוונים. סגירה: בדיקה על מכשיר הגיבוי עצמו</a:t>
            </a:r>
            <a:endParaRPr sz="1200">
              <a:solidFill>
                <a:schemeClr val="dk1"/>
              </a:solidFill>
              <a:latin typeface="Calibri"/>
              <a:ea typeface="Calibri"/>
              <a:cs typeface="Calibri"/>
              <a:sym typeface="Calibri"/>
            </a:endParaRPr>
          </a:p>
        </p:txBody>
      </p:sp>
      <p:sp>
        <p:nvSpPr>
          <p:cNvPr id="222" name="Google Shape;222;p8"/>
          <p:cNvSpPr txBox="1"/>
          <p:nvPr/>
        </p:nvSpPr>
        <p:spPr>
          <a:xfrm>
            <a:off x="8503920" y="2615184"/>
            <a:ext cx="3017520" cy="530352"/>
          </a:xfrm>
          <a:prstGeom prst="rect">
            <a:avLst/>
          </a:prstGeom>
          <a:noFill/>
          <a:ln>
            <a:noFill/>
          </a:ln>
        </p:spPr>
        <p:txBody>
          <a:bodyPr anchorCtr="0" anchor="ctr" bIns="0" lIns="0" spcFirstLastPara="1" rIns="0" wrap="square" tIns="0">
            <a:noAutofit/>
          </a:bodyPr>
          <a:lstStyle/>
          <a:p>
            <a:pPr indent="0" lvl="0" marL="0" marR="0" rtl="1" algn="r">
              <a:lnSpc>
                <a:spcPct val="130769"/>
              </a:lnSpc>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איך הושגו האישורים של d.aviram</a:t>
            </a:r>
            <a:endParaRPr sz="1300">
              <a:solidFill>
                <a:schemeClr val="dk1"/>
              </a:solidFill>
              <a:latin typeface="Calibri"/>
              <a:ea typeface="Calibri"/>
              <a:cs typeface="Calibri"/>
              <a:sym typeface="Calibri"/>
            </a:endParaRPr>
          </a:p>
        </p:txBody>
      </p:sp>
      <p:sp>
        <p:nvSpPr>
          <p:cNvPr id="223" name="Google Shape;223;p8"/>
          <p:cNvSpPr txBox="1"/>
          <p:nvPr/>
        </p:nvSpPr>
        <p:spPr>
          <a:xfrm>
            <a:off x="6583680" y="2615184"/>
            <a:ext cx="1828800" cy="53035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4572E"/>
              </a:buClr>
              <a:buSzPts val="1200"/>
              <a:buFont typeface="Arial"/>
              <a:buNone/>
            </a:pPr>
            <a:r>
              <a:rPr lang="en-US" sz="1200">
                <a:solidFill>
                  <a:srgbClr val="E4572E"/>
                </a:solidFill>
                <a:latin typeface="Arial"/>
                <a:ea typeface="Arial"/>
                <a:cs typeface="Arial"/>
                <a:sym typeface="Arial"/>
              </a:rPr>
              <a:t>אין מקור נתונים</a:t>
            </a:r>
            <a:endParaRPr sz="1200">
              <a:solidFill>
                <a:schemeClr val="dk1"/>
              </a:solidFill>
              <a:latin typeface="Calibri"/>
              <a:ea typeface="Calibri"/>
              <a:cs typeface="Calibri"/>
              <a:sym typeface="Calibri"/>
            </a:endParaRPr>
          </a:p>
        </p:txBody>
      </p:sp>
      <p:sp>
        <p:nvSpPr>
          <p:cNvPr id="224" name="Google Shape;224;p8"/>
          <p:cNvSpPr txBox="1"/>
          <p:nvPr/>
        </p:nvSpPr>
        <p:spPr>
          <a:xfrm>
            <a:off x="731520" y="2615184"/>
            <a:ext cx="5760720" cy="530352"/>
          </a:xfrm>
          <a:prstGeom prst="rect">
            <a:avLst/>
          </a:prstGeom>
          <a:noFill/>
          <a:ln>
            <a:noFill/>
          </a:ln>
        </p:spPr>
        <p:txBody>
          <a:bodyPr anchorCtr="0" anchor="ctr" bIns="0" lIns="0" spcFirstLastPara="1" rIns="0" wrap="square" tIns="0">
            <a:noAutofit/>
          </a:bodyPr>
          <a:lstStyle/>
          <a:p>
            <a:pPr indent="0" lvl="0" marL="0" marR="0" rtl="1" algn="r">
              <a:lnSpc>
                <a:spcPct val="141666"/>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אין ולו 4625 אחד בכל 90 הימים. סגירה: לוגים של ספק ה-VPN ובדיקת דלף אישורים חיצוני</a:t>
            </a:r>
            <a:endParaRPr sz="1200">
              <a:solidFill>
                <a:schemeClr val="dk1"/>
              </a:solidFill>
              <a:latin typeface="Calibri"/>
              <a:ea typeface="Calibri"/>
              <a:cs typeface="Calibri"/>
              <a:sym typeface="Calibri"/>
            </a:endParaRPr>
          </a:p>
        </p:txBody>
      </p:sp>
      <p:sp>
        <p:nvSpPr>
          <p:cNvPr id="225" name="Google Shape;225;p8"/>
          <p:cNvSpPr/>
          <p:nvPr/>
        </p:nvSpPr>
        <p:spPr>
          <a:xfrm>
            <a:off x="640080" y="3227832"/>
            <a:ext cx="10881360" cy="621792"/>
          </a:xfrm>
          <a:prstGeom prst="rect">
            <a:avLst/>
          </a:prstGeom>
          <a:solidFill>
            <a:srgbClr val="1B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txBox="1"/>
          <p:nvPr/>
        </p:nvSpPr>
        <p:spPr>
          <a:xfrm>
            <a:off x="8503920" y="3273552"/>
            <a:ext cx="3017520" cy="530352"/>
          </a:xfrm>
          <a:prstGeom prst="rect">
            <a:avLst/>
          </a:prstGeom>
          <a:noFill/>
          <a:ln>
            <a:noFill/>
          </a:ln>
        </p:spPr>
        <p:txBody>
          <a:bodyPr anchorCtr="0" anchor="ctr" bIns="0" lIns="0" spcFirstLastPara="1" rIns="0" wrap="square" tIns="0">
            <a:noAutofit/>
          </a:bodyPr>
          <a:lstStyle/>
          <a:p>
            <a:pPr indent="0" lvl="0" marL="0" marR="0" rtl="1" algn="r">
              <a:lnSpc>
                <a:spcPct val="130769"/>
              </a:lnSpc>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מה ה-WebShell הוציא בפועל</a:t>
            </a:r>
            <a:endParaRPr sz="1300">
              <a:solidFill>
                <a:schemeClr val="dk1"/>
              </a:solidFill>
              <a:latin typeface="Calibri"/>
              <a:ea typeface="Calibri"/>
              <a:cs typeface="Calibri"/>
              <a:sym typeface="Calibri"/>
            </a:endParaRPr>
          </a:p>
        </p:txBody>
      </p:sp>
      <p:sp>
        <p:nvSpPr>
          <p:cNvPr id="227" name="Google Shape;227;p8"/>
          <p:cNvSpPr txBox="1"/>
          <p:nvPr/>
        </p:nvSpPr>
        <p:spPr>
          <a:xfrm>
            <a:off x="6583680" y="3273552"/>
            <a:ext cx="1828800" cy="53035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4572E"/>
              </a:buClr>
              <a:buSzPts val="1200"/>
              <a:buFont typeface="Arial"/>
              <a:buNone/>
            </a:pPr>
            <a:r>
              <a:rPr lang="en-US" sz="1200">
                <a:solidFill>
                  <a:srgbClr val="E4572E"/>
                </a:solidFill>
                <a:latin typeface="Arial"/>
                <a:ea typeface="Arial"/>
                <a:cs typeface="Arial"/>
                <a:sym typeface="Arial"/>
              </a:rPr>
              <a:t>אין מקור נתונים</a:t>
            </a:r>
            <a:endParaRPr sz="1200">
              <a:solidFill>
                <a:schemeClr val="dk1"/>
              </a:solidFill>
              <a:latin typeface="Calibri"/>
              <a:ea typeface="Calibri"/>
              <a:cs typeface="Calibri"/>
              <a:sym typeface="Calibri"/>
            </a:endParaRPr>
          </a:p>
        </p:txBody>
      </p:sp>
      <p:sp>
        <p:nvSpPr>
          <p:cNvPr id="228" name="Google Shape;228;p8"/>
          <p:cNvSpPr txBox="1"/>
          <p:nvPr/>
        </p:nvSpPr>
        <p:spPr>
          <a:xfrm>
            <a:off x="731520" y="3273552"/>
            <a:ext cx="5760720" cy="530352"/>
          </a:xfrm>
          <a:prstGeom prst="rect">
            <a:avLst/>
          </a:prstGeom>
          <a:noFill/>
          <a:ln>
            <a:noFill/>
          </a:ln>
        </p:spPr>
        <p:txBody>
          <a:bodyPr anchorCtr="0" anchor="ctr" bIns="0" lIns="0" spcFirstLastPara="1" rIns="0" wrap="square" tIns="0">
            <a:noAutofit/>
          </a:bodyPr>
          <a:lstStyle/>
          <a:p>
            <a:pPr indent="0" lvl="0" marL="0" marR="0" rtl="1" algn="r">
              <a:lnSpc>
                <a:spcPct val="141666"/>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POST אחד ו-11 משיכות tmp/session. סגירה: בדיקת WEB-PORTAL על המכונה עצמה</a:t>
            </a:r>
            <a:endParaRPr sz="1200">
              <a:solidFill>
                <a:schemeClr val="dk1"/>
              </a:solidFill>
              <a:latin typeface="Calibri"/>
              <a:ea typeface="Calibri"/>
              <a:cs typeface="Calibri"/>
              <a:sym typeface="Calibri"/>
            </a:endParaRPr>
          </a:p>
        </p:txBody>
      </p:sp>
      <p:sp>
        <p:nvSpPr>
          <p:cNvPr id="229" name="Google Shape;229;p8"/>
          <p:cNvSpPr txBox="1"/>
          <p:nvPr/>
        </p:nvSpPr>
        <p:spPr>
          <a:xfrm>
            <a:off x="8503920" y="3931920"/>
            <a:ext cx="3017520" cy="530352"/>
          </a:xfrm>
          <a:prstGeom prst="rect">
            <a:avLst/>
          </a:prstGeom>
          <a:noFill/>
          <a:ln>
            <a:noFill/>
          </a:ln>
        </p:spPr>
        <p:txBody>
          <a:bodyPr anchorCtr="0" anchor="ctr" bIns="0" lIns="0" spcFirstLastPara="1" rIns="0" wrap="square" tIns="0">
            <a:noAutofit/>
          </a:bodyPr>
          <a:lstStyle/>
          <a:p>
            <a:pPr indent="0" lvl="0" marL="0" marR="0" rtl="1" algn="r">
              <a:lnSpc>
                <a:spcPct val="130769"/>
              </a:lnSpc>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אילו קבצים דלפו</a:t>
            </a:r>
            <a:endParaRPr sz="1300">
              <a:solidFill>
                <a:schemeClr val="dk1"/>
              </a:solidFill>
              <a:latin typeface="Calibri"/>
              <a:ea typeface="Calibri"/>
              <a:cs typeface="Calibri"/>
              <a:sym typeface="Calibri"/>
            </a:endParaRPr>
          </a:p>
        </p:txBody>
      </p:sp>
      <p:sp>
        <p:nvSpPr>
          <p:cNvPr id="230" name="Google Shape;230;p8"/>
          <p:cNvSpPr txBox="1"/>
          <p:nvPr/>
        </p:nvSpPr>
        <p:spPr>
          <a:xfrm>
            <a:off x="6583680" y="3931920"/>
            <a:ext cx="1828800" cy="53035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4572E"/>
              </a:buClr>
              <a:buSzPts val="1200"/>
              <a:buFont typeface="Arial"/>
              <a:buNone/>
            </a:pPr>
            <a:r>
              <a:rPr lang="en-US" sz="1200">
                <a:solidFill>
                  <a:srgbClr val="E4572E"/>
                </a:solidFill>
                <a:latin typeface="Arial"/>
                <a:ea typeface="Arial"/>
                <a:cs typeface="Arial"/>
                <a:sym typeface="Arial"/>
              </a:rPr>
              <a:t>אין מקור נתונים</a:t>
            </a:r>
            <a:endParaRPr sz="1200">
              <a:solidFill>
                <a:schemeClr val="dk1"/>
              </a:solidFill>
              <a:latin typeface="Calibri"/>
              <a:ea typeface="Calibri"/>
              <a:cs typeface="Calibri"/>
              <a:sym typeface="Calibri"/>
            </a:endParaRPr>
          </a:p>
        </p:txBody>
      </p:sp>
      <p:sp>
        <p:nvSpPr>
          <p:cNvPr id="231" name="Google Shape;231;p8"/>
          <p:cNvSpPr txBox="1"/>
          <p:nvPr/>
        </p:nvSpPr>
        <p:spPr>
          <a:xfrm>
            <a:off x="731520" y="3931920"/>
            <a:ext cx="5760720" cy="530352"/>
          </a:xfrm>
          <a:prstGeom prst="rect">
            <a:avLst/>
          </a:prstGeom>
          <a:noFill/>
          <a:ln>
            <a:noFill/>
          </a:ln>
        </p:spPr>
        <p:txBody>
          <a:bodyPr anchorCtr="0" anchor="ctr" bIns="0" lIns="0" spcFirstLastPara="1" rIns="0" wrap="square" tIns="0">
            <a:noAutofit/>
          </a:bodyPr>
          <a:lstStyle/>
          <a:p>
            <a:pPr indent="0" lvl="0" marL="0" marR="0" rtl="1" algn="r">
              <a:lnSpc>
                <a:spcPct val="141666"/>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לוג הענן שומר שמות ארכיון וגודל, לא תוכן. סגירה: הצלבה מול ספק הענן</a:t>
            </a:r>
            <a:endParaRPr sz="1200">
              <a:solidFill>
                <a:schemeClr val="dk1"/>
              </a:solidFill>
              <a:latin typeface="Calibri"/>
              <a:ea typeface="Calibri"/>
              <a:cs typeface="Calibri"/>
              <a:sym typeface="Calibri"/>
            </a:endParaRPr>
          </a:p>
        </p:txBody>
      </p:sp>
      <p:sp>
        <p:nvSpPr>
          <p:cNvPr id="232" name="Google Shape;232;p8"/>
          <p:cNvSpPr/>
          <p:nvPr/>
        </p:nvSpPr>
        <p:spPr>
          <a:xfrm>
            <a:off x="640080" y="4544568"/>
            <a:ext cx="10881360" cy="621792"/>
          </a:xfrm>
          <a:prstGeom prst="rect">
            <a:avLst/>
          </a:prstGeom>
          <a:solidFill>
            <a:srgbClr val="1B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txBox="1"/>
          <p:nvPr/>
        </p:nvSpPr>
        <p:spPr>
          <a:xfrm>
            <a:off x="8503920" y="4590288"/>
            <a:ext cx="3017520" cy="530352"/>
          </a:xfrm>
          <a:prstGeom prst="rect">
            <a:avLst/>
          </a:prstGeom>
          <a:noFill/>
          <a:ln>
            <a:noFill/>
          </a:ln>
        </p:spPr>
        <p:txBody>
          <a:bodyPr anchorCtr="0" anchor="ctr" bIns="0" lIns="0" spcFirstLastPara="1" rIns="0" wrap="square" tIns="0">
            <a:noAutofit/>
          </a:bodyPr>
          <a:lstStyle/>
          <a:p>
            <a:pPr indent="0" lvl="0" marL="0" marR="0" rtl="1" algn="r">
              <a:lnSpc>
                <a:spcPct val="130769"/>
              </a:lnSpc>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מה עברה התעבורה היוצאת</a:t>
            </a:r>
            <a:endParaRPr sz="1300">
              <a:solidFill>
                <a:schemeClr val="dk1"/>
              </a:solidFill>
              <a:latin typeface="Calibri"/>
              <a:ea typeface="Calibri"/>
              <a:cs typeface="Calibri"/>
              <a:sym typeface="Calibri"/>
            </a:endParaRPr>
          </a:p>
        </p:txBody>
      </p:sp>
      <p:sp>
        <p:nvSpPr>
          <p:cNvPr id="234" name="Google Shape;234;p8"/>
          <p:cNvSpPr txBox="1"/>
          <p:nvPr/>
        </p:nvSpPr>
        <p:spPr>
          <a:xfrm>
            <a:off x="6583680" y="4590288"/>
            <a:ext cx="1828800" cy="53035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4572E"/>
              </a:buClr>
              <a:buSzPts val="1200"/>
              <a:buFont typeface="Arial"/>
              <a:buNone/>
            </a:pPr>
            <a:r>
              <a:rPr lang="en-US" sz="1200">
                <a:solidFill>
                  <a:srgbClr val="E4572E"/>
                </a:solidFill>
                <a:latin typeface="Arial"/>
                <a:ea typeface="Arial"/>
                <a:cs typeface="Arial"/>
                <a:sym typeface="Arial"/>
              </a:rPr>
              <a:t>אין מקור נתונים</a:t>
            </a:r>
            <a:endParaRPr sz="1200">
              <a:solidFill>
                <a:schemeClr val="dk1"/>
              </a:solidFill>
              <a:latin typeface="Calibri"/>
              <a:ea typeface="Calibri"/>
              <a:cs typeface="Calibri"/>
              <a:sym typeface="Calibri"/>
            </a:endParaRPr>
          </a:p>
        </p:txBody>
      </p:sp>
      <p:sp>
        <p:nvSpPr>
          <p:cNvPr id="235" name="Google Shape;235;p8"/>
          <p:cNvSpPr txBox="1"/>
          <p:nvPr/>
        </p:nvSpPr>
        <p:spPr>
          <a:xfrm>
            <a:off x="731520" y="4590288"/>
            <a:ext cx="5760720" cy="530352"/>
          </a:xfrm>
          <a:prstGeom prst="rect">
            <a:avLst/>
          </a:prstGeom>
          <a:noFill/>
          <a:ln>
            <a:noFill/>
          </a:ln>
        </p:spPr>
        <p:txBody>
          <a:bodyPr anchorCtr="0" anchor="ctr" bIns="0" lIns="0" spcFirstLastPara="1" rIns="0" wrap="square" tIns="0">
            <a:noAutofit/>
          </a:bodyPr>
          <a:lstStyle/>
          <a:p>
            <a:pPr indent="0" lvl="0" marL="0" marR="0" rtl="1" algn="r">
              <a:lnSpc>
                <a:spcPct val="141666"/>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לוג ה-proxy נעצר שמונה שעות לפני הכניסה ו-WKS-OPS-03 אינו מופיע בו כלל. סגירה: לוגים של חומת האש</a:t>
            </a:r>
            <a:endParaRPr sz="1200">
              <a:solidFill>
                <a:schemeClr val="dk1"/>
              </a:solidFill>
              <a:latin typeface="Calibri"/>
              <a:ea typeface="Calibri"/>
              <a:cs typeface="Calibri"/>
              <a:sym typeface="Calibri"/>
            </a:endParaRPr>
          </a:p>
        </p:txBody>
      </p:sp>
      <p:sp>
        <p:nvSpPr>
          <p:cNvPr id="236" name="Google Shape;236;p8"/>
          <p:cNvSpPr txBox="1"/>
          <p:nvPr/>
        </p:nvSpPr>
        <p:spPr>
          <a:xfrm>
            <a:off x="8503920" y="5248656"/>
            <a:ext cx="3017520" cy="530352"/>
          </a:xfrm>
          <a:prstGeom prst="rect">
            <a:avLst/>
          </a:prstGeom>
          <a:noFill/>
          <a:ln>
            <a:noFill/>
          </a:ln>
        </p:spPr>
        <p:txBody>
          <a:bodyPr anchorCtr="0" anchor="ctr" bIns="0" lIns="0" spcFirstLastPara="1" rIns="0" wrap="square" tIns="0">
            <a:noAutofit/>
          </a:bodyPr>
          <a:lstStyle/>
          <a:p>
            <a:pPr indent="0" lvl="0" marL="0" marR="0" rtl="1" algn="r">
              <a:lnSpc>
                <a:spcPct val="130769"/>
              </a:lnSpc>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מה הורץ על השרתים</a:t>
            </a:r>
            <a:endParaRPr sz="1300">
              <a:solidFill>
                <a:schemeClr val="dk1"/>
              </a:solidFill>
              <a:latin typeface="Calibri"/>
              <a:ea typeface="Calibri"/>
              <a:cs typeface="Calibri"/>
              <a:sym typeface="Calibri"/>
            </a:endParaRPr>
          </a:p>
        </p:txBody>
      </p:sp>
      <p:sp>
        <p:nvSpPr>
          <p:cNvPr id="237" name="Google Shape;237;p8"/>
          <p:cNvSpPr txBox="1"/>
          <p:nvPr/>
        </p:nvSpPr>
        <p:spPr>
          <a:xfrm>
            <a:off x="6583680" y="5248656"/>
            <a:ext cx="1828800" cy="530352"/>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4572E"/>
              </a:buClr>
              <a:buSzPts val="1200"/>
              <a:buFont typeface="Arial"/>
              <a:buNone/>
            </a:pPr>
            <a:r>
              <a:rPr lang="en-US" sz="1200">
                <a:solidFill>
                  <a:srgbClr val="E4572E"/>
                </a:solidFill>
                <a:latin typeface="Arial"/>
                <a:ea typeface="Arial"/>
                <a:cs typeface="Arial"/>
                <a:sym typeface="Arial"/>
              </a:rPr>
              <a:t>אין מקור נתונים</a:t>
            </a:r>
            <a:endParaRPr sz="1200">
              <a:solidFill>
                <a:schemeClr val="dk1"/>
              </a:solidFill>
              <a:latin typeface="Calibri"/>
              <a:ea typeface="Calibri"/>
              <a:cs typeface="Calibri"/>
              <a:sym typeface="Calibri"/>
            </a:endParaRPr>
          </a:p>
        </p:txBody>
      </p:sp>
      <p:sp>
        <p:nvSpPr>
          <p:cNvPr id="238" name="Google Shape;238;p8"/>
          <p:cNvSpPr txBox="1"/>
          <p:nvPr/>
        </p:nvSpPr>
        <p:spPr>
          <a:xfrm>
            <a:off x="731520" y="5248656"/>
            <a:ext cx="5760720" cy="530352"/>
          </a:xfrm>
          <a:prstGeom prst="rect">
            <a:avLst/>
          </a:prstGeom>
          <a:noFill/>
          <a:ln>
            <a:noFill/>
          </a:ln>
        </p:spPr>
        <p:txBody>
          <a:bodyPr anchorCtr="0" anchor="ctr" bIns="0" lIns="0" spcFirstLastPara="1" rIns="0" wrap="square" tIns="0">
            <a:noAutofit/>
          </a:bodyPr>
          <a:lstStyle/>
          <a:p>
            <a:pPr indent="0" lvl="0" marL="0" marR="0" rtl="1" algn="r">
              <a:lnSpc>
                <a:spcPct val="141666"/>
              </a:lnSpc>
              <a:spcBef>
                <a:spcPts val="0"/>
              </a:spcBef>
              <a:spcAft>
                <a:spcPts val="0"/>
              </a:spcAft>
              <a:buClr>
                <a:srgbClr val="D9CFC0"/>
              </a:buClr>
              <a:buSzPts val="1200"/>
              <a:buFont typeface="Arial"/>
              <a:buNone/>
            </a:pPr>
            <a:r>
              <a:rPr lang="en-US" sz="1200">
                <a:solidFill>
                  <a:srgbClr val="D9CFC0"/>
                </a:solidFill>
                <a:latin typeface="Arial"/>
                <a:ea typeface="Arial"/>
                <a:cs typeface="Arial"/>
                <a:sym typeface="Arial"/>
              </a:rPr>
              <a:t>רישום שורות פקודה מופעל בעמדות בלבד. סגירה: הפעלה על השרתים</a:t>
            </a:r>
            <a:endParaRPr sz="1200">
              <a:solidFill>
                <a:schemeClr val="dk1"/>
              </a:solidFill>
              <a:latin typeface="Calibri"/>
              <a:ea typeface="Calibri"/>
              <a:cs typeface="Calibri"/>
              <a:sym typeface="Calibri"/>
            </a:endParaRPr>
          </a:p>
        </p:txBody>
      </p:sp>
      <p:sp>
        <p:nvSpPr>
          <p:cNvPr id="239" name="Google Shape;239;p8"/>
          <p:cNvSpPr txBox="1"/>
          <p:nvPr/>
        </p:nvSpPr>
        <p:spPr>
          <a:xfrm>
            <a:off x="640080" y="6053328"/>
            <a:ext cx="10881360" cy="36576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200"/>
              <a:buFont typeface="Arial"/>
              <a:buNone/>
            </a:pPr>
            <a:r>
              <a:t/>
            </a:r>
            <a:endParaRPr b="1"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30F"/>
        </a:solidFill>
      </p:bgPr>
    </p:bg>
    <p:spTree>
      <p:nvGrpSpPr>
        <p:cNvPr id="244" name="Shape 244"/>
        <p:cNvGrpSpPr/>
        <p:nvPr/>
      </p:nvGrpSpPr>
      <p:grpSpPr>
        <a:xfrm>
          <a:off x="0" y="0"/>
          <a:ext cx="0" cy="0"/>
          <a:chOff x="0" y="0"/>
          <a:chExt cx="0" cy="0"/>
        </a:xfrm>
      </p:grpSpPr>
      <p:sp>
        <p:nvSpPr>
          <p:cNvPr id="245" name="Google Shape;245;p7"/>
          <p:cNvSpPr/>
          <p:nvPr/>
        </p:nvSpPr>
        <p:spPr>
          <a:xfrm>
            <a:off x="0" y="0"/>
            <a:ext cx="12161520" cy="54864"/>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7"/>
          <p:cNvSpPr txBox="1"/>
          <p:nvPr/>
        </p:nvSpPr>
        <p:spPr>
          <a:xfrm>
            <a:off x="365760" y="29260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rPr>
              <a:t>08</a:t>
            </a:r>
            <a:endParaRPr sz="3000">
              <a:solidFill>
                <a:schemeClr val="dk1"/>
              </a:solidFill>
              <a:latin typeface="Calibri"/>
              <a:ea typeface="Calibri"/>
              <a:cs typeface="Calibri"/>
              <a:sym typeface="Calibri"/>
            </a:endParaRPr>
          </a:p>
        </p:txBody>
      </p:sp>
      <p:sp>
        <p:nvSpPr>
          <p:cNvPr id="247" name="Google Shape;247;p7"/>
          <p:cNvSpPr txBox="1"/>
          <p:nvPr/>
        </p:nvSpPr>
        <p:spPr>
          <a:xfrm>
            <a:off x="1097280" y="310896"/>
            <a:ext cx="10698480" cy="47548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2700"/>
              <a:buFont typeface="Arial"/>
              <a:buNone/>
            </a:pPr>
            <a:r>
              <a:rPr b="1" lang="en-US" sz="2700">
                <a:solidFill>
                  <a:srgbClr val="E4572E"/>
                </a:solidFill>
                <a:latin typeface="Arial"/>
                <a:ea typeface="Arial"/>
                <a:cs typeface="Arial"/>
                <a:sym typeface="Arial"/>
              </a:rPr>
              <a:t>היקף והשפעה</a:t>
            </a:r>
            <a:endParaRPr sz="2700">
              <a:solidFill>
                <a:schemeClr val="dk1"/>
              </a:solidFill>
              <a:latin typeface="Calibri"/>
              <a:ea typeface="Calibri"/>
              <a:cs typeface="Calibri"/>
              <a:sym typeface="Calibri"/>
            </a:endParaRPr>
          </a:p>
        </p:txBody>
      </p:sp>
      <p:sp>
        <p:nvSpPr>
          <p:cNvPr id="248" name="Google Shape;248;p7"/>
          <p:cNvSpPr txBox="1"/>
          <p:nvPr/>
        </p:nvSpPr>
        <p:spPr>
          <a:xfrm>
            <a:off x="1097280" y="804672"/>
            <a:ext cx="10698480"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500"/>
              <a:buFont typeface="Arial"/>
              <a:buNone/>
            </a:pPr>
            <a:r>
              <a:rPr lang="en-US" sz="1500">
                <a:solidFill>
                  <a:srgbClr val="A69A8A"/>
                </a:solidFill>
                <a:latin typeface="Arial"/>
                <a:ea typeface="Arial"/>
                <a:cs typeface="Arial"/>
                <a:sym typeface="Arial"/>
              </a:rPr>
              <a:t>מה נפגע</a:t>
            </a:r>
            <a:r>
              <a:rPr lang="en-US" sz="1500">
                <a:solidFill>
                  <a:srgbClr val="A69A8A"/>
                </a:solidFill>
              </a:rPr>
              <a:t>?</a:t>
            </a:r>
            <a:endParaRPr sz="1500">
              <a:solidFill>
                <a:schemeClr val="dk1"/>
              </a:solidFill>
              <a:latin typeface="Calibri"/>
              <a:ea typeface="Calibri"/>
              <a:cs typeface="Calibri"/>
              <a:sym typeface="Calibri"/>
            </a:endParaRPr>
          </a:p>
        </p:txBody>
      </p:sp>
      <p:cxnSp>
        <p:nvCxnSpPr>
          <p:cNvPr id="249" name="Google Shape;249;p7"/>
          <p:cNvCxnSpPr/>
          <p:nvPr/>
        </p:nvCxnSpPr>
        <p:spPr>
          <a:xfrm>
            <a:off x="548640" y="1207008"/>
            <a:ext cx="11064240" cy="0"/>
          </a:xfrm>
          <a:prstGeom prst="straightConnector1">
            <a:avLst/>
          </a:prstGeom>
          <a:noFill/>
          <a:ln cap="flat" cmpd="sng" w="12700">
            <a:solidFill>
              <a:srgbClr val="2C2620"/>
            </a:solidFill>
            <a:prstDash val="solid"/>
            <a:round/>
            <a:headEnd len="sm" w="sm" type="none"/>
            <a:tailEnd len="sm" w="sm" type="none"/>
          </a:ln>
        </p:spPr>
      </p:cxnSp>
      <p:sp>
        <p:nvSpPr>
          <p:cNvPr id="250" name="Google Shape;250;p7"/>
          <p:cNvSpPr/>
          <p:nvPr/>
        </p:nvSpPr>
        <p:spPr>
          <a:xfrm>
            <a:off x="1097275" y="1554475"/>
            <a:ext cx="10424100" cy="4297800"/>
          </a:xfrm>
          <a:prstGeom prst="roundRect">
            <a:avLst>
              <a:gd fmla="val 889" name="adj"/>
            </a:avLst>
          </a:prstGeom>
          <a:solidFill>
            <a:srgbClr val="1E1912"/>
          </a:solidFill>
          <a:ln cap="flat" cmpd="sng" w="17775">
            <a:solidFill>
              <a:srgbClr val="E45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7"/>
          <p:cNvSpPr/>
          <p:nvPr/>
        </p:nvSpPr>
        <p:spPr>
          <a:xfrm>
            <a:off x="6263640" y="1554480"/>
            <a:ext cx="5257800" cy="50292"/>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txBox="1"/>
          <p:nvPr/>
        </p:nvSpPr>
        <p:spPr>
          <a:xfrm>
            <a:off x="6428232" y="1719072"/>
            <a:ext cx="4928616"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1500"/>
              <a:buFont typeface="Arial"/>
              <a:buNone/>
            </a:pPr>
            <a:r>
              <a:rPr b="1" lang="en-US" sz="1500">
                <a:solidFill>
                  <a:srgbClr val="E4572E"/>
                </a:solidFill>
                <a:latin typeface="Arial"/>
                <a:ea typeface="Arial"/>
                <a:cs typeface="Arial"/>
                <a:sym typeface="Arial"/>
              </a:rPr>
              <a:t>CONFIRMED</a:t>
            </a:r>
            <a:endParaRPr sz="1500">
              <a:solidFill>
                <a:schemeClr val="dk1"/>
              </a:solidFill>
              <a:latin typeface="Calibri"/>
              <a:ea typeface="Calibri"/>
              <a:cs typeface="Calibri"/>
              <a:sym typeface="Calibri"/>
            </a:endParaRPr>
          </a:p>
        </p:txBody>
      </p:sp>
      <p:sp>
        <p:nvSpPr>
          <p:cNvPr id="253" name="Google Shape;253;p7"/>
          <p:cNvSpPr txBox="1"/>
          <p:nvPr/>
        </p:nvSpPr>
        <p:spPr>
          <a:xfrm>
            <a:off x="2466450" y="2121400"/>
            <a:ext cx="8728200" cy="3383400"/>
          </a:xfrm>
          <a:prstGeom prst="rect">
            <a:avLst/>
          </a:prstGeom>
          <a:noFill/>
          <a:ln>
            <a:noFill/>
          </a:ln>
        </p:spPr>
        <p:txBody>
          <a:bodyPr anchorCtr="0" anchor="ctr" bIns="45700" lIns="91425" spcFirstLastPara="1" rIns="91425" wrap="square" tIns="45700">
            <a:noAutofit/>
          </a:bodyPr>
          <a:lstStyle/>
          <a:p>
            <a:pPr indent="-342900" lvl="0" marL="342900" marR="0" rtl="1" algn="r">
              <a:lnSpc>
                <a:spcPct val="146153"/>
              </a:lnSpc>
              <a:spcBef>
                <a:spcPts val="0"/>
              </a:spcBef>
              <a:spcAft>
                <a:spcPts val="0"/>
              </a:spcAft>
              <a:buClr>
                <a:srgbClr val="EDE7DD"/>
              </a:buClr>
              <a:buSzPts val="1300"/>
              <a:buFont typeface="Arial"/>
              <a:buChar char="•"/>
            </a:pPr>
            <a:r>
              <a:rPr lang="en-US" sz="1300">
                <a:solidFill>
                  <a:srgbClr val="EDE7DD"/>
                </a:solidFill>
                <a:latin typeface="Arial"/>
                <a:ea typeface="Arial"/>
                <a:cs typeface="Arial"/>
                <a:sym typeface="Arial"/>
              </a:rPr>
              <a:t>9,412 קבצים הוצפנו על SRV-BILLING בין 06:12 ל-06:38</a:t>
            </a:r>
            <a:endParaRPr/>
          </a:p>
          <a:p>
            <a:pPr indent="-342900" lvl="0" marL="342900" marR="0" rtl="1" algn="r">
              <a:lnSpc>
                <a:spcPct val="146153"/>
              </a:lnSpc>
              <a:spcBef>
                <a:spcPts val="700"/>
              </a:spcBef>
              <a:spcAft>
                <a:spcPts val="0"/>
              </a:spcAft>
              <a:buClr>
                <a:srgbClr val="EDE7DD"/>
              </a:buClr>
              <a:buSzPts val="1300"/>
              <a:buFont typeface="Arial"/>
              <a:buChar char="•"/>
            </a:pPr>
            <a:r>
              <a:rPr lang="en-US" sz="1300">
                <a:solidFill>
                  <a:srgbClr val="EDE7DD"/>
                </a:solidFill>
                <a:latin typeface="Arial"/>
                <a:ea typeface="Arial"/>
                <a:cs typeface="Arial"/>
                <a:sym typeface="Arial"/>
              </a:rPr>
              <a:t>840 קבצים בהיקף 3.20GB נקראו מ-SRV-FS-01</a:t>
            </a:r>
            <a:endParaRPr/>
          </a:p>
          <a:p>
            <a:pPr indent="-342900" lvl="0" marL="342900" marR="0" rtl="1" algn="r">
              <a:lnSpc>
                <a:spcPct val="146153"/>
              </a:lnSpc>
              <a:spcBef>
                <a:spcPts val="700"/>
              </a:spcBef>
              <a:spcAft>
                <a:spcPts val="0"/>
              </a:spcAft>
              <a:buClr>
                <a:srgbClr val="EDE7DD"/>
              </a:buClr>
              <a:buSzPts val="1300"/>
              <a:buFont typeface="Arial"/>
              <a:buChar char="•"/>
            </a:pPr>
            <a:r>
              <a:rPr lang="en-US" sz="1300">
                <a:solidFill>
                  <a:srgbClr val="EDE7DD"/>
                </a:solidFill>
                <a:latin typeface="Arial"/>
                <a:ea typeface="Arial"/>
                <a:cs typeface="Arial"/>
                <a:sym typeface="Arial"/>
              </a:rPr>
              <a:t>1.32GB הועלו לענן בארבעה ארכיוני 7z</a:t>
            </a:r>
            <a:endParaRPr/>
          </a:p>
          <a:p>
            <a:pPr indent="-342900" lvl="0" marL="342900" marR="0" rtl="1" algn="r">
              <a:lnSpc>
                <a:spcPct val="146153"/>
              </a:lnSpc>
              <a:spcBef>
                <a:spcPts val="700"/>
              </a:spcBef>
              <a:spcAft>
                <a:spcPts val="0"/>
              </a:spcAft>
              <a:buClr>
                <a:srgbClr val="EDE7DD"/>
              </a:buClr>
              <a:buSzPts val="1300"/>
              <a:buFont typeface="Arial"/>
              <a:buChar char="•"/>
            </a:pPr>
            <a:r>
              <a:rPr lang="en-US" sz="1300">
                <a:solidFill>
                  <a:srgbClr val="EDE7DD"/>
                </a:solidFill>
                <a:latin typeface="Arial"/>
                <a:ea typeface="Arial"/>
                <a:cs typeface="Arial"/>
                <a:sym typeface="Arial"/>
              </a:rPr>
              <a:t>קישור שיתוף פתוח ללא תפוגה נוצר ב-04:48</a:t>
            </a:r>
            <a:endParaRPr/>
          </a:p>
          <a:p>
            <a:pPr indent="-342900" lvl="0" marL="342900" marR="0" rtl="1" algn="r">
              <a:lnSpc>
                <a:spcPct val="146153"/>
              </a:lnSpc>
              <a:spcBef>
                <a:spcPts val="700"/>
              </a:spcBef>
              <a:spcAft>
                <a:spcPts val="0"/>
              </a:spcAft>
              <a:buClr>
                <a:srgbClr val="EDE7DD"/>
              </a:buClr>
              <a:buSzPts val="1300"/>
              <a:buFont typeface="Arial"/>
              <a:buChar char="•"/>
            </a:pPr>
            <a:r>
              <a:rPr lang="en-US" sz="1300">
                <a:solidFill>
                  <a:srgbClr val="EDE7DD"/>
                </a:solidFill>
                <a:latin typeface="Arial"/>
                <a:ea typeface="Arial"/>
                <a:cs typeface="Arial"/>
                <a:sym typeface="Arial"/>
              </a:rPr>
              <a:t>עבודת גיבוי סומנה DELETED בידי חשבון משתמש</a:t>
            </a:r>
            <a:endParaRPr/>
          </a:p>
          <a:p>
            <a:pPr indent="-342900" lvl="0" marL="342900" marR="0" rtl="1" algn="r">
              <a:lnSpc>
                <a:spcPct val="146153"/>
              </a:lnSpc>
              <a:spcBef>
                <a:spcPts val="700"/>
              </a:spcBef>
              <a:spcAft>
                <a:spcPts val="0"/>
              </a:spcAft>
              <a:buClr>
                <a:srgbClr val="EDE7DD"/>
              </a:buClr>
              <a:buSzPts val="1300"/>
              <a:buFont typeface="Arial"/>
              <a:buChar char="•"/>
            </a:pPr>
            <a:r>
              <a:rPr lang="en-US" sz="1300">
                <a:solidFill>
                  <a:srgbClr val="EDE7DD"/>
                </a:solidFill>
              </a:rPr>
              <a:t>נגעו ב</a:t>
            </a:r>
            <a:r>
              <a:rPr lang="en-US" sz="1300">
                <a:solidFill>
                  <a:srgbClr val="EDE7DD"/>
                </a:solidFill>
                <a:latin typeface="Arial"/>
                <a:ea typeface="Arial"/>
                <a:cs typeface="Arial"/>
                <a:sym typeface="Arial"/>
              </a:rPr>
              <a:t>ארבעה מתוך חמישה נכסי crown-jewel</a:t>
            </a:r>
            <a:endParaRPr/>
          </a:p>
          <a:p>
            <a:pPr indent="-342900" lvl="0" marL="342900" marR="0" rtl="1" algn="r">
              <a:lnSpc>
                <a:spcPct val="146153"/>
              </a:lnSpc>
              <a:spcBef>
                <a:spcPts val="700"/>
              </a:spcBef>
              <a:spcAft>
                <a:spcPts val="0"/>
              </a:spcAft>
              <a:buClr>
                <a:srgbClr val="EDE7DD"/>
              </a:buClr>
              <a:buSzPts val="1300"/>
              <a:buFont typeface="Arial"/>
              <a:buChar char="•"/>
            </a:pPr>
            <a:r>
              <a:rPr lang="en-US" sz="1300">
                <a:solidFill>
                  <a:srgbClr val="EDE7DD"/>
                </a:solidFill>
                <a:latin typeface="Arial"/>
                <a:ea typeface="Arial"/>
                <a:cs typeface="Arial"/>
                <a:sym typeface="Arial"/>
              </a:rPr>
              <a:t>שני חשבונות נוצלו, עמדה אחת שימשה כבסיס</a:t>
            </a:r>
            <a:endParaRPr/>
          </a:p>
          <a:p>
            <a:pPr indent="-342900" lvl="0" marL="342900" marR="0" rtl="1" algn="r">
              <a:lnSpc>
                <a:spcPct val="146153"/>
              </a:lnSpc>
              <a:spcBef>
                <a:spcPts val="700"/>
              </a:spcBef>
              <a:spcAft>
                <a:spcPts val="0"/>
              </a:spcAft>
              <a:buClr>
                <a:srgbClr val="EDE7DD"/>
              </a:buClr>
              <a:buSzPts val="1300"/>
              <a:buFont typeface="Arial"/>
              <a:buChar char="•"/>
            </a:pPr>
            <a:r>
              <a:rPr lang="en-US" sz="1300">
                <a:solidFill>
                  <a:srgbClr val="EDE7DD"/>
                </a:solidFill>
                <a:latin typeface="Arial"/>
                <a:ea typeface="Arial"/>
                <a:cs typeface="Arial"/>
                <a:sym typeface="Arial"/>
              </a:rPr>
              <a:t>הפורטל מחזיר 503 מ-07:04 ועד סוף הנתונים</a:t>
            </a:r>
            <a:endParaRPr sz="1300">
              <a:solidFill>
                <a:schemeClr val="dk1"/>
              </a:solidFill>
              <a:latin typeface="Calibri"/>
              <a:ea typeface="Calibri"/>
              <a:cs typeface="Calibri"/>
              <a:sym typeface="Calibri"/>
            </a:endParaRPr>
          </a:p>
        </p:txBody>
      </p:sp>
      <p:sp>
        <p:nvSpPr>
          <p:cNvPr id="254" name="Google Shape;254;p7"/>
          <p:cNvSpPr txBox="1"/>
          <p:nvPr/>
        </p:nvSpPr>
        <p:spPr>
          <a:xfrm>
            <a:off x="640080" y="5852160"/>
            <a:ext cx="10881360" cy="36576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30F"/>
        </a:solidFill>
      </p:bgPr>
    </p:bg>
    <p:spTree>
      <p:nvGrpSpPr>
        <p:cNvPr id="259" name="Shape 259"/>
        <p:cNvGrpSpPr/>
        <p:nvPr/>
      </p:nvGrpSpPr>
      <p:grpSpPr>
        <a:xfrm>
          <a:off x="0" y="0"/>
          <a:ext cx="0" cy="0"/>
          <a:chOff x="0" y="0"/>
          <a:chExt cx="0" cy="0"/>
        </a:xfrm>
      </p:grpSpPr>
      <p:sp>
        <p:nvSpPr>
          <p:cNvPr id="260" name="Google Shape;260;p9"/>
          <p:cNvSpPr/>
          <p:nvPr/>
        </p:nvSpPr>
        <p:spPr>
          <a:xfrm>
            <a:off x="0" y="0"/>
            <a:ext cx="12161520" cy="54864"/>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txBox="1"/>
          <p:nvPr/>
        </p:nvSpPr>
        <p:spPr>
          <a:xfrm>
            <a:off x="365760" y="29260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latin typeface="Arial"/>
                <a:ea typeface="Arial"/>
                <a:cs typeface="Arial"/>
                <a:sym typeface="Arial"/>
              </a:rPr>
              <a:t>09</a:t>
            </a:r>
            <a:endParaRPr sz="3000">
              <a:solidFill>
                <a:schemeClr val="dk1"/>
              </a:solidFill>
              <a:latin typeface="Calibri"/>
              <a:ea typeface="Calibri"/>
              <a:cs typeface="Calibri"/>
              <a:sym typeface="Calibri"/>
            </a:endParaRPr>
          </a:p>
        </p:txBody>
      </p:sp>
      <p:sp>
        <p:nvSpPr>
          <p:cNvPr id="262" name="Google Shape;262;p9"/>
          <p:cNvSpPr txBox="1"/>
          <p:nvPr/>
        </p:nvSpPr>
        <p:spPr>
          <a:xfrm>
            <a:off x="1097280" y="310896"/>
            <a:ext cx="10698480" cy="47548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2700"/>
              <a:buFont typeface="Arial"/>
              <a:buNone/>
            </a:pPr>
            <a:r>
              <a:rPr b="1" lang="en-US" sz="2700">
                <a:solidFill>
                  <a:srgbClr val="E4572E"/>
                </a:solidFill>
                <a:latin typeface="Arial"/>
                <a:ea typeface="Arial"/>
                <a:cs typeface="Arial"/>
                <a:sym typeface="Arial"/>
              </a:rPr>
              <a:t>MITRE ATT&amp;CK ופערי גילוי</a:t>
            </a:r>
            <a:endParaRPr sz="2700">
              <a:solidFill>
                <a:schemeClr val="dk1"/>
              </a:solidFill>
              <a:latin typeface="Calibri"/>
              <a:ea typeface="Calibri"/>
              <a:cs typeface="Calibri"/>
              <a:sym typeface="Calibri"/>
            </a:endParaRPr>
          </a:p>
        </p:txBody>
      </p:sp>
      <p:sp>
        <p:nvSpPr>
          <p:cNvPr id="263" name="Google Shape;263;p9"/>
          <p:cNvSpPr txBox="1"/>
          <p:nvPr/>
        </p:nvSpPr>
        <p:spPr>
          <a:xfrm>
            <a:off x="1097280" y="804672"/>
            <a:ext cx="10698480"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500"/>
              <a:buFont typeface="Arial"/>
              <a:buNone/>
            </a:pPr>
            <a:r>
              <a:rPr lang="en-US" sz="1500">
                <a:solidFill>
                  <a:srgbClr val="A69A8A"/>
                </a:solidFill>
                <a:latin typeface="Arial"/>
                <a:ea typeface="Arial"/>
                <a:cs typeface="Arial"/>
                <a:sym typeface="Arial"/>
              </a:rPr>
              <a:t>אילו שלבים לא ייצרו שום התראה</a:t>
            </a:r>
            <a:endParaRPr sz="1500">
              <a:solidFill>
                <a:schemeClr val="dk1"/>
              </a:solidFill>
              <a:latin typeface="Calibri"/>
              <a:ea typeface="Calibri"/>
              <a:cs typeface="Calibri"/>
              <a:sym typeface="Calibri"/>
            </a:endParaRPr>
          </a:p>
        </p:txBody>
      </p:sp>
      <p:cxnSp>
        <p:nvCxnSpPr>
          <p:cNvPr id="264" name="Google Shape;264;p9"/>
          <p:cNvCxnSpPr/>
          <p:nvPr/>
        </p:nvCxnSpPr>
        <p:spPr>
          <a:xfrm>
            <a:off x="548640" y="1207008"/>
            <a:ext cx="11064240" cy="0"/>
          </a:xfrm>
          <a:prstGeom prst="straightConnector1">
            <a:avLst/>
          </a:prstGeom>
          <a:noFill/>
          <a:ln cap="flat" cmpd="sng" w="12700">
            <a:solidFill>
              <a:srgbClr val="2C2620"/>
            </a:solidFill>
            <a:prstDash val="solid"/>
            <a:round/>
            <a:headEnd len="sm" w="sm" type="none"/>
            <a:tailEnd len="sm" w="sm" type="none"/>
          </a:ln>
        </p:spPr>
      </p:cxnSp>
      <p:sp>
        <p:nvSpPr>
          <p:cNvPr id="265" name="Google Shape;265;p9"/>
          <p:cNvSpPr/>
          <p:nvPr/>
        </p:nvSpPr>
        <p:spPr>
          <a:xfrm>
            <a:off x="6263643" y="1572776"/>
            <a:ext cx="5257800" cy="538800"/>
          </a:xfrm>
          <a:prstGeom prst="rect">
            <a:avLst/>
          </a:prstGeom>
          <a:solidFill>
            <a:srgbClr val="2A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
          <p:cNvSpPr/>
          <p:nvPr/>
        </p:nvSpPr>
        <p:spPr>
          <a:xfrm>
            <a:off x="11466586" y="1572776"/>
            <a:ext cx="54900" cy="53880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txBox="1"/>
          <p:nvPr/>
        </p:nvSpPr>
        <p:spPr>
          <a:xfrm>
            <a:off x="8001005" y="1669787"/>
            <a:ext cx="3383400" cy="345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כניסה עם חשבון תקף</a:t>
            </a:r>
            <a:endParaRPr sz="1300">
              <a:solidFill>
                <a:schemeClr val="dk1"/>
              </a:solidFill>
              <a:latin typeface="Calibri"/>
              <a:ea typeface="Calibri"/>
              <a:cs typeface="Calibri"/>
              <a:sym typeface="Calibri"/>
            </a:endParaRPr>
          </a:p>
        </p:txBody>
      </p:sp>
      <p:sp>
        <p:nvSpPr>
          <p:cNvPr id="268" name="Google Shape;268;p9"/>
          <p:cNvSpPr txBox="1"/>
          <p:nvPr/>
        </p:nvSpPr>
        <p:spPr>
          <a:xfrm>
            <a:off x="6377956" y="1675407"/>
            <a:ext cx="10059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9A8A"/>
              </a:buClr>
              <a:buSzPts val="1100"/>
              <a:buFont typeface="Arial"/>
              <a:buNone/>
            </a:pPr>
            <a:r>
              <a:rPr lang="en-US" sz="1100">
                <a:solidFill>
                  <a:srgbClr val="A69A8A"/>
                </a:solidFill>
                <a:latin typeface="Arial"/>
                <a:ea typeface="Arial"/>
                <a:cs typeface="Arial"/>
                <a:sym typeface="Arial"/>
              </a:rPr>
              <a:t>T1078.002</a:t>
            </a:r>
            <a:endParaRPr sz="1100">
              <a:solidFill>
                <a:schemeClr val="dk1"/>
              </a:solidFill>
              <a:latin typeface="Calibri"/>
              <a:ea typeface="Calibri"/>
              <a:cs typeface="Calibri"/>
              <a:sym typeface="Calibri"/>
            </a:endParaRPr>
          </a:p>
        </p:txBody>
      </p:sp>
      <p:sp>
        <p:nvSpPr>
          <p:cNvPr id="269" name="Google Shape;269;p9"/>
          <p:cNvSpPr txBox="1"/>
          <p:nvPr/>
        </p:nvSpPr>
        <p:spPr>
          <a:xfrm>
            <a:off x="6281931" y="1680566"/>
            <a:ext cx="658500" cy="3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270" name="Google Shape;270;p9"/>
          <p:cNvSpPr/>
          <p:nvPr/>
        </p:nvSpPr>
        <p:spPr>
          <a:xfrm>
            <a:off x="6263643" y="2219512"/>
            <a:ext cx="5257800" cy="538800"/>
          </a:xfrm>
          <a:prstGeom prst="rect">
            <a:avLst/>
          </a:prstGeom>
          <a:solidFill>
            <a:srgbClr val="2A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9"/>
          <p:cNvSpPr/>
          <p:nvPr/>
        </p:nvSpPr>
        <p:spPr>
          <a:xfrm>
            <a:off x="11466586" y="2219512"/>
            <a:ext cx="54900" cy="53880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9"/>
          <p:cNvSpPr txBox="1"/>
          <p:nvPr/>
        </p:nvSpPr>
        <p:spPr>
          <a:xfrm>
            <a:off x="8001005" y="2316523"/>
            <a:ext cx="3383400" cy="345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WebShell בשרת ה-web</a:t>
            </a:r>
            <a:endParaRPr sz="1300">
              <a:solidFill>
                <a:schemeClr val="dk1"/>
              </a:solidFill>
              <a:latin typeface="Calibri"/>
              <a:ea typeface="Calibri"/>
              <a:cs typeface="Calibri"/>
              <a:sym typeface="Calibri"/>
            </a:endParaRPr>
          </a:p>
        </p:txBody>
      </p:sp>
      <p:sp>
        <p:nvSpPr>
          <p:cNvPr id="273" name="Google Shape;273;p9"/>
          <p:cNvSpPr txBox="1"/>
          <p:nvPr/>
        </p:nvSpPr>
        <p:spPr>
          <a:xfrm>
            <a:off x="6300194" y="2338018"/>
            <a:ext cx="10059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9A8A"/>
              </a:buClr>
              <a:buSzPts val="1100"/>
              <a:buFont typeface="Arial"/>
              <a:buNone/>
            </a:pPr>
            <a:r>
              <a:rPr lang="en-US" sz="1100">
                <a:solidFill>
                  <a:srgbClr val="A69A8A"/>
                </a:solidFill>
              </a:rPr>
              <a:t>  </a:t>
            </a:r>
            <a:r>
              <a:rPr lang="en-US" sz="1100">
                <a:solidFill>
                  <a:srgbClr val="A69A8A"/>
                </a:solidFill>
                <a:latin typeface="Arial"/>
                <a:ea typeface="Arial"/>
                <a:cs typeface="Arial"/>
                <a:sym typeface="Arial"/>
              </a:rPr>
              <a:t>T1505.003 </a:t>
            </a:r>
            <a:endParaRPr sz="1100">
              <a:solidFill>
                <a:schemeClr val="dk1"/>
              </a:solidFill>
              <a:latin typeface="Calibri"/>
              <a:ea typeface="Calibri"/>
              <a:cs typeface="Calibri"/>
              <a:sym typeface="Calibri"/>
            </a:endParaRPr>
          </a:p>
        </p:txBody>
      </p:sp>
      <p:sp>
        <p:nvSpPr>
          <p:cNvPr id="274" name="Google Shape;274;p9"/>
          <p:cNvSpPr txBox="1"/>
          <p:nvPr/>
        </p:nvSpPr>
        <p:spPr>
          <a:xfrm>
            <a:off x="6435049" y="2328875"/>
            <a:ext cx="736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275" name="Google Shape;275;p9"/>
          <p:cNvSpPr/>
          <p:nvPr/>
        </p:nvSpPr>
        <p:spPr>
          <a:xfrm>
            <a:off x="6263643" y="2866248"/>
            <a:ext cx="5257800" cy="538800"/>
          </a:xfrm>
          <a:prstGeom prst="rect">
            <a:avLst/>
          </a:prstGeom>
          <a:solidFill>
            <a:srgbClr val="2A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9"/>
          <p:cNvSpPr/>
          <p:nvPr/>
        </p:nvSpPr>
        <p:spPr>
          <a:xfrm>
            <a:off x="11466586" y="2866248"/>
            <a:ext cx="54900" cy="53880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9"/>
          <p:cNvSpPr txBox="1"/>
          <p:nvPr/>
        </p:nvSpPr>
        <p:spPr>
          <a:xfrm>
            <a:off x="8001005" y="2963258"/>
            <a:ext cx="3383400" cy="345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מיפוי דומיין וקבוצות</a:t>
            </a:r>
            <a:endParaRPr sz="1300">
              <a:solidFill>
                <a:schemeClr val="dk1"/>
              </a:solidFill>
              <a:latin typeface="Calibri"/>
              <a:ea typeface="Calibri"/>
              <a:cs typeface="Calibri"/>
              <a:sym typeface="Calibri"/>
            </a:endParaRPr>
          </a:p>
        </p:txBody>
      </p:sp>
      <p:sp>
        <p:nvSpPr>
          <p:cNvPr id="278" name="Google Shape;278;p9"/>
          <p:cNvSpPr txBox="1"/>
          <p:nvPr/>
        </p:nvSpPr>
        <p:spPr>
          <a:xfrm>
            <a:off x="6377956" y="2984729"/>
            <a:ext cx="10059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9A8A"/>
              </a:buClr>
              <a:buSzPts val="1100"/>
              <a:buFont typeface="Arial"/>
              <a:buNone/>
            </a:pPr>
            <a:r>
              <a:rPr lang="en-US" sz="1100">
                <a:solidFill>
                  <a:srgbClr val="A69A8A"/>
                </a:solidFill>
                <a:latin typeface="Arial"/>
                <a:ea typeface="Arial"/>
                <a:cs typeface="Arial"/>
                <a:sym typeface="Arial"/>
              </a:rPr>
              <a:t>T1087 · T1018</a:t>
            </a:r>
            <a:endParaRPr sz="1100">
              <a:solidFill>
                <a:schemeClr val="dk1"/>
              </a:solidFill>
              <a:latin typeface="Calibri"/>
              <a:ea typeface="Calibri"/>
              <a:cs typeface="Calibri"/>
              <a:sym typeface="Calibri"/>
            </a:endParaRPr>
          </a:p>
        </p:txBody>
      </p:sp>
      <p:sp>
        <p:nvSpPr>
          <p:cNvPr id="279" name="Google Shape;279;p9"/>
          <p:cNvSpPr txBox="1"/>
          <p:nvPr/>
        </p:nvSpPr>
        <p:spPr>
          <a:xfrm>
            <a:off x="6281931" y="2974037"/>
            <a:ext cx="658500" cy="3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280" name="Google Shape;280;p9"/>
          <p:cNvSpPr/>
          <p:nvPr/>
        </p:nvSpPr>
        <p:spPr>
          <a:xfrm>
            <a:off x="6263643" y="3512984"/>
            <a:ext cx="5257800" cy="538800"/>
          </a:xfrm>
          <a:prstGeom prst="rect">
            <a:avLst/>
          </a:prstGeom>
          <a:solidFill>
            <a:srgbClr val="2A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9"/>
          <p:cNvSpPr/>
          <p:nvPr/>
        </p:nvSpPr>
        <p:spPr>
          <a:xfrm>
            <a:off x="11466586" y="3512984"/>
            <a:ext cx="54900" cy="53880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9"/>
          <p:cNvSpPr txBox="1"/>
          <p:nvPr/>
        </p:nvSpPr>
        <p:spPr>
          <a:xfrm>
            <a:off x="8001005" y="3609994"/>
            <a:ext cx="3383400" cy="345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Kerberoasting</a:t>
            </a:r>
            <a:endParaRPr sz="1300">
              <a:solidFill>
                <a:schemeClr val="dk1"/>
              </a:solidFill>
              <a:latin typeface="Calibri"/>
              <a:ea typeface="Calibri"/>
              <a:cs typeface="Calibri"/>
              <a:sym typeface="Calibri"/>
            </a:endParaRPr>
          </a:p>
        </p:txBody>
      </p:sp>
      <p:sp>
        <p:nvSpPr>
          <p:cNvPr id="283" name="Google Shape;283;p9"/>
          <p:cNvSpPr txBox="1"/>
          <p:nvPr/>
        </p:nvSpPr>
        <p:spPr>
          <a:xfrm>
            <a:off x="6377956" y="3637190"/>
            <a:ext cx="10059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9A8A"/>
              </a:buClr>
              <a:buSzPts val="1100"/>
              <a:buFont typeface="Arial"/>
              <a:buNone/>
            </a:pPr>
            <a:r>
              <a:rPr lang="en-US" sz="1100">
                <a:solidFill>
                  <a:srgbClr val="A69A8A"/>
                </a:solidFill>
                <a:latin typeface="Arial"/>
                <a:ea typeface="Arial"/>
                <a:cs typeface="Arial"/>
                <a:sym typeface="Arial"/>
              </a:rPr>
              <a:t>T1558.003</a:t>
            </a:r>
            <a:endParaRPr sz="1100">
              <a:solidFill>
                <a:schemeClr val="dk1"/>
              </a:solidFill>
              <a:latin typeface="Calibri"/>
              <a:ea typeface="Calibri"/>
              <a:cs typeface="Calibri"/>
              <a:sym typeface="Calibri"/>
            </a:endParaRPr>
          </a:p>
        </p:txBody>
      </p:sp>
      <p:sp>
        <p:nvSpPr>
          <p:cNvPr id="284" name="Google Shape;284;p9"/>
          <p:cNvSpPr txBox="1"/>
          <p:nvPr/>
        </p:nvSpPr>
        <p:spPr>
          <a:xfrm>
            <a:off x="6281931" y="3620773"/>
            <a:ext cx="658500" cy="3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285" name="Google Shape;285;p9"/>
          <p:cNvSpPr/>
          <p:nvPr/>
        </p:nvSpPr>
        <p:spPr>
          <a:xfrm>
            <a:off x="3068418" y="4936882"/>
            <a:ext cx="5257800" cy="538800"/>
          </a:xfrm>
          <a:prstGeom prst="rect">
            <a:avLst/>
          </a:prstGeom>
          <a:solidFill>
            <a:srgbClr val="1624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p:nvPr/>
        </p:nvSpPr>
        <p:spPr>
          <a:xfrm>
            <a:off x="8271361" y="4936882"/>
            <a:ext cx="54900" cy="538800"/>
          </a:xfrm>
          <a:prstGeom prst="rect">
            <a:avLst/>
          </a:prstGeom>
          <a:solidFill>
            <a:srgbClr val="5BAE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
          <p:cNvSpPr txBox="1"/>
          <p:nvPr/>
        </p:nvSpPr>
        <p:spPr>
          <a:xfrm>
            <a:off x="4805780" y="5033893"/>
            <a:ext cx="3383400" cy="345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הרצת כלי גניבת אישורים - זוהה ע"י Windows</a:t>
            </a:r>
            <a:endParaRPr sz="1300">
              <a:solidFill>
                <a:schemeClr val="dk1"/>
              </a:solidFill>
              <a:latin typeface="Calibri"/>
              <a:ea typeface="Calibri"/>
              <a:cs typeface="Calibri"/>
              <a:sym typeface="Calibri"/>
            </a:endParaRPr>
          </a:p>
        </p:txBody>
      </p:sp>
      <p:sp>
        <p:nvSpPr>
          <p:cNvPr id="288" name="Google Shape;288;p9"/>
          <p:cNvSpPr txBox="1"/>
          <p:nvPr/>
        </p:nvSpPr>
        <p:spPr>
          <a:xfrm>
            <a:off x="3231275" y="5049975"/>
            <a:ext cx="10059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9A8A"/>
              </a:buClr>
              <a:buSzPts val="1100"/>
              <a:buFont typeface="Arial"/>
              <a:buNone/>
            </a:pPr>
            <a:r>
              <a:rPr lang="en-US" sz="1100">
                <a:solidFill>
                  <a:srgbClr val="A69A8A"/>
                </a:solidFill>
                <a:latin typeface="Arial"/>
                <a:ea typeface="Arial"/>
                <a:cs typeface="Arial"/>
                <a:sym typeface="Arial"/>
              </a:rPr>
              <a:t>T1003</a:t>
            </a:r>
            <a:endParaRPr sz="1100">
              <a:solidFill>
                <a:schemeClr val="dk1"/>
              </a:solidFill>
              <a:latin typeface="Calibri"/>
              <a:ea typeface="Calibri"/>
              <a:cs typeface="Calibri"/>
              <a:sym typeface="Calibri"/>
            </a:endParaRPr>
          </a:p>
        </p:txBody>
      </p:sp>
      <p:sp>
        <p:nvSpPr>
          <p:cNvPr id="289" name="Google Shape;289;p9"/>
          <p:cNvSpPr txBox="1"/>
          <p:nvPr/>
        </p:nvSpPr>
        <p:spPr>
          <a:xfrm>
            <a:off x="2989531" y="5578134"/>
            <a:ext cx="658500" cy="3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290" name="Google Shape;290;p9"/>
          <p:cNvSpPr/>
          <p:nvPr/>
        </p:nvSpPr>
        <p:spPr>
          <a:xfrm>
            <a:off x="6208775" y="4171125"/>
            <a:ext cx="5257800" cy="538800"/>
          </a:xfrm>
          <a:prstGeom prst="rect">
            <a:avLst/>
          </a:prstGeom>
          <a:solidFill>
            <a:srgbClr val="2A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9"/>
          <p:cNvSpPr/>
          <p:nvPr/>
        </p:nvSpPr>
        <p:spPr>
          <a:xfrm>
            <a:off x="11484861" y="4171118"/>
            <a:ext cx="54900" cy="53880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9"/>
          <p:cNvSpPr txBox="1"/>
          <p:nvPr/>
        </p:nvSpPr>
        <p:spPr>
          <a:xfrm>
            <a:off x="8019280" y="4268129"/>
            <a:ext cx="3383400" cy="345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תנועה רוחבית ב-RDP</a:t>
            </a:r>
            <a:endParaRPr sz="1300">
              <a:solidFill>
                <a:schemeClr val="dk1"/>
              </a:solidFill>
              <a:latin typeface="Calibri"/>
              <a:ea typeface="Calibri"/>
              <a:cs typeface="Calibri"/>
              <a:sym typeface="Calibri"/>
            </a:endParaRPr>
          </a:p>
        </p:txBody>
      </p:sp>
      <p:sp>
        <p:nvSpPr>
          <p:cNvPr id="293" name="Google Shape;293;p9"/>
          <p:cNvSpPr txBox="1"/>
          <p:nvPr/>
        </p:nvSpPr>
        <p:spPr>
          <a:xfrm>
            <a:off x="6387094" y="4287049"/>
            <a:ext cx="10059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9A8A"/>
              </a:buClr>
              <a:buSzPts val="1100"/>
              <a:buFont typeface="Arial"/>
              <a:buNone/>
            </a:pPr>
            <a:r>
              <a:rPr lang="en-US" sz="1100">
                <a:solidFill>
                  <a:srgbClr val="A69A8A"/>
                </a:solidFill>
                <a:latin typeface="Arial"/>
                <a:ea typeface="Arial"/>
                <a:cs typeface="Arial"/>
                <a:sym typeface="Arial"/>
              </a:rPr>
              <a:t>T1021.001</a:t>
            </a:r>
            <a:endParaRPr sz="1100">
              <a:solidFill>
                <a:schemeClr val="dk1"/>
              </a:solidFill>
              <a:latin typeface="Calibri"/>
              <a:ea typeface="Calibri"/>
              <a:cs typeface="Calibri"/>
              <a:sym typeface="Calibri"/>
            </a:endParaRPr>
          </a:p>
        </p:txBody>
      </p:sp>
      <p:sp>
        <p:nvSpPr>
          <p:cNvPr id="294" name="Google Shape;294;p9"/>
          <p:cNvSpPr txBox="1"/>
          <p:nvPr/>
        </p:nvSpPr>
        <p:spPr>
          <a:xfrm>
            <a:off x="6300206" y="4278908"/>
            <a:ext cx="658500" cy="3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295" name="Google Shape;295;p9"/>
          <p:cNvSpPr/>
          <p:nvPr/>
        </p:nvSpPr>
        <p:spPr>
          <a:xfrm>
            <a:off x="640075" y="1572776"/>
            <a:ext cx="5257800" cy="538800"/>
          </a:xfrm>
          <a:prstGeom prst="rect">
            <a:avLst/>
          </a:prstGeom>
          <a:solidFill>
            <a:srgbClr val="2A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9"/>
          <p:cNvSpPr/>
          <p:nvPr/>
        </p:nvSpPr>
        <p:spPr>
          <a:xfrm>
            <a:off x="5843018" y="1572776"/>
            <a:ext cx="54900" cy="53880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9"/>
          <p:cNvSpPr txBox="1"/>
          <p:nvPr/>
        </p:nvSpPr>
        <p:spPr>
          <a:xfrm>
            <a:off x="2377437" y="1669787"/>
            <a:ext cx="3383400" cy="345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קריאה המונית משיתופים</a:t>
            </a:r>
            <a:endParaRPr sz="1300">
              <a:solidFill>
                <a:schemeClr val="dk1"/>
              </a:solidFill>
              <a:latin typeface="Calibri"/>
              <a:ea typeface="Calibri"/>
              <a:cs typeface="Calibri"/>
              <a:sym typeface="Calibri"/>
            </a:endParaRPr>
          </a:p>
        </p:txBody>
      </p:sp>
      <p:sp>
        <p:nvSpPr>
          <p:cNvPr id="298" name="Google Shape;298;p9"/>
          <p:cNvSpPr txBox="1"/>
          <p:nvPr/>
        </p:nvSpPr>
        <p:spPr>
          <a:xfrm>
            <a:off x="868701" y="1675407"/>
            <a:ext cx="10059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9A8A"/>
              </a:buClr>
              <a:buSzPts val="1100"/>
              <a:buFont typeface="Arial"/>
              <a:buNone/>
            </a:pPr>
            <a:r>
              <a:rPr lang="en-US" sz="1100">
                <a:solidFill>
                  <a:srgbClr val="A69A8A"/>
                </a:solidFill>
                <a:latin typeface="Arial"/>
                <a:ea typeface="Arial"/>
                <a:cs typeface="Arial"/>
                <a:sym typeface="Arial"/>
              </a:rPr>
              <a:t>T1039</a:t>
            </a:r>
            <a:endParaRPr sz="1100">
              <a:solidFill>
                <a:schemeClr val="dk1"/>
              </a:solidFill>
              <a:latin typeface="Calibri"/>
              <a:ea typeface="Calibri"/>
              <a:cs typeface="Calibri"/>
              <a:sym typeface="Calibri"/>
            </a:endParaRPr>
          </a:p>
        </p:txBody>
      </p:sp>
      <p:sp>
        <p:nvSpPr>
          <p:cNvPr id="299" name="Google Shape;299;p9"/>
          <p:cNvSpPr txBox="1"/>
          <p:nvPr/>
        </p:nvSpPr>
        <p:spPr>
          <a:xfrm>
            <a:off x="658363" y="1680566"/>
            <a:ext cx="658500" cy="3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300" name="Google Shape;300;p9"/>
          <p:cNvSpPr/>
          <p:nvPr/>
        </p:nvSpPr>
        <p:spPr>
          <a:xfrm>
            <a:off x="640075" y="2219512"/>
            <a:ext cx="5257800" cy="538800"/>
          </a:xfrm>
          <a:prstGeom prst="rect">
            <a:avLst/>
          </a:prstGeom>
          <a:solidFill>
            <a:srgbClr val="2A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
          <p:cNvSpPr/>
          <p:nvPr/>
        </p:nvSpPr>
        <p:spPr>
          <a:xfrm>
            <a:off x="5843018" y="2219512"/>
            <a:ext cx="54900" cy="53880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txBox="1"/>
          <p:nvPr/>
        </p:nvSpPr>
        <p:spPr>
          <a:xfrm>
            <a:off x="2377437" y="2316523"/>
            <a:ext cx="3383400" cy="345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דחיסה עם 7-Zip</a:t>
            </a:r>
            <a:endParaRPr sz="1300">
              <a:solidFill>
                <a:schemeClr val="dk1"/>
              </a:solidFill>
              <a:latin typeface="Calibri"/>
              <a:ea typeface="Calibri"/>
              <a:cs typeface="Calibri"/>
              <a:sym typeface="Calibri"/>
            </a:endParaRPr>
          </a:p>
        </p:txBody>
      </p:sp>
      <p:sp>
        <p:nvSpPr>
          <p:cNvPr id="303" name="Google Shape;303;p9"/>
          <p:cNvSpPr txBox="1"/>
          <p:nvPr/>
        </p:nvSpPr>
        <p:spPr>
          <a:xfrm>
            <a:off x="868701" y="2338018"/>
            <a:ext cx="10059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9A8A"/>
              </a:buClr>
              <a:buSzPts val="1100"/>
              <a:buFont typeface="Arial"/>
              <a:buNone/>
            </a:pPr>
            <a:r>
              <a:rPr lang="en-US" sz="1100">
                <a:solidFill>
                  <a:srgbClr val="A69A8A"/>
                </a:solidFill>
                <a:latin typeface="Arial"/>
                <a:ea typeface="Arial"/>
                <a:cs typeface="Arial"/>
                <a:sym typeface="Arial"/>
              </a:rPr>
              <a:t>T1560.001</a:t>
            </a:r>
            <a:endParaRPr sz="1100">
              <a:solidFill>
                <a:schemeClr val="dk1"/>
              </a:solidFill>
              <a:latin typeface="Calibri"/>
              <a:ea typeface="Calibri"/>
              <a:cs typeface="Calibri"/>
              <a:sym typeface="Calibri"/>
            </a:endParaRPr>
          </a:p>
        </p:txBody>
      </p:sp>
      <p:sp>
        <p:nvSpPr>
          <p:cNvPr id="304" name="Google Shape;304;p9"/>
          <p:cNvSpPr txBox="1"/>
          <p:nvPr/>
        </p:nvSpPr>
        <p:spPr>
          <a:xfrm>
            <a:off x="658363" y="2327301"/>
            <a:ext cx="658500" cy="3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305" name="Google Shape;305;p9"/>
          <p:cNvSpPr/>
          <p:nvPr/>
        </p:nvSpPr>
        <p:spPr>
          <a:xfrm>
            <a:off x="640075" y="2866248"/>
            <a:ext cx="5257800" cy="538800"/>
          </a:xfrm>
          <a:prstGeom prst="rect">
            <a:avLst/>
          </a:prstGeom>
          <a:solidFill>
            <a:srgbClr val="2A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9"/>
          <p:cNvSpPr/>
          <p:nvPr/>
        </p:nvSpPr>
        <p:spPr>
          <a:xfrm>
            <a:off x="5843018" y="2866248"/>
            <a:ext cx="54900" cy="53880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9"/>
          <p:cNvSpPr txBox="1"/>
          <p:nvPr/>
        </p:nvSpPr>
        <p:spPr>
          <a:xfrm>
            <a:off x="2377437" y="2963258"/>
            <a:ext cx="3383400" cy="345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העלאה לענן דרך שיתוף פתוח</a:t>
            </a:r>
            <a:endParaRPr sz="1300">
              <a:solidFill>
                <a:schemeClr val="dk1"/>
              </a:solidFill>
              <a:latin typeface="Calibri"/>
              <a:ea typeface="Calibri"/>
              <a:cs typeface="Calibri"/>
              <a:sym typeface="Calibri"/>
            </a:endParaRPr>
          </a:p>
        </p:txBody>
      </p:sp>
      <p:sp>
        <p:nvSpPr>
          <p:cNvPr id="308" name="Google Shape;308;p9"/>
          <p:cNvSpPr txBox="1"/>
          <p:nvPr/>
        </p:nvSpPr>
        <p:spPr>
          <a:xfrm>
            <a:off x="868701" y="2984729"/>
            <a:ext cx="10059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9A8A"/>
              </a:buClr>
              <a:buSzPts val="1100"/>
              <a:buFont typeface="Arial"/>
              <a:buNone/>
            </a:pPr>
            <a:r>
              <a:rPr lang="en-US" sz="1100">
                <a:solidFill>
                  <a:srgbClr val="A69A8A"/>
                </a:solidFill>
                <a:latin typeface="Arial"/>
                <a:ea typeface="Arial"/>
                <a:cs typeface="Arial"/>
                <a:sym typeface="Arial"/>
              </a:rPr>
              <a:t>T1567.002</a:t>
            </a:r>
            <a:endParaRPr sz="1100">
              <a:solidFill>
                <a:schemeClr val="dk1"/>
              </a:solidFill>
              <a:latin typeface="Calibri"/>
              <a:ea typeface="Calibri"/>
              <a:cs typeface="Calibri"/>
              <a:sym typeface="Calibri"/>
            </a:endParaRPr>
          </a:p>
        </p:txBody>
      </p:sp>
      <p:sp>
        <p:nvSpPr>
          <p:cNvPr id="309" name="Google Shape;309;p9"/>
          <p:cNvSpPr txBox="1"/>
          <p:nvPr/>
        </p:nvSpPr>
        <p:spPr>
          <a:xfrm>
            <a:off x="658363" y="2974037"/>
            <a:ext cx="658500" cy="3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310" name="Google Shape;310;p9"/>
          <p:cNvSpPr/>
          <p:nvPr/>
        </p:nvSpPr>
        <p:spPr>
          <a:xfrm>
            <a:off x="640075" y="3512984"/>
            <a:ext cx="5257800" cy="538800"/>
          </a:xfrm>
          <a:prstGeom prst="rect">
            <a:avLst/>
          </a:prstGeom>
          <a:solidFill>
            <a:srgbClr val="2A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9"/>
          <p:cNvSpPr/>
          <p:nvPr/>
        </p:nvSpPr>
        <p:spPr>
          <a:xfrm>
            <a:off x="5843018" y="3512984"/>
            <a:ext cx="54900" cy="53880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txBox="1"/>
          <p:nvPr/>
        </p:nvSpPr>
        <p:spPr>
          <a:xfrm>
            <a:off x="2377437" y="3609994"/>
            <a:ext cx="3383400" cy="345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מחיקת גיבוי</a:t>
            </a:r>
            <a:endParaRPr sz="1300">
              <a:solidFill>
                <a:schemeClr val="dk1"/>
              </a:solidFill>
              <a:latin typeface="Calibri"/>
              <a:ea typeface="Calibri"/>
              <a:cs typeface="Calibri"/>
              <a:sym typeface="Calibri"/>
            </a:endParaRPr>
          </a:p>
        </p:txBody>
      </p:sp>
      <p:sp>
        <p:nvSpPr>
          <p:cNvPr id="313" name="Google Shape;313;p9"/>
          <p:cNvSpPr txBox="1"/>
          <p:nvPr/>
        </p:nvSpPr>
        <p:spPr>
          <a:xfrm>
            <a:off x="868701" y="3631490"/>
            <a:ext cx="10059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9A8A"/>
              </a:buClr>
              <a:buSzPts val="1100"/>
              <a:buFont typeface="Arial"/>
              <a:buNone/>
            </a:pPr>
            <a:r>
              <a:rPr lang="en-US" sz="1100">
                <a:solidFill>
                  <a:srgbClr val="A69A8A"/>
                </a:solidFill>
                <a:latin typeface="Arial"/>
                <a:ea typeface="Arial"/>
                <a:cs typeface="Arial"/>
                <a:sym typeface="Arial"/>
              </a:rPr>
              <a:t>T1490</a:t>
            </a:r>
            <a:endParaRPr sz="1100">
              <a:solidFill>
                <a:schemeClr val="dk1"/>
              </a:solidFill>
              <a:latin typeface="Calibri"/>
              <a:ea typeface="Calibri"/>
              <a:cs typeface="Calibri"/>
              <a:sym typeface="Calibri"/>
            </a:endParaRPr>
          </a:p>
        </p:txBody>
      </p:sp>
      <p:sp>
        <p:nvSpPr>
          <p:cNvPr id="314" name="Google Shape;314;p9"/>
          <p:cNvSpPr txBox="1"/>
          <p:nvPr/>
        </p:nvSpPr>
        <p:spPr>
          <a:xfrm>
            <a:off x="658363" y="3620773"/>
            <a:ext cx="658500" cy="3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t/>
            </a:r>
            <a:endParaRPr sz="1050">
              <a:solidFill>
                <a:schemeClr val="dk1"/>
              </a:solidFill>
              <a:latin typeface="Calibri"/>
              <a:ea typeface="Calibri"/>
              <a:cs typeface="Calibri"/>
              <a:sym typeface="Calibri"/>
            </a:endParaRPr>
          </a:p>
        </p:txBody>
      </p:sp>
      <p:sp>
        <p:nvSpPr>
          <p:cNvPr id="315" name="Google Shape;315;p9"/>
          <p:cNvSpPr/>
          <p:nvPr/>
        </p:nvSpPr>
        <p:spPr>
          <a:xfrm>
            <a:off x="640075" y="4159720"/>
            <a:ext cx="5257800" cy="538800"/>
          </a:xfrm>
          <a:prstGeom prst="rect">
            <a:avLst/>
          </a:prstGeom>
          <a:solidFill>
            <a:srgbClr val="2A17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5843018" y="4159720"/>
            <a:ext cx="54900" cy="53880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txBox="1"/>
          <p:nvPr/>
        </p:nvSpPr>
        <p:spPr>
          <a:xfrm>
            <a:off x="2377437" y="4256730"/>
            <a:ext cx="3383400" cy="345000"/>
          </a:xfrm>
          <a:prstGeom prst="rect">
            <a:avLst/>
          </a:prstGeom>
          <a:noFill/>
          <a:ln>
            <a:noFill/>
          </a:ln>
        </p:spPr>
        <p:txBody>
          <a:bodyPr anchorCtr="0" anchor="ctr" bIns="0" lIns="0" spcFirstLastPara="1" rIns="0" wrap="square" tIns="0">
            <a:noAutofit/>
          </a:bodyPr>
          <a:lstStyle/>
          <a:p>
            <a:pPr indent="0" lvl="0" marL="0" marR="0" rtl="1" algn="r">
              <a:spcBef>
                <a:spcPts val="0"/>
              </a:spcBef>
              <a:spcAft>
                <a:spcPts val="0"/>
              </a:spcAft>
              <a:buClr>
                <a:srgbClr val="EDE7DD"/>
              </a:buClr>
              <a:buSzPts val="1300"/>
              <a:buFont typeface="Arial"/>
              <a:buNone/>
            </a:pPr>
            <a:r>
              <a:rPr b="1" lang="en-US" sz="1300">
                <a:solidFill>
                  <a:srgbClr val="EDE7DD"/>
                </a:solidFill>
                <a:latin typeface="Arial"/>
                <a:ea typeface="Arial"/>
                <a:cs typeface="Arial"/>
                <a:sym typeface="Arial"/>
              </a:rPr>
              <a:t>הצפנה ופתק כופר</a:t>
            </a:r>
            <a:endParaRPr sz="1300">
              <a:solidFill>
                <a:schemeClr val="dk1"/>
              </a:solidFill>
              <a:latin typeface="Calibri"/>
              <a:ea typeface="Calibri"/>
              <a:cs typeface="Calibri"/>
              <a:sym typeface="Calibri"/>
            </a:endParaRPr>
          </a:p>
        </p:txBody>
      </p:sp>
      <p:sp>
        <p:nvSpPr>
          <p:cNvPr id="318" name="Google Shape;318;p9"/>
          <p:cNvSpPr txBox="1"/>
          <p:nvPr/>
        </p:nvSpPr>
        <p:spPr>
          <a:xfrm>
            <a:off x="923576" y="4300826"/>
            <a:ext cx="1005900" cy="301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9A8A"/>
              </a:buClr>
              <a:buSzPts val="1100"/>
              <a:buFont typeface="Arial"/>
              <a:buNone/>
            </a:pPr>
            <a:r>
              <a:rPr lang="en-US" sz="1100">
                <a:solidFill>
                  <a:srgbClr val="A69A8A"/>
                </a:solidFill>
                <a:latin typeface="Arial"/>
                <a:ea typeface="Arial"/>
                <a:cs typeface="Arial"/>
                <a:sym typeface="Arial"/>
              </a:rPr>
              <a:t>T1486</a:t>
            </a:r>
            <a:endParaRPr sz="1100">
              <a:solidFill>
                <a:schemeClr val="dk1"/>
              </a:solidFill>
              <a:latin typeface="Calibri"/>
              <a:ea typeface="Calibri"/>
              <a:cs typeface="Calibri"/>
              <a:sym typeface="Calibri"/>
            </a:endParaRPr>
          </a:p>
        </p:txBody>
      </p:sp>
      <p:sp>
        <p:nvSpPr>
          <p:cNvPr id="319" name="Google Shape;319;p9"/>
          <p:cNvSpPr txBox="1"/>
          <p:nvPr/>
        </p:nvSpPr>
        <p:spPr>
          <a:xfrm>
            <a:off x="658363" y="4267509"/>
            <a:ext cx="658500" cy="3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050"/>
              <a:buFont typeface="Calibri"/>
              <a:buNone/>
            </a:pPr>
            <a:r>
              <a:rPr lang="en-US" sz="1050">
                <a:solidFill>
                  <a:schemeClr val="dk1"/>
                </a:solidFill>
                <a:latin typeface="Calibri"/>
                <a:ea typeface="Calibri"/>
                <a:cs typeface="Calibri"/>
                <a:sym typeface="Calibri"/>
              </a:rPr>
              <a:t> </a:t>
            </a:r>
            <a:endParaRPr sz="1050">
              <a:solidFill>
                <a:schemeClr val="dk1"/>
              </a:solidFill>
              <a:latin typeface="Calibri"/>
              <a:ea typeface="Calibri"/>
              <a:cs typeface="Calibri"/>
              <a:sym typeface="Calibri"/>
            </a:endParaRPr>
          </a:p>
        </p:txBody>
      </p:sp>
      <p:sp>
        <p:nvSpPr>
          <p:cNvPr id="320" name="Google Shape;320;p9"/>
          <p:cNvSpPr txBox="1"/>
          <p:nvPr/>
        </p:nvSpPr>
        <p:spPr>
          <a:xfrm>
            <a:off x="914395" y="5798118"/>
            <a:ext cx="10332600" cy="36660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21" name="Google Shape;321;p9"/>
          <p:cNvSpPr txBox="1"/>
          <p:nvPr/>
        </p:nvSpPr>
        <p:spPr>
          <a:xfrm>
            <a:off x="640080" y="6263640"/>
            <a:ext cx="10881360" cy="32004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30F"/>
        </a:solidFill>
      </p:bgPr>
    </p:bg>
    <p:spTree>
      <p:nvGrpSpPr>
        <p:cNvPr id="326" name="Shape 326"/>
        <p:cNvGrpSpPr/>
        <p:nvPr/>
      </p:nvGrpSpPr>
      <p:grpSpPr>
        <a:xfrm>
          <a:off x="0" y="0"/>
          <a:ext cx="0" cy="0"/>
          <a:chOff x="0" y="0"/>
          <a:chExt cx="0" cy="0"/>
        </a:xfrm>
      </p:grpSpPr>
      <p:sp>
        <p:nvSpPr>
          <p:cNvPr id="327" name="Google Shape;327;p10"/>
          <p:cNvSpPr/>
          <p:nvPr/>
        </p:nvSpPr>
        <p:spPr>
          <a:xfrm>
            <a:off x="0" y="0"/>
            <a:ext cx="12161520" cy="54864"/>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0"/>
          <p:cNvSpPr txBox="1"/>
          <p:nvPr/>
        </p:nvSpPr>
        <p:spPr>
          <a:xfrm>
            <a:off x="365760" y="29260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latin typeface="Arial"/>
                <a:ea typeface="Arial"/>
                <a:cs typeface="Arial"/>
                <a:sym typeface="Arial"/>
              </a:rPr>
              <a:t>10</a:t>
            </a:r>
            <a:endParaRPr sz="3000">
              <a:solidFill>
                <a:schemeClr val="dk1"/>
              </a:solidFill>
              <a:latin typeface="Calibri"/>
              <a:ea typeface="Calibri"/>
              <a:cs typeface="Calibri"/>
              <a:sym typeface="Calibri"/>
            </a:endParaRPr>
          </a:p>
        </p:txBody>
      </p:sp>
      <p:sp>
        <p:nvSpPr>
          <p:cNvPr id="329" name="Google Shape;329;p10"/>
          <p:cNvSpPr txBox="1"/>
          <p:nvPr/>
        </p:nvSpPr>
        <p:spPr>
          <a:xfrm>
            <a:off x="1097280" y="310896"/>
            <a:ext cx="10698480" cy="47548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2700"/>
              <a:buFont typeface="Arial"/>
              <a:buNone/>
            </a:pPr>
            <a:r>
              <a:rPr b="1" lang="en-US" sz="2700">
                <a:solidFill>
                  <a:srgbClr val="E4572E"/>
                </a:solidFill>
                <a:latin typeface="Arial"/>
                <a:ea typeface="Arial"/>
                <a:cs typeface="Arial"/>
                <a:sym typeface="Arial"/>
              </a:rPr>
              <a:t>איך השתמשנו ב-AI ומה הוא טעה</a:t>
            </a:r>
            <a:endParaRPr sz="2700">
              <a:solidFill>
                <a:schemeClr val="dk1"/>
              </a:solidFill>
              <a:latin typeface="Calibri"/>
              <a:ea typeface="Calibri"/>
              <a:cs typeface="Calibri"/>
              <a:sym typeface="Calibri"/>
            </a:endParaRPr>
          </a:p>
        </p:txBody>
      </p:sp>
      <p:sp>
        <p:nvSpPr>
          <p:cNvPr id="330" name="Google Shape;330;p10"/>
          <p:cNvSpPr txBox="1"/>
          <p:nvPr/>
        </p:nvSpPr>
        <p:spPr>
          <a:xfrm>
            <a:off x="1097280" y="804672"/>
            <a:ext cx="10698480"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500"/>
              <a:buFont typeface="Arial"/>
              <a:buNone/>
            </a:pPr>
            <a:r>
              <a:rPr lang="en-US" sz="1500">
                <a:solidFill>
                  <a:srgbClr val="A69A8A"/>
                </a:solidFill>
                <a:latin typeface="Arial"/>
                <a:ea typeface="Arial"/>
                <a:cs typeface="Arial"/>
                <a:sym typeface="Arial"/>
              </a:rPr>
              <a:t>שקופית חובה</a:t>
            </a:r>
            <a:endParaRPr sz="1500">
              <a:solidFill>
                <a:schemeClr val="dk1"/>
              </a:solidFill>
              <a:latin typeface="Calibri"/>
              <a:ea typeface="Calibri"/>
              <a:cs typeface="Calibri"/>
              <a:sym typeface="Calibri"/>
            </a:endParaRPr>
          </a:p>
        </p:txBody>
      </p:sp>
      <p:cxnSp>
        <p:nvCxnSpPr>
          <p:cNvPr id="331" name="Google Shape;331;p10"/>
          <p:cNvCxnSpPr/>
          <p:nvPr/>
        </p:nvCxnSpPr>
        <p:spPr>
          <a:xfrm>
            <a:off x="548640" y="1207008"/>
            <a:ext cx="11064240" cy="0"/>
          </a:xfrm>
          <a:prstGeom prst="straightConnector1">
            <a:avLst/>
          </a:prstGeom>
          <a:noFill/>
          <a:ln cap="flat" cmpd="sng" w="12700">
            <a:solidFill>
              <a:srgbClr val="2C2620"/>
            </a:solidFill>
            <a:prstDash val="solid"/>
            <a:round/>
            <a:headEnd len="sm" w="sm" type="none"/>
            <a:tailEnd len="sm" w="sm" type="none"/>
          </a:ln>
        </p:spPr>
      </p:cxnSp>
      <p:sp>
        <p:nvSpPr>
          <p:cNvPr id="332" name="Google Shape;332;p10"/>
          <p:cNvSpPr/>
          <p:nvPr/>
        </p:nvSpPr>
        <p:spPr>
          <a:xfrm>
            <a:off x="6263640" y="1554480"/>
            <a:ext cx="5257800" cy="3840480"/>
          </a:xfrm>
          <a:prstGeom prst="roundRect">
            <a:avLst>
              <a:gd fmla="val 952" name="adj"/>
            </a:avLst>
          </a:prstGeom>
          <a:solidFill>
            <a:srgbClr val="1E1912"/>
          </a:solidFill>
          <a:ln cap="flat" cmpd="sng" w="17775">
            <a:solidFill>
              <a:srgbClr val="CC6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0"/>
          <p:cNvSpPr/>
          <p:nvPr/>
        </p:nvSpPr>
        <p:spPr>
          <a:xfrm>
            <a:off x="6263640" y="1554480"/>
            <a:ext cx="5257800" cy="50292"/>
          </a:xfrm>
          <a:prstGeom prst="rect">
            <a:avLst/>
          </a:prstGeom>
          <a:solidFill>
            <a:srgbClr val="CC6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
          <p:cNvSpPr txBox="1"/>
          <p:nvPr/>
        </p:nvSpPr>
        <p:spPr>
          <a:xfrm>
            <a:off x="6428232" y="1719072"/>
            <a:ext cx="4928616"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CC6A2E"/>
              </a:buClr>
              <a:buSzPts val="1500"/>
              <a:buFont typeface="Arial"/>
              <a:buNone/>
            </a:pPr>
            <a:r>
              <a:rPr b="1" lang="en-US" sz="1500">
                <a:solidFill>
                  <a:srgbClr val="CC6A2E"/>
                </a:solidFill>
                <a:latin typeface="Arial"/>
                <a:ea typeface="Arial"/>
                <a:cs typeface="Arial"/>
                <a:sym typeface="Arial"/>
              </a:rPr>
              <a:t>היכן זה עזר</a:t>
            </a:r>
            <a:endParaRPr sz="1500">
              <a:solidFill>
                <a:schemeClr val="dk1"/>
              </a:solidFill>
              <a:latin typeface="Calibri"/>
              <a:ea typeface="Calibri"/>
              <a:cs typeface="Calibri"/>
              <a:sym typeface="Calibri"/>
            </a:endParaRPr>
          </a:p>
        </p:txBody>
      </p:sp>
      <p:sp>
        <p:nvSpPr>
          <p:cNvPr id="335" name="Google Shape;335;p10"/>
          <p:cNvSpPr txBox="1"/>
          <p:nvPr/>
        </p:nvSpPr>
        <p:spPr>
          <a:xfrm>
            <a:off x="6428232" y="2121408"/>
            <a:ext cx="4928616" cy="3108960"/>
          </a:xfrm>
          <a:prstGeom prst="rect">
            <a:avLst/>
          </a:prstGeom>
          <a:noFill/>
          <a:ln>
            <a:noFill/>
          </a:ln>
        </p:spPr>
        <p:txBody>
          <a:bodyPr anchorCtr="0" anchor="ctr" bIns="45700" lIns="91425" spcFirstLastPara="1" rIns="91425" wrap="square" tIns="45700">
            <a:noAutofit/>
          </a:bodyPr>
          <a:lstStyle/>
          <a:p>
            <a:pPr indent="-311150" lvl="0" marL="457200" rtl="1" algn="r">
              <a:spcBef>
                <a:spcPts val="0"/>
              </a:spcBef>
              <a:spcAft>
                <a:spcPts val="0"/>
              </a:spcAft>
              <a:buClr>
                <a:schemeClr val="lt1"/>
              </a:buClr>
              <a:buSzPts val="1300"/>
              <a:buChar char="•"/>
            </a:pPr>
            <a:r>
              <a:rPr lang="en-US" sz="1300">
                <a:solidFill>
                  <a:schemeClr val="lt1"/>
                </a:solidFill>
              </a:rPr>
              <a:t>כתיבת שאילתות אחרי שסיפקנו את שמות השדות</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סיכום ראשוני של מקורות לוג לפני אימות ידני</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ניסוח פסקאות מתוך ממצאים שכבר אומתו</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הצעות למה לבדוק הלאה, לא מסקנות</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הבנה של ציר הזמן וחיבור הנקודות</a:t>
            </a:r>
            <a:endParaRPr sz="1300">
              <a:solidFill>
                <a:schemeClr val="lt1"/>
              </a:solidFill>
            </a:endParaRPr>
          </a:p>
        </p:txBody>
      </p:sp>
      <p:sp>
        <p:nvSpPr>
          <p:cNvPr id="336" name="Google Shape;336;p10"/>
          <p:cNvSpPr/>
          <p:nvPr/>
        </p:nvSpPr>
        <p:spPr>
          <a:xfrm>
            <a:off x="640080" y="1554480"/>
            <a:ext cx="5257800" cy="3840480"/>
          </a:xfrm>
          <a:prstGeom prst="roundRect">
            <a:avLst>
              <a:gd fmla="val 952" name="adj"/>
            </a:avLst>
          </a:prstGeom>
          <a:solidFill>
            <a:srgbClr val="1E1912"/>
          </a:solidFill>
          <a:ln cap="flat" cmpd="sng" w="17775">
            <a:solidFill>
              <a:srgbClr val="E45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0"/>
          <p:cNvSpPr/>
          <p:nvPr/>
        </p:nvSpPr>
        <p:spPr>
          <a:xfrm>
            <a:off x="640080" y="1554480"/>
            <a:ext cx="5257800" cy="50292"/>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0"/>
          <p:cNvSpPr txBox="1"/>
          <p:nvPr/>
        </p:nvSpPr>
        <p:spPr>
          <a:xfrm>
            <a:off x="804672" y="1719072"/>
            <a:ext cx="4928616"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1500"/>
              <a:buFont typeface="Arial"/>
              <a:buNone/>
            </a:pPr>
            <a:r>
              <a:rPr b="1" lang="en-US" sz="1500">
                <a:solidFill>
                  <a:srgbClr val="E4572E"/>
                </a:solidFill>
                <a:latin typeface="Arial"/>
                <a:ea typeface="Arial"/>
                <a:cs typeface="Arial"/>
                <a:sym typeface="Arial"/>
              </a:rPr>
              <a:t>היכן זה </a:t>
            </a:r>
            <a:r>
              <a:rPr b="1" lang="en-US" sz="1500">
                <a:solidFill>
                  <a:srgbClr val="E4572E"/>
                </a:solidFill>
              </a:rPr>
              <a:t>הטעה</a:t>
            </a:r>
            <a:endParaRPr sz="1500">
              <a:solidFill>
                <a:schemeClr val="dk1"/>
              </a:solidFill>
              <a:latin typeface="Calibri"/>
              <a:ea typeface="Calibri"/>
              <a:cs typeface="Calibri"/>
              <a:sym typeface="Calibri"/>
            </a:endParaRPr>
          </a:p>
        </p:txBody>
      </p:sp>
      <p:sp>
        <p:nvSpPr>
          <p:cNvPr id="339" name="Google Shape;339;p10"/>
          <p:cNvSpPr txBox="1"/>
          <p:nvPr/>
        </p:nvSpPr>
        <p:spPr>
          <a:xfrm>
            <a:off x="804672" y="2121408"/>
            <a:ext cx="4928616" cy="3108960"/>
          </a:xfrm>
          <a:prstGeom prst="rect">
            <a:avLst/>
          </a:prstGeom>
          <a:noFill/>
          <a:ln>
            <a:noFill/>
          </a:ln>
        </p:spPr>
        <p:txBody>
          <a:bodyPr anchorCtr="0" anchor="ctr" bIns="45700" lIns="91425" spcFirstLastPara="1" rIns="91425" wrap="square" tIns="45700">
            <a:noAutofit/>
          </a:bodyPr>
          <a:lstStyle/>
          <a:p>
            <a:pPr indent="-311150" lvl="0" marL="457200" rtl="1" algn="r">
              <a:spcBef>
                <a:spcPts val="0"/>
              </a:spcBef>
              <a:spcAft>
                <a:spcPts val="0"/>
              </a:spcAft>
              <a:buClr>
                <a:schemeClr val="lt1"/>
              </a:buClr>
              <a:buSzPts val="1300"/>
              <a:buChar char="•"/>
            </a:pPr>
            <a:r>
              <a:rPr lang="en-US" sz="1300">
                <a:solidFill>
                  <a:schemeClr val="lt1"/>
                </a:solidFill>
              </a:rPr>
              <a:t>שמות השדות:כששאלנו שאלות לפני סנכרון וקורלציה של שמות השדות, הAI נתן לנו שאילתות שלא עבדו או שעבדו אבל נתנו תוצאות לא רלוונטיות. </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סוג time zone: הAI אמנם עזר מאוד בהבנת ציר הזמן וחיבור הנקודות, אבל הוא התקשה בהתאמה בין UTC ל UTC+3 ולפעמים בלבל אותנו.</a:t>
            </a:r>
            <a:endParaRPr sz="1300">
              <a:solidFill>
                <a:schemeClr val="lt1"/>
              </a:solidFill>
            </a:endParaRPr>
          </a:p>
        </p:txBody>
      </p:sp>
      <p:sp>
        <p:nvSpPr>
          <p:cNvPr id="340" name="Google Shape;340;p10"/>
          <p:cNvSpPr txBox="1"/>
          <p:nvPr/>
        </p:nvSpPr>
        <p:spPr>
          <a:xfrm>
            <a:off x="640080" y="5577840"/>
            <a:ext cx="10881360" cy="36576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30F"/>
        </a:solidFill>
      </p:bgPr>
    </p:bg>
    <p:spTree>
      <p:nvGrpSpPr>
        <p:cNvPr id="345" name="Shape 345"/>
        <p:cNvGrpSpPr/>
        <p:nvPr/>
      </p:nvGrpSpPr>
      <p:grpSpPr>
        <a:xfrm>
          <a:off x="0" y="0"/>
          <a:ext cx="0" cy="0"/>
          <a:chOff x="0" y="0"/>
          <a:chExt cx="0" cy="0"/>
        </a:xfrm>
      </p:grpSpPr>
      <p:sp>
        <p:nvSpPr>
          <p:cNvPr id="346" name="Google Shape;346;p11"/>
          <p:cNvSpPr/>
          <p:nvPr/>
        </p:nvSpPr>
        <p:spPr>
          <a:xfrm>
            <a:off x="0" y="0"/>
            <a:ext cx="12161520" cy="54864"/>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1"/>
          <p:cNvSpPr txBox="1"/>
          <p:nvPr/>
        </p:nvSpPr>
        <p:spPr>
          <a:xfrm>
            <a:off x="365760" y="292608"/>
            <a:ext cx="9144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A2319"/>
              </a:buClr>
              <a:buSzPts val="3000"/>
              <a:buFont typeface="Arial"/>
              <a:buNone/>
            </a:pPr>
            <a:r>
              <a:rPr b="1" lang="en-US" sz="3000">
                <a:solidFill>
                  <a:srgbClr val="2A2319"/>
                </a:solidFill>
                <a:latin typeface="Arial"/>
                <a:ea typeface="Arial"/>
                <a:cs typeface="Arial"/>
                <a:sym typeface="Arial"/>
              </a:rPr>
              <a:t>11</a:t>
            </a:r>
            <a:endParaRPr sz="3000">
              <a:solidFill>
                <a:schemeClr val="dk1"/>
              </a:solidFill>
              <a:latin typeface="Calibri"/>
              <a:ea typeface="Calibri"/>
              <a:cs typeface="Calibri"/>
              <a:sym typeface="Calibri"/>
            </a:endParaRPr>
          </a:p>
        </p:txBody>
      </p:sp>
      <p:sp>
        <p:nvSpPr>
          <p:cNvPr id="348" name="Google Shape;348;p11"/>
          <p:cNvSpPr txBox="1"/>
          <p:nvPr/>
        </p:nvSpPr>
        <p:spPr>
          <a:xfrm>
            <a:off x="1097280" y="310896"/>
            <a:ext cx="10698480" cy="475488"/>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2700"/>
              <a:buFont typeface="Arial"/>
              <a:buNone/>
            </a:pPr>
            <a:r>
              <a:rPr b="1" lang="en-US" sz="2700">
                <a:solidFill>
                  <a:srgbClr val="E4572E"/>
                </a:solidFill>
                <a:latin typeface="Arial"/>
                <a:ea typeface="Arial"/>
                <a:cs typeface="Arial"/>
                <a:sym typeface="Arial"/>
              </a:rPr>
              <a:t>המלצות</a:t>
            </a:r>
            <a:endParaRPr sz="2700">
              <a:solidFill>
                <a:schemeClr val="dk1"/>
              </a:solidFill>
              <a:latin typeface="Calibri"/>
              <a:ea typeface="Calibri"/>
              <a:cs typeface="Calibri"/>
              <a:sym typeface="Calibri"/>
            </a:endParaRPr>
          </a:p>
        </p:txBody>
      </p:sp>
      <p:sp>
        <p:nvSpPr>
          <p:cNvPr id="349" name="Google Shape;349;p11"/>
          <p:cNvSpPr txBox="1"/>
          <p:nvPr/>
        </p:nvSpPr>
        <p:spPr>
          <a:xfrm>
            <a:off x="1097280" y="804672"/>
            <a:ext cx="10698480"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500"/>
              <a:buFont typeface="Arial"/>
              <a:buNone/>
            </a:pPr>
            <a:r>
              <a:rPr lang="en-US" sz="1500">
                <a:solidFill>
                  <a:srgbClr val="A69A8A"/>
                </a:solidFill>
                <a:latin typeface="Arial"/>
                <a:ea typeface="Arial"/>
                <a:cs typeface="Arial"/>
                <a:sym typeface="Arial"/>
              </a:rPr>
              <a:t>לפי רמת סמכות</a:t>
            </a:r>
            <a:endParaRPr sz="1500">
              <a:solidFill>
                <a:schemeClr val="dk1"/>
              </a:solidFill>
              <a:latin typeface="Calibri"/>
              <a:ea typeface="Calibri"/>
              <a:cs typeface="Calibri"/>
              <a:sym typeface="Calibri"/>
            </a:endParaRPr>
          </a:p>
        </p:txBody>
      </p:sp>
      <p:cxnSp>
        <p:nvCxnSpPr>
          <p:cNvPr id="350" name="Google Shape;350;p11"/>
          <p:cNvCxnSpPr/>
          <p:nvPr/>
        </p:nvCxnSpPr>
        <p:spPr>
          <a:xfrm>
            <a:off x="548640" y="1207008"/>
            <a:ext cx="11064240" cy="0"/>
          </a:xfrm>
          <a:prstGeom prst="straightConnector1">
            <a:avLst/>
          </a:prstGeom>
          <a:noFill/>
          <a:ln cap="flat" cmpd="sng" w="12700">
            <a:solidFill>
              <a:srgbClr val="2C2620"/>
            </a:solidFill>
            <a:prstDash val="solid"/>
            <a:round/>
            <a:headEnd len="sm" w="sm" type="none"/>
            <a:tailEnd len="sm" w="sm" type="none"/>
          </a:ln>
        </p:spPr>
      </p:cxnSp>
      <p:sp>
        <p:nvSpPr>
          <p:cNvPr id="351" name="Google Shape;351;p11"/>
          <p:cNvSpPr/>
          <p:nvPr/>
        </p:nvSpPr>
        <p:spPr>
          <a:xfrm>
            <a:off x="8074152" y="1554480"/>
            <a:ext cx="3538728" cy="4206240"/>
          </a:xfrm>
          <a:prstGeom prst="roundRect">
            <a:avLst>
              <a:gd fmla="val 1034" name="adj"/>
            </a:avLst>
          </a:prstGeom>
          <a:solidFill>
            <a:srgbClr val="1E1912"/>
          </a:solidFill>
          <a:ln cap="flat" cmpd="sng" w="17775">
            <a:solidFill>
              <a:srgbClr val="5BAE6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
          <p:cNvSpPr/>
          <p:nvPr/>
        </p:nvSpPr>
        <p:spPr>
          <a:xfrm>
            <a:off x="8074152" y="1554480"/>
            <a:ext cx="3538728" cy="50292"/>
          </a:xfrm>
          <a:prstGeom prst="rect">
            <a:avLst/>
          </a:prstGeom>
          <a:solidFill>
            <a:srgbClr val="5BAE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1"/>
          <p:cNvSpPr txBox="1"/>
          <p:nvPr/>
        </p:nvSpPr>
        <p:spPr>
          <a:xfrm>
            <a:off x="8238744" y="1719072"/>
            <a:ext cx="3209544"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5BAE6B"/>
              </a:buClr>
              <a:buSzPts val="1500"/>
              <a:buFont typeface="Arial"/>
              <a:buNone/>
            </a:pPr>
            <a:r>
              <a:rPr b="1" lang="en-US" sz="1500">
                <a:solidFill>
                  <a:srgbClr val="5BAE6B"/>
                </a:solidFill>
                <a:latin typeface="Arial"/>
                <a:ea typeface="Arial"/>
                <a:cs typeface="Arial"/>
                <a:sym typeface="Arial"/>
              </a:rPr>
              <a:t>Tier 1 רשאי לפעול</a:t>
            </a:r>
            <a:endParaRPr sz="1500">
              <a:solidFill>
                <a:schemeClr val="dk1"/>
              </a:solidFill>
              <a:latin typeface="Calibri"/>
              <a:ea typeface="Calibri"/>
              <a:cs typeface="Calibri"/>
              <a:sym typeface="Calibri"/>
            </a:endParaRPr>
          </a:p>
        </p:txBody>
      </p:sp>
      <p:sp>
        <p:nvSpPr>
          <p:cNvPr id="354" name="Google Shape;354;p11"/>
          <p:cNvSpPr txBox="1"/>
          <p:nvPr/>
        </p:nvSpPr>
        <p:spPr>
          <a:xfrm>
            <a:off x="8238744" y="2121408"/>
            <a:ext cx="3209544" cy="3474720"/>
          </a:xfrm>
          <a:prstGeom prst="rect">
            <a:avLst/>
          </a:prstGeom>
          <a:noFill/>
          <a:ln>
            <a:noFill/>
          </a:ln>
        </p:spPr>
        <p:txBody>
          <a:bodyPr anchorCtr="0" anchor="ctr" bIns="45700" lIns="91425" spcFirstLastPara="1" rIns="91425" wrap="square" tIns="45700">
            <a:noAutofit/>
          </a:bodyPr>
          <a:lstStyle/>
          <a:p>
            <a:pPr indent="-311150" lvl="0" marL="457200" rtl="1" algn="r">
              <a:spcBef>
                <a:spcPts val="0"/>
              </a:spcBef>
              <a:spcAft>
                <a:spcPts val="0"/>
              </a:spcAft>
              <a:buClr>
                <a:schemeClr val="lt1"/>
              </a:buClr>
              <a:buSzPts val="1300"/>
              <a:buChar char="●"/>
            </a:pPr>
            <a:r>
              <a:rPr lang="en-US" sz="1300">
                <a:solidFill>
                  <a:schemeClr val="lt1"/>
                </a:solidFill>
              </a:rPr>
              <a:t>ביטול קישור השיתוף על ops-transfer</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בידוד מוקדם ל-d.aviram וניתוק כל הסשנים</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אימות של חשבון עם termination_date</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גילוי מחיקת גיבוי בידי actor שאינו svc_backup</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גילוי שיתוף ענן עם anyone_with_link ללא תפוגה</a:t>
            </a:r>
            <a:endParaRPr sz="1300">
              <a:solidFill>
                <a:schemeClr val="lt1"/>
              </a:solidFill>
            </a:endParaRPr>
          </a:p>
        </p:txBody>
      </p:sp>
      <p:sp>
        <p:nvSpPr>
          <p:cNvPr id="355" name="Google Shape;355;p11"/>
          <p:cNvSpPr/>
          <p:nvPr/>
        </p:nvSpPr>
        <p:spPr>
          <a:xfrm>
            <a:off x="4297680" y="1554480"/>
            <a:ext cx="3538728" cy="4206240"/>
          </a:xfrm>
          <a:prstGeom prst="roundRect">
            <a:avLst>
              <a:gd fmla="val 1034" name="adj"/>
            </a:avLst>
          </a:prstGeom>
          <a:solidFill>
            <a:srgbClr val="1E1912"/>
          </a:solidFill>
          <a:ln cap="flat" cmpd="sng" w="17775">
            <a:solidFill>
              <a:srgbClr val="CC6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1"/>
          <p:cNvSpPr/>
          <p:nvPr/>
        </p:nvSpPr>
        <p:spPr>
          <a:xfrm>
            <a:off x="4297680" y="1554480"/>
            <a:ext cx="3538728" cy="50292"/>
          </a:xfrm>
          <a:prstGeom prst="rect">
            <a:avLst/>
          </a:prstGeom>
          <a:solidFill>
            <a:srgbClr val="CC6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txBox="1"/>
          <p:nvPr/>
        </p:nvSpPr>
        <p:spPr>
          <a:xfrm>
            <a:off x="4462272" y="1719072"/>
            <a:ext cx="3209544"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CC6A2E"/>
              </a:buClr>
              <a:buSzPts val="1500"/>
              <a:buFont typeface="Arial"/>
              <a:buNone/>
            </a:pPr>
            <a:r>
              <a:rPr b="1" lang="en-US" sz="1500">
                <a:solidFill>
                  <a:srgbClr val="CC6A2E"/>
                </a:solidFill>
                <a:latin typeface="Arial"/>
                <a:ea typeface="Arial"/>
                <a:cs typeface="Arial"/>
                <a:sym typeface="Arial"/>
              </a:rPr>
              <a:t>דורש אישור</a:t>
            </a:r>
            <a:endParaRPr sz="1500">
              <a:solidFill>
                <a:schemeClr val="dk1"/>
              </a:solidFill>
              <a:latin typeface="Calibri"/>
              <a:ea typeface="Calibri"/>
              <a:cs typeface="Calibri"/>
              <a:sym typeface="Calibri"/>
            </a:endParaRPr>
          </a:p>
        </p:txBody>
      </p:sp>
      <p:sp>
        <p:nvSpPr>
          <p:cNvPr id="358" name="Google Shape;358;p11"/>
          <p:cNvSpPr txBox="1"/>
          <p:nvPr/>
        </p:nvSpPr>
        <p:spPr>
          <a:xfrm>
            <a:off x="4462272" y="2121408"/>
            <a:ext cx="3209544" cy="3474720"/>
          </a:xfrm>
          <a:prstGeom prst="rect">
            <a:avLst/>
          </a:prstGeom>
          <a:noFill/>
          <a:ln>
            <a:noFill/>
          </a:ln>
        </p:spPr>
        <p:txBody>
          <a:bodyPr anchorCtr="0" anchor="ctr" bIns="45700" lIns="91425" spcFirstLastPara="1" rIns="91425" wrap="square" tIns="45700">
            <a:noAutofit/>
          </a:bodyPr>
          <a:lstStyle/>
          <a:p>
            <a:pPr indent="-311150" lvl="0" marL="457200" rtl="1" algn="r">
              <a:spcBef>
                <a:spcPts val="0"/>
              </a:spcBef>
              <a:spcAft>
                <a:spcPts val="0"/>
              </a:spcAft>
              <a:buClr>
                <a:schemeClr val="lt1"/>
              </a:buClr>
              <a:buSzPts val="1300"/>
              <a:buChar char="•"/>
            </a:pPr>
            <a:r>
              <a:rPr lang="en-US" sz="1300">
                <a:solidFill>
                  <a:schemeClr val="lt1"/>
                </a:solidFill>
              </a:rPr>
              <a:t>ניתוק SRV-BILLING ו-SRV-FS-01 מהרשת בלי כיבוי</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אימות על מכשיר הגיבוי אם שרד עותק שחזור</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בדיקת upload.aspx על WEB-PORTAL והסרתו</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הפעלת רישום שורות פקודה על שלושת השרתים</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החזרת לוג ה-proxy וכיסוי של WKS-OPS-03</a:t>
            </a:r>
            <a:endParaRPr sz="1300">
              <a:solidFill>
                <a:schemeClr val="lt1"/>
              </a:solidFill>
            </a:endParaRPr>
          </a:p>
        </p:txBody>
      </p:sp>
      <p:sp>
        <p:nvSpPr>
          <p:cNvPr id="359" name="Google Shape;359;p11"/>
          <p:cNvSpPr/>
          <p:nvPr/>
        </p:nvSpPr>
        <p:spPr>
          <a:xfrm>
            <a:off x="521208" y="1554480"/>
            <a:ext cx="3538728" cy="4206240"/>
          </a:xfrm>
          <a:prstGeom prst="roundRect">
            <a:avLst>
              <a:gd fmla="val 1034" name="adj"/>
            </a:avLst>
          </a:prstGeom>
          <a:solidFill>
            <a:srgbClr val="1E1912"/>
          </a:solidFill>
          <a:ln cap="flat" cmpd="sng" w="17775">
            <a:solidFill>
              <a:srgbClr val="E457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521208" y="1554480"/>
            <a:ext cx="3538728" cy="50292"/>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1"/>
          <p:cNvSpPr txBox="1"/>
          <p:nvPr/>
        </p:nvSpPr>
        <p:spPr>
          <a:xfrm>
            <a:off x="685800" y="1719072"/>
            <a:ext cx="3209544" cy="329184"/>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E4572E"/>
              </a:buClr>
              <a:buSzPts val="1500"/>
              <a:buFont typeface="Arial"/>
              <a:buNone/>
            </a:pPr>
            <a:r>
              <a:rPr b="1" lang="en-US" sz="1500">
                <a:solidFill>
                  <a:srgbClr val="E4572E"/>
                </a:solidFill>
                <a:latin typeface="Arial"/>
                <a:ea typeface="Arial"/>
                <a:cs typeface="Arial"/>
                <a:sym typeface="Arial"/>
              </a:rPr>
              <a:t>הנהלה ומשפטי</a:t>
            </a:r>
            <a:endParaRPr sz="1500">
              <a:solidFill>
                <a:schemeClr val="dk1"/>
              </a:solidFill>
              <a:latin typeface="Calibri"/>
              <a:ea typeface="Calibri"/>
              <a:cs typeface="Calibri"/>
              <a:sym typeface="Calibri"/>
            </a:endParaRPr>
          </a:p>
        </p:txBody>
      </p:sp>
      <p:sp>
        <p:nvSpPr>
          <p:cNvPr id="362" name="Google Shape;362;p11"/>
          <p:cNvSpPr txBox="1"/>
          <p:nvPr/>
        </p:nvSpPr>
        <p:spPr>
          <a:xfrm>
            <a:off x="685800" y="2121408"/>
            <a:ext cx="3209544" cy="3474720"/>
          </a:xfrm>
          <a:prstGeom prst="rect">
            <a:avLst/>
          </a:prstGeom>
          <a:noFill/>
          <a:ln>
            <a:noFill/>
          </a:ln>
        </p:spPr>
        <p:txBody>
          <a:bodyPr anchorCtr="0" anchor="ctr" bIns="45700" lIns="91425" spcFirstLastPara="1" rIns="91425" wrap="square" tIns="45700">
            <a:noAutofit/>
          </a:bodyPr>
          <a:lstStyle/>
          <a:p>
            <a:pPr indent="-311150" lvl="0" marL="457200" rtl="1" algn="r">
              <a:spcBef>
                <a:spcPts val="0"/>
              </a:spcBef>
              <a:spcAft>
                <a:spcPts val="0"/>
              </a:spcAft>
              <a:buClr>
                <a:schemeClr val="lt1"/>
              </a:buClr>
              <a:buSzPts val="1300"/>
              <a:buChar char="•"/>
            </a:pPr>
            <a:r>
              <a:rPr lang="en-US" sz="1300">
                <a:solidFill>
                  <a:schemeClr val="lt1"/>
                </a:solidFill>
              </a:rPr>
              <a:t>אכיפת MFA על כל אימות VPN ללא חריגים</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השבתה בפועל בתהליך העזיבה, לא רק סימון</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זמן תגובה מחייב להתראות גניבת אישורים</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תיעוד ברשת ה-OT ובחמשת הנכסים ללא EDR</a:t>
            </a:r>
            <a:endParaRPr sz="1300">
              <a:solidFill>
                <a:schemeClr val="lt1"/>
              </a:solidFill>
            </a:endParaRPr>
          </a:p>
          <a:p>
            <a:pPr indent="-311150" lvl="0" marL="457200" rtl="1" algn="r">
              <a:spcBef>
                <a:spcPts val="0"/>
              </a:spcBef>
              <a:spcAft>
                <a:spcPts val="0"/>
              </a:spcAft>
              <a:buClr>
                <a:schemeClr val="lt1"/>
              </a:buClr>
              <a:buSzPts val="1300"/>
              <a:buChar char="•"/>
            </a:pPr>
            <a:r>
              <a:rPr lang="en-US" sz="1300">
                <a:solidFill>
                  <a:schemeClr val="lt1"/>
                </a:solidFill>
              </a:rPr>
              <a:t>קביעת האחריות לחובת הדיווח על מידע שדלף</a:t>
            </a:r>
            <a:endParaRPr sz="1300">
              <a:solidFill>
                <a:schemeClr val="lt1"/>
              </a:solidFill>
            </a:endParaRPr>
          </a:p>
        </p:txBody>
      </p:sp>
      <p:sp>
        <p:nvSpPr>
          <p:cNvPr id="363" name="Google Shape;363;p11"/>
          <p:cNvSpPr txBox="1"/>
          <p:nvPr/>
        </p:nvSpPr>
        <p:spPr>
          <a:xfrm>
            <a:off x="640080" y="5943600"/>
            <a:ext cx="10881360" cy="36576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A69A8A"/>
              </a:buClr>
              <a:buSzPts val="1300"/>
              <a:buFont typeface="Arial"/>
              <a:buNone/>
            </a:pPr>
            <a:r>
              <a:t/>
            </a:r>
            <a:endParaRPr sz="1300">
              <a:solidFill>
                <a:srgbClr val="A69A8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0C09"/>
        </a:solidFill>
      </p:bgPr>
    </p:bg>
    <p:spTree>
      <p:nvGrpSpPr>
        <p:cNvPr id="368" name="Shape 368"/>
        <p:cNvGrpSpPr/>
        <p:nvPr/>
      </p:nvGrpSpPr>
      <p:grpSpPr>
        <a:xfrm>
          <a:off x="0" y="0"/>
          <a:ext cx="0" cy="0"/>
          <a:chOff x="0" y="0"/>
          <a:chExt cx="0" cy="0"/>
        </a:xfrm>
      </p:grpSpPr>
      <p:sp>
        <p:nvSpPr>
          <p:cNvPr id="369" name="Google Shape;369;p12"/>
          <p:cNvSpPr/>
          <p:nvPr/>
        </p:nvSpPr>
        <p:spPr>
          <a:xfrm>
            <a:off x="0" y="0"/>
            <a:ext cx="109728" cy="6858000"/>
          </a:xfrm>
          <a:prstGeom prst="rect">
            <a:avLst/>
          </a:prstGeom>
          <a:solidFill>
            <a:srgbClr val="E457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2"/>
          <p:cNvSpPr txBox="1"/>
          <p:nvPr/>
        </p:nvSpPr>
        <p:spPr>
          <a:xfrm>
            <a:off x="731520" y="2194560"/>
            <a:ext cx="10698480" cy="91440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F5EEE2"/>
              </a:buClr>
              <a:buSzPts val="4800"/>
              <a:buFont typeface="Arial"/>
              <a:buNone/>
            </a:pPr>
            <a:r>
              <a:rPr b="1" lang="en-US" sz="4800">
                <a:solidFill>
                  <a:srgbClr val="F5EEE2"/>
                </a:solidFill>
                <a:latin typeface="Arial"/>
                <a:ea typeface="Arial"/>
                <a:cs typeface="Arial"/>
                <a:sym typeface="Arial"/>
              </a:rPr>
              <a:t>שאלות </a:t>
            </a:r>
            <a:r>
              <a:rPr b="1" lang="en-US" sz="4800">
                <a:solidFill>
                  <a:srgbClr val="F5EEE2"/>
                </a:solidFill>
              </a:rPr>
              <a:t>נוספות</a:t>
            </a:r>
            <a:r>
              <a:rPr b="1" lang="en-US" sz="4800">
                <a:solidFill>
                  <a:srgbClr val="F5EEE2"/>
                </a:solidFill>
                <a:latin typeface="Arial"/>
                <a:ea typeface="Arial"/>
                <a:cs typeface="Arial"/>
                <a:sym typeface="Arial"/>
              </a:rPr>
              <a:t> לצוות המחקר? </a:t>
            </a:r>
            <a:endParaRPr sz="4800">
              <a:solidFill>
                <a:schemeClr val="dk1"/>
              </a:solidFill>
              <a:latin typeface="Calibri"/>
              <a:ea typeface="Calibri"/>
              <a:cs typeface="Calibri"/>
              <a:sym typeface="Calibri"/>
            </a:endParaRPr>
          </a:p>
        </p:txBody>
      </p:sp>
      <p:sp>
        <p:nvSpPr>
          <p:cNvPr id="371" name="Google Shape;371;p12"/>
          <p:cNvSpPr txBox="1"/>
          <p:nvPr/>
        </p:nvSpPr>
        <p:spPr>
          <a:xfrm>
            <a:off x="731520" y="3200400"/>
            <a:ext cx="10698480" cy="45720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rgbClr val="C4A98F"/>
              </a:buClr>
              <a:buSzPts val="1800"/>
              <a:buFont typeface="Arial"/>
              <a:buNone/>
            </a:pPr>
            <a:r>
              <a:rPr lang="en-US" sz="1800">
                <a:solidFill>
                  <a:srgbClr val="C4A98F"/>
                </a:solidFill>
                <a:latin typeface="Arial"/>
                <a:ea typeface="Arial"/>
                <a:cs typeface="Arial"/>
                <a:sym typeface="Arial"/>
              </a:rPr>
              <a:t>צוות A  ·  Meridian Energy Ltd</a:t>
            </a:r>
            <a:endParaRPr sz="1800">
              <a:solidFill>
                <a:schemeClr val="dk1"/>
              </a:solidFill>
              <a:latin typeface="Calibri"/>
              <a:ea typeface="Calibri"/>
              <a:cs typeface="Calibri"/>
              <a:sym typeface="Calibri"/>
            </a:endParaRPr>
          </a:p>
        </p:txBody>
      </p:sp>
      <p:sp>
        <p:nvSpPr>
          <p:cNvPr id="372" name="Google Shape;372;p12"/>
          <p:cNvSpPr txBox="1"/>
          <p:nvPr/>
        </p:nvSpPr>
        <p:spPr>
          <a:xfrm>
            <a:off x="731520" y="3794760"/>
            <a:ext cx="10698480" cy="457200"/>
          </a:xfrm>
          <a:prstGeom prst="rect">
            <a:avLst/>
          </a:prstGeom>
          <a:noFill/>
          <a:ln>
            <a:noFill/>
          </a:ln>
        </p:spPr>
        <p:txBody>
          <a:bodyPr anchorCtr="0" anchor="ctr" bIns="45700" lIns="91425" spcFirstLastPara="1" rIns="91425" wrap="square" tIns="45700">
            <a:noAutofit/>
          </a:bodyPr>
          <a:lstStyle/>
          <a:p>
            <a:pPr indent="0" lvl="0" marL="0" marR="0" rtl="1" algn="r">
              <a:spcBef>
                <a:spcPts val="0"/>
              </a:spcBef>
              <a:spcAft>
                <a:spcPts val="0"/>
              </a:spcAft>
              <a:buClr>
                <a:schemeClr val="dk1"/>
              </a:buClr>
              <a:buSzPts val="1500"/>
              <a:buFont typeface="Calibri"/>
              <a:buNone/>
            </a:pPr>
            <a:r>
              <a:t/>
            </a:r>
            <a:endParaRPr sz="15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ערכת נושא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2026-09-03T12:18:05Z</dcterms:created>
  <dc:creator>PptxGenJS</dc:creator>
</cp:coreProperties>
</file>