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CeDdsn2TFeF+qoXQ6jKiQ3oR7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שניות. מה החברה עושה, מה קיבלנו, מה ביקשו מאיתנו. לא להיכנס לממצאים. - Roee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לתת את התשובה כאן. מי שיוצא אחרי השקופית הזו צריך להיות מסוגל לתאר את האירוע. Roee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להגיד פעם אחת שהכל UTC ושה-winevent הומר. אחר כך לעבור על שש הפאזות בקצב, בלי לקרוא כל תווית. Shahar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זו השקופית שהפאנל יזכור. המספר הוא 5:20. לא לקרוא את כל חמש השורות, לעצור על 00:52 ועל 06:12. Shahar</a:t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הפאנל ישאל איך אתם יודעים. לענות כאן לפני שישאלו. לנקוב בצירוף ובשדה, לא בשם הכלי. Shahar</a:t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צוות שמראה רק מה שמצא נראה בר מזל. צוות שמראה מה פסל נראה שיטתי. להדגיש את 212.143.200.14 כי זו הייתה טעות שלנו שתפסנו. Roee</a:t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ההפרדה היא כל השקופית. פאנל שלא יבין מה מאומת יניח את הגרוע מבין השניים. Roee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השקופית הזו מנוקדת. אם מישהו ישאל למה כל הסיבות זהות, לענות שזה בדיוק הממצא: הבעיה אינה זמן חקירה אלא כיסוי תיעוד. Shahar</a:t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לא לקרוא מספרי טכניקות. המסר הוא היחס 11 מול 1, ואחריו שלושת הגילויים שאפשר לבנות מחר בבוקר בלי תקציב. Shahar</a:t>
            </a:r>
            <a:endParaRPr/>
          </a:p>
        </p:txBody>
      </p:sp>
      <p:sp>
        <p:nvSpPr>
          <p:cNvPr id="264" name="Google Shape;2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מנוקדת. חובה להביא שגיאה קונקרטית אחת לפחות, עם סוג השגיאה ואיך תפסנו אותה. Roee</a:t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לא לקרוא 16 שורות. להצביע על שלוש הראשונות בעמודת Tier 1 ולומר שאפשר לבצע אותן היום. Roee</a:t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להיות מוכנים לשלוש: האם אתם בטוחים שהמידע יצא, למה לא ידוע אם יש גיבוי, ולמה איש לא טיפל בהתראה של 00:52.</a:t>
            </a:r>
            <a:endParaRPr/>
          </a:p>
        </p:txBody>
      </p:sp>
      <p:sp>
        <p:nvSpPr>
          <p:cNvPr id="364" name="Google Shape;3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6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Meridian Energy Ltd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D9CFC7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D9CFC7"/>
                </a:solidFill>
                <a:latin typeface="Arial"/>
                <a:ea typeface="Arial"/>
                <a:cs typeface="Arial"/>
                <a:sym typeface="Arial"/>
              </a:rPr>
              <a:t>חקירת אירוע אבטחת מידע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31520" y="3108960"/>
            <a:ext cx="10698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BEB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9BEB4"/>
                </a:solidFill>
                <a:latin typeface="Arial"/>
                <a:ea typeface="Arial"/>
                <a:cs typeface="Arial"/>
                <a:sym typeface="Arial"/>
              </a:rPr>
              <a:t>מרידיאן היא חברה לשינוע ואספקת דלקים, כ-310 עובדים, מטה באשדוד ושני מסופי דלק בחיפה ובבאר שבע. המסופים פועלים 24/7</a:t>
            </a:r>
            <a:r>
              <a:rPr lang="en-US" sz="1600">
                <a:solidFill>
                  <a:srgbClr val="C9BEB4"/>
                </a:solidFill>
              </a:rPr>
              <a:t> </a:t>
            </a:r>
            <a:r>
              <a:rPr b="0" i="0" lang="en-US" sz="1600" u="none" cap="none" strike="noStrike">
                <a:solidFill>
                  <a:srgbClr val="C9BEB4"/>
                </a:solidFill>
                <a:latin typeface="Arial"/>
                <a:ea typeface="Arial"/>
                <a:cs typeface="Arial"/>
                <a:sym typeface="Arial"/>
              </a:rPr>
              <a:t>התבקשנו לקבוע מה קרה, מתי, אילו חשבונות ומערכות מעורבים, מה היקף הפגיעה, ומה לא ניתן לקבוע.</a:t>
            </a:r>
            <a:endParaRPr b="0" i="0" sz="1600" u="none" cap="none" strike="noStrike">
              <a:solidFill>
                <a:srgbClr val="C9BEB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BEB4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9BEB4"/>
                </a:solidFill>
              </a:rPr>
              <a:t>חשוב לציין, לא ניתן לנו שום מידע נוסף - הכל חקירה עצמית שלנו.</a:t>
            </a:r>
            <a:endParaRPr sz="1600">
              <a:solidFill>
                <a:srgbClr val="C9BEB4"/>
              </a:solidFill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F8279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שורה תחתונה, מראש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מה קרה, בשלושה משפטים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40080" y="1600200"/>
            <a:ext cx="10881360" cy="1078992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1466576" y="1600200"/>
            <a:ext cx="54864" cy="1078992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371600" y="1801368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חשבון של עובד שעזב ביוני 2025, ללא MFA, שימש להתחברות VPN מרומניה ב-13/08 בשעה 22:41.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898648"/>
            <a:ext cx="10881360" cy="1078992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1466576" y="2898648"/>
            <a:ext cx="54864" cy="10789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31729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371600" y="3099816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בתוך שמונה שעות נקראו 3.20GB משרת הקבצים, הועלו 1.32GB לענן דרך קישור ללא תפוגה, נמחקה עבודת גיבוי, ו-9,412 קבצים בשרת החיוב הוצפנו.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4197096"/>
            <a:ext cx="10881360" cy="1078992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1466576" y="4197096"/>
            <a:ext cx="54864" cy="1078992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77240" y="44714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371600" y="4398264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האירוע אינו בלום. הקישור פתוח, לא ידוע אם קיים גיבוי, ונוצרה דרך גישה שנייה שלא נסגרה.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כל השעות במצגת ב-UTC.  winevent מדווח ב-UTC+3 והומר ידנית.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ציר זמן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התקיפה לפי סדר, כל השעות ב-UTC, עם טכניקת MITRE לכל שלב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>
            <a:off x="960120" y="3703320"/>
            <a:ext cx="10241280" cy="0"/>
          </a:xfrm>
          <a:prstGeom prst="straightConnector1">
            <a:avLst/>
          </a:prstGeom>
          <a:noFill/>
          <a:ln cap="flat" cmpd="sng" w="25400">
            <a:solidFill>
              <a:srgbClr val="BEB6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11132820" y="3634740"/>
            <a:ext cx="137160" cy="13716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3"/>
          <p:cNvCxnSpPr/>
          <p:nvPr/>
        </p:nvCxnSpPr>
        <p:spPr>
          <a:xfrm>
            <a:off x="11201400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8B5A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 txBox="1"/>
          <p:nvPr/>
        </p:nvSpPr>
        <p:spPr>
          <a:xfrm>
            <a:off x="10634472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B5A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A2B"/>
                </a:solidFill>
                <a:latin typeface="Arial"/>
                <a:ea typeface="Arial"/>
                <a:cs typeface="Arial"/>
                <a:sym typeface="Arial"/>
              </a:rPr>
              <a:t>22:41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0543032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התחברות VPN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10460736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T1078.002 · d.aviram · רומניה · ללא MFA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0201795" y="3634740"/>
            <a:ext cx="137160" cy="13716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3"/>
          <p:cNvCxnSpPr/>
          <p:nvPr/>
        </p:nvCxnSpPr>
        <p:spPr>
          <a:xfrm>
            <a:off x="10270375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 txBox="1"/>
          <p:nvPr/>
        </p:nvSpPr>
        <p:spPr>
          <a:xfrm>
            <a:off x="9703447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6914"/>
                </a:solidFill>
                <a:latin typeface="Arial"/>
                <a:ea typeface="Arial"/>
                <a:cs typeface="Arial"/>
                <a:sym typeface="Arial"/>
              </a:rPr>
              <a:t>22:58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9612007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מיפוי דומיין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9529711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T1087.002 · T1018 · פקודות מובנות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270769" y="3634740"/>
            <a:ext cx="137160" cy="13716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3"/>
          <p:cNvCxnSpPr/>
          <p:nvPr/>
        </p:nvCxnSpPr>
        <p:spPr>
          <a:xfrm>
            <a:off x="9339349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 txBox="1"/>
          <p:nvPr/>
        </p:nvSpPr>
        <p:spPr>
          <a:xfrm>
            <a:off x="8772421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6914"/>
                </a:solidFill>
                <a:latin typeface="Arial"/>
                <a:ea typeface="Arial"/>
                <a:cs typeface="Arial"/>
                <a:sym typeface="Arial"/>
              </a:rPr>
              <a:t>23:30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8680981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העלאה ל-upload.aspx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8598685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T1505.003 · POST · 200 · WebShell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339744" y="3634740"/>
            <a:ext cx="137160" cy="13716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3"/>
          <p:cNvCxnSpPr/>
          <p:nvPr/>
        </p:nvCxnSpPr>
        <p:spPr>
          <a:xfrm>
            <a:off x="8408324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A5C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 txBox="1"/>
          <p:nvPr/>
        </p:nvSpPr>
        <p:spPr>
          <a:xfrm>
            <a:off x="7841396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7A5C9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5C99"/>
                </a:solidFill>
                <a:latin typeface="Arial"/>
                <a:ea typeface="Arial"/>
                <a:cs typeface="Arial"/>
                <a:sym typeface="Arial"/>
              </a:rPr>
              <a:t>00:14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7749956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Kerberoasting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7667660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63 בקשות ל-</a:t>
            </a:r>
            <a:r>
              <a:rPr lang="en-US" sz="1000">
                <a:solidFill>
                  <a:srgbClr val="6B6B6B"/>
                </a:solidFill>
              </a:rPr>
              <a:t>19</a:t>
            </a: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שירותים</a:t>
            </a:r>
            <a:endParaRPr b="0" i="0" sz="10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6B6B"/>
                </a:solidFill>
              </a:rPr>
              <a:t>T1558.003</a:t>
            </a:r>
            <a:endParaRPr sz="1000">
              <a:solidFill>
                <a:srgbClr val="6B6B6B"/>
              </a:solidFill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408718" y="3634740"/>
            <a:ext cx="137160" cy="13716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3"/>
          <p:cNvCxnSpPr/>
          <p:nvPr/>
        </p:nvCxnSpPr>
        <p:spPr>
          <a:xfrm>
            <a:off x="7477298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A5C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 txBox="1"/>
          <p:nvPr/>
        </p:nvSpPr>
        <p:spPr>
          <a:xfrm>
            <a:off x="6910370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7A5C9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A5C99"/>
                </a:solidFill>
                <a:latin typeface="Arial"/>
                <a:ea typeface="Arial"/>
                <a:cs typeface="Arial"/>
                <a:sym typeface="Arial"/>
              </a:rPr>
              <a:t>00:52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818930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התראת Defender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6736634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T1003 · </a:t>
            </a:r>
            <a:r>
              <a:rPr lang="en-US" sz="1000">
                <a:solidFill>
                  <a:srgbClr val="6B6B6B"/>
                </a:solidFill>
              </a:rPr>
              <a:t>קובץ חילוץ סיסמאות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77693" y="3634740"/>
            <a:ext cx="137160" cy="13716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3"/>
          <p:cNvCxnSpPr/>
          <p:nvPr/>
        </p:nvCxnSpPr>
        <p:spPr>
          <a:xfrm>
            <a:off x="6546273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 txBox="1"/>
          <p:nvPr/>
        </p:nvSpPr>
        <p:spPr>
          <a:xfrm>
            <a:off x="5979345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02:20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887905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RDP לשרת הקבצים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805609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T1021.001 · y.shaked מ-WKS-OPS-03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546667" y="3634740"/>
            <a:ext cx="137160" cy="13716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3"/>
          <p:cNvCxnSpPr/>
          <p:nvPr/>
        </p:nvCxnSpPr>
        <p:spPr>
          <a:xfrm>
            <a:off x="5615247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 txBox="1"/>
          <p:nvPr/>
        </p:nvSpPr>
        <p:spPr>
          <a:xfrm>
            <a:off x="5048319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03:05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4956879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קריאת 840 קבצים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874583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T1039 · 3.20GB · עד 03:54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15642" y="3634740"/>
            <a:ext cx="137160" cy="137160"/>
          </a:xfrm>
          <a:prstGeom prst="ellipse">
            <a:avLst/>
          </a:prstGeom>
          <a:solidFill>
            <a:srgbClr val="1F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3"/>
          <p:cNvCxnSpPr/>
          <p:nvPr/>
        </p:nvCxnSpPr>
        <p:spPr>
          <a:xfrm>
            <a:off x="4684222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1F7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 txBox="1"/>
          <p:nvPr/>
        </p:nvSpPr>
        <p:spPr>
          <a:xfrm>
            <a:off x="4117294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F7A6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7A6B"/>
                </a:solidFill>
                <a:latin typeface="Arial"/>
                <a:ea typeface="Arial"/>
                <a:cs typeface="Arial"/>
                <a:sym typeface="Arial"/>
              </a:rPr>
              <a:t>04:48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4025854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שיתוף ענן והעלאה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943558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T1560.001 · T1567.002 · 1.32GB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84616" y="3634740"/>
            <a:ext cx="137160" cy="137160"/>
          </a:xfrm>
          <a:prstGeom prst="ellipse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3"/>
          <p:cNvCxnSpPr/>
          <p:nvPr/>
        </p:nvCxnSpPr>
        <p:spPr>
          <a:xfrm>
            <a:off x="3753196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 txBox="1"/>
          <p:nvPr/>
        </p:nvSpPr>
        <p:spPr>
          <a:xfrm>
            <a:off x="3186268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05:30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3094828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מחיקת הגיבוי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3012532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T1490 · actor: d.aviram ·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53591" y="3634740"/>
            <a:ext cx="137160" cy="137160"/>
          </a:xfrm>
          <a:prstGeom prst="ellipse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3"/>
          <p:cNvCxnSpPr/>
          <p:nvPr/>
        </p:nvCxnSpPr>
        <p:spPr>
          <a:xfrm>
            <a:off x="2822171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 txBox="1"/>
          <p:nvPr/>
        </p:nvSpPr>
        <p:spPr>
          <a:xfrm>
            <a:off x="2255243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06:12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163803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הצפנת 9,412 קבצים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2081507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T1486 · SRV-BILLING · עד 06:38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822565" y="3634740"/>
            <a:ext cx="137160" cy="137160"/>
          </a:xfrm>
          <a:prstGeom prst="ellipse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3"/>
          <p:cNvCxnSpPr/>
          <p:nvPr/>
        </p:nvCxnSpPr>
        <p:spPr>
          <a:xfrm>
            <a:off x="1891145" y="3429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 txBox="1"/>
          <p:nvPr/>
        </p:nvSpPr>
        <p:spPr>
          <a:xfrm>
            <a:off x="1324217" y="2404872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06:40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232777" y="2660904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פתק כופר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50481" y="297180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T1486 · קובץ HOW_TO_RESTORE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91540" y="3634740"/>
            <a:ext cx="137160" cy="137160"/>
          </a:xfrm>
          <a:prstGeom prst="ellipse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960120" y="4014216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393192" y="4343400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07:04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01752" y="4599432"/>
            <a:ext cx="13167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503 ללקוחות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19456" y="49103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תוצאה · הפורטל מפסיק להגיב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1292840" y="5806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13/08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457200" y="5806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14/08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שורות שמקורן ב-winevent הופחתו בשלוש שעות מ-UTC+3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חלון הזמן הקריטי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היכן זה הוכרע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40080" y="1481328"/>
            <a:ext cx="10881360" cy="1371600"/>
          </a:xfrm>
          <a:prstGeom prst="roundRect">
            <a:avLst>
              <a:gd fmla="val 3333" name="adj"/>
            </a:avLst>
          </a:prstGeom>
          <a:solidFill>
            <a:srgbClr val="F7E9E7"/>
          </a:solidFill>
          <a:ln cap="flat" cmpd="sng" w="19050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005840" y="1664208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5 שעות ו-20 דקות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05840" y="2212848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בין התראת ה-Defender ב-00:52 לבין השינוי הראשון של שם קובץ ב-06:12. בכל הזמן הזה בלימה עוד הייתה אפשרית ושום פעולה לא ננקטה.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1475720" y="3163824"/>
            <a:ext cx="182880" cy="18288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424160" y="31089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00:52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937760" y="3108960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Defender מזהה כלי לגניבת אישורים על WKS-OPS-03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40080" y="312724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התרא</a:t>
            </a:r>
            <a:r>
              <a:rPr lang="en-US">
                <a:solidFill>
                  <a:srgbClr val="6B6B6B"/>
                </a:solidFill>
              </a:rPr>
              <a:t>ת Windows על קובץ זדוני</a:t>
            </a: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1475720" y="3767328"/>
            <a:ext cx="182880" cy="1828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424160" y="371246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02:20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4937760" y="3712464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תנועה רוחבית ל-SRV-FS-01 עם חשבון שני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40080" y="37307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כאן עוד אפשר היה לנתק ולעצור הכל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1475720" y="4370832"/>
            <a:ext cx="182880" cy="1828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0424160" y="431596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F7A6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7A6B"/>
                </a:solidFill>
                <a:latin typeface="Arial"/>
                <a:ea typeface="Arial"/>
                <a:cs typeface="Arial"/>
                <a:sym typeface="Arial"/>
              </a:rPr>
              <a:t>04:48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937760" y="4315968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יצירת שיתוף ענן ללא תפוגה והעלאת 1.32GB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40080" y="433425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מכאן והלאה </a:t>
            </a:r>
            <a:r>
              <a:rPr lang="en-US">
                <a:solidFill>
                  <a:srgbClr val="6B6B6B"/>
                </a:solidFill>
              </a:rPr>
              <a:t>הו</a:t>
            </a: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דלף, כבר לא הפיך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1475720" y="4974336"/>
            <a:ext cx="182880" cy="18288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0424160" y="491947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6914"/>
                </a:solidFill>
                <a:latin typeface="Arial"/>
                <a:ea typeface="Arial"/>
                <a:cs typeface="Arial"/>
                <a:sym typeface="Arial"/>
              </a:rPr>
              <a:t>05:30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937760" y="4919472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מחיקת עבודת הגיבוי בידי d.aviram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40080" y="49377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הנקודה שממנה גם השחזור מוטל בספק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475720" y="5577840"/>
            <a:ext cx="182880" cy="18288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0424160" y="55229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06:12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937760" y="5522976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תחילת ההצפנה של 9,412 קבצים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40080" y="55412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הנזק העסקי מתחיל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איך מצאנו את זה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שלוש התנועות שפתחו את התיק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640080" y="1572768"/>
            <a:ext cx="10881360" cy="1243584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1466576" y="1572768"/>
            <a:ext cx="54864" cy="12435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914400" y="171907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ההמרה של אזור הזמן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914400" y="2066544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winevent מדווח ב-UTC+3 וכל שאר המקורות ב-UTC. לפני ההמרה, ההרצה של 7z הופיעה לפני קריאת הקבצים שהיא דחסה. אחרי הפחתת שלוש שעות מכל שורות winevent, השרשרת מתיישרת ונפתחת.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40080" y="3035808"/>
            <a:ext cx="10881360" cy="1243584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11466576" y="3035808"/>
            <a:ext cx="54864" cy="1243584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914400" y="318211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5A2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A2B"/>
                </a:solidFill>
                <a:latin typeface="Arial"/>
                <a:ea typeface="Arial"/>
                <a:cs typeface="Arial"/>
                <a:sym typeface="Arial"/>
              </a:rPr>
              <a:t>הצלבה בין חשבון לשעת סיום העסקה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914400" y="3529584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החיפוש התחיל מ-lookup של identity, בחיפוש חשבונות עם termination_date. ההצלבה מול vpn נתנה התחברות מוצלחת אחת מרומניה, ללא MFA, מחשבון שסיים ביוני 2025.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40080" y="4498848"/>
            <a:ext cx="10881360" cy="1243584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1466576" y="4498848"/>
            <a:ext cx="54864" cy="1243584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914400" y="464515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צירוף השחקן לרשומת הגיבוי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914400" y="4992624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רשומת המחיקה נושאת actor=d.aviram ולא את חשבון השירות. שש דקות קודם לכן יש 4624 של אותו חשבון אל SRV-BKP-01. זה מה שהפך את המחיקה מתקלה לפעולה מכוונת.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מה פסלנו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וכיצד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6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6"/>
          <p:cNvSpPr/>
          <p:nvPr/>
        </p:nvSpPr>
        <p:spPr>
          <a:xfrm>
            <a:off x="6263640" y="1554480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1466576" y="1554480"/>
            <a:ext cx="54864" cy="12984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428232" y="1682496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212.143.200.14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428232" y="1993392"/>
            <a:ext cx="48921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היה חש</a:t>
            </a:r>
            <a:r>
              <a:rPr lang="en-US" sz="13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ו</a:t>
            </a:r>
            <a:r>
              <a:rPr i="0" lang="en-US" sz="13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ד </a:t>
            </a:r>
            <a:r>
              <a:rPr lang="en-US" sz="13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בעבר </a:t>
            </a:r>
            <a:r>
              <a:rPr i="0" lang="en-US" sz="13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שאליו יצאו הקבצים. הוא מופיע בכל 702 רשומות הענן לאורך 90 יום, כולל פעילות רגילה במאי, והוא המקור של בדיקת התקינות השגרתית. זו כתובת היציאה שלנו.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0080" y="1554480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843016" y="1554480"/>
            <a:ext cx="54864" cy="12984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804672" y="1682496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F7A6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7A6B"/>
                </a:solidFill>
                <a:latin typeface="Arial"/>
                <a:ea typeface="Arial"/>
                <a:cs typeface="Arial"/>
                <a:sym typeface="Arial"/>
              </a:rPr>
              <a:t>svc_backup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804672" y="1993392"/>
            <a:ext cx="4892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חשבון שירות ללא MFA שרץ מדי לילה. רשומת המחיקה ב-05:30 נושאת actor אחר לגמרי. החשבון לא נגע </a:t>
            </a:r>
            <a:r>
              <a:rPr lang="en-US" sz="12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במחיקה, מה שמוסיף לחשד</a:t>
            </a: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263640" y="3044952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1466576" y="3044952"/>
            <a:ext cx="54864" cy="12984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6428232" y="317296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F7A6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7A6B"/>
                </a:solidFill>
                <a:latin typeface="Arial"/>
                <a:ea typeface="Arial"/>
                <a:cs typeface="Arial"/>
                <a:sym typeface="Arial"/>
              </a:rPr>
              <a:t>svc_scada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6428232" y="3483864"/>
            <a:ext cx="4892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חשבון שירות ללא MFA. קריאות ה-Historian שלו רצות בין 40 ל-61 בחצי שעה, גם בלילה שלפני התקיפה וגם בלילה שאחריה, וגם </a:t>
            </a:r>
            <a:r>
              <a:rPr lang="en-US" sz="12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בשבוע שלפניו</a:t>
            </a: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. בייסליין.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0080" y="3044952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5843016" y="3044952"/>
            <a:ext cx="54864" cy="12984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804672" y="317296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6914"/>
                </a:solidFill>
                <a:latin typeface="Arial"/>
                <a:ea typeface="Arial"/>
                <a:cs typeface="Arial"/>
                <a:sym typeface="Arial"/>
              </a:rPr>
              <a:t>m.aharon ו-p.weiss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804672" y="3483864"/>
            <a:ext cx="4892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שניהם ללא MFA, אחד מהם terminated. אף אחד מהם אינו מופיע בחלון האירוע.</a:t>
            </a:r>
            <a:endParaRPr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263640" y="4535424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1466576" y="4535424"/>
            <a:ext cx="54864" cy="12984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6428232" y="466344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6914"/>
                </a:solidFill>
                <a:latin typeface="Arial"/>
                <a:ea typeface="Arial"/>
                <a:cs typeface="Arial"/>
                <a:sym typeface="Arial"/>
              </a:rPr>
              <a:t>upgradeagent.exe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428232" y="4974336"/>
            <a:ext cx="4892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48 הרצות ב-SYSTEM בין 01:30 ל-01:42, בתוך חלון התקיפה. פריסת עדכון מתוזמנת על כל העמדות, לא קשורה.</a:t>
            </a:r>
            <a:endParaRPr i="0" sz="1200" u="none" cap="none" strike="noStrike">
              <a:solidFill>
                <a:srgbClr val="44444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קרה גם בעבר בפעמיים נפרדות.</a:t>
            </a:r>
            <a:endParaRPr sz="1200">
              <a:solidFill>
                <a:srgbClr val="44444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40080" y="4535424"/>
            <a:ext cx="5257800" cy="1298448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843016" y="4535424"/>
            <a:ext cx="54864" cy="1298448"/>
          </a:xfrm>
          <a:prstGeom prst="rect">
            <a:avLst/>
          </a:prstGeom>
          <a:solidFill>
            <a:srgbClr val="7A5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04672" y="466344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A5C9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A5C99"/>
                </a:solidFill>
                <a:latin typeface="Arial"/>
                <a:ea typeface="Arial"/>
                <a:cs typeface="Arial"/>
                <a:sym typeface="Arial"/>
              </a:rPr>
              <a:t>התחברויות f.nagar מקפריסין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804672" y="4974336"/>
            <a:ext cx="4892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שבע התחברויות VPN ממדינה זרה ביוני. כולן עם totp,  ברצף יומי. נסיעת ע</a:t>
            </a:r>
            <a:r>
              <a:rPr lang="en-US" sz="1300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בו</a:t>
            </a:r>
            <a:r>
              <a:rPr i="0" lang="en-US" sz="1300" u="none" cap="none" strike="noStrike">
                <a:solidFill>
                  <a:srgbClr val="444444"/>
                </a:solidFill>
                <a:latin typeface="Comic Sans MS"/>
                <a:ea typeface="Comic Sans MS"/>
                <a:cs typeface="Comic Sans MS"/>
                <a:sym typeface="Comic Sans MS"/>
              </a:rPr>
              <a:t>דה.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היקף והשפעה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מה נפגע, מאומת מול פוטנציאלי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7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fmla="val 889" name="adj"/>
            </a:avLst>
          </a:prstGeom>
          <a:solidFill>
            <a:srgbClr val="FFFFFF"/>
          </a:solidFill>
          <a:ln cap="flat" cmpd="sng" w="17775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263640" y="1554480"/>
            <a:ext cx="5257800" cy="50292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6428232" y="1719072"/>
            <a:ext cx="4928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CONFIRMED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428232" y="2121408"/>
            <a:ext cx="4928616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9,412 קבצים הוצפנו על SRV-BILLING בין 06:12 ל-06:38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840 קבצים בהיקף 3.20GB נקראו מ-SRV-FS-01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1.32GB הועלו לענן בארבעה ארכיוני 7z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קישור שיתוף פתוח ללא תפוגה נוצר ב-04:48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עבודת גיבוי סומנה DELETED בידי חשבון משתמש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ארבעה מתוך חמישה נכסי crown-jewel נגעו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שני חשבונות נוצלו, עמדה אחת שימשה כבסיס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הפורטל מחזיר 503 מ-07:04 ועד סוף הנתונים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0080" y="1554480"/>
            <a:ext cx="5257800" cy="4114800"/>
          </a:xfrm>
          <a:prstGeom prst="roundRect">
            <a:avLst>
              <a:gd fmla="val 889" name="adj"/>
            </a:avLst>
          </a:prstGeom>
          <a:solidFill>
            <a:srgbClr val="FFFFFF"/>
          </a:solidFill>
          <a:ln cap="flat" cmpd="sng" w="17775">
            <a:solidFill>
              <a:srgbClr val="6B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40080" y="1554480"/>
            <a:ext cx="5257800" cy="5029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04672" y="1719072"/>
            <a:ext cx="4928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POTENTIAL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804672" y="2121408"/>
            <a:ext cx="4928616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תוכן הארכיונים אינו ידוע. שמות הקבצים אינם נרשמים בלוג הענן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לא ידוע אם שרד עותק גיבוי בר שחזור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לא ידוע אם ה-WebShell הורץ, ולכן ייתכן ערוץ גישה שני פתוח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לא ניתן לשלול פעילות ברשת ה-OT, מכיוון שאין שם כל תיעוד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לא ידוע אילו אישורים נוספים נגנבו ב-Kerberoasting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מה לא ניתן לקבוע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ולמה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8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8"/>
          <p:cNvSpPr/>
          <p:nvPr/>
        </p:nvSpPr>
        <p:spPr>
          <a:xfrm>
            <a:off x="640080" y="1536192"/>
            <a:ext cx="10881360" cy="329184"/>
          </a:xfrm>
          <a:prstGeom prst="rect">
            <a:avLst/>
          </a:prstGeom>
          <a:solidFill>
            <a:srgbClr val="EDE8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8503920" y="15544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הפריט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583680" y="15544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הסיבה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731520" y="1554480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מה זה אומר לקורא ואיך סוגרים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40080" y="1911096"/>
            <a:ext cx="10881360" cy="62179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8503920" y="1956816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האם נמחק גיבוי בפועל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6583680" y="195681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731520" y="1956816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הרשומה מציגה 0 קבצים ו-0GB. אי אפשר להסתמך לשני הכיוונים. סגירה: בדיקה על מכשיר הגיבוי עצמו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8503920" y="2615184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איך הושגו האישורים של d.aviram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6583680" y="2615184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731520" y="2615184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אין ולו 4625 אחד בכל 90 הימים. סגירה: לוגים של ספק ה-VPN ובדיקת דלף אישורים חיצוני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40080" y="3227832"/>
            <a:ext cx="10881360" cy="62179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8503920" y="327355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1A"/>
                </a:solidFill>
              </a:rPr>
              <a:t>מה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ה-WebShell הו</a:t>
            </a:r>
            <a:r>
              <a:rPr b="1" lang="en-US" sz="1300">
                <a:solidFill>
                  <a:srgbClr val="1A1A1A"/>
                </a:solidFill>
              </a:rPr>
              <a:t>ציא בפועל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6583680" y="327355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731520" y="3273552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POST אחד ו</a:t>
            </a:r>
            <a:r>
              <a:rPr lang="en-US" sz="1200">
                <a:solidFill>
                  <a:srgbClr val="444444"/>
                </a:solidFill>
              </a:rPr>
              <a:t>11 משיכות tmp/session</a:t>
            </a: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 סגירה: בדיקת WEB-PORTAL על המכונה עצמה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8503920" y="3931920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אילו קבצים דלפו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6583680" y="393192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31520" y="3931920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לוג הענן שומר שמות ארכיון וגודל, לא תוכן. סגירה: הצלבה מול ספק הענן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40080" y="4544568"/>
            <a:ext cx="10881360" cy="62179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8503920" y="4590288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מה עברה התעבורה היוצאת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6583680" y="459028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731520" y="4590288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לוג ה-proxy נעצר שמונה שעות לפני הכניסה ו-WKS-OPS-03 אינו מופיע בו כלל. סגירה: לוגים של חומת האש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8503920" y="5248656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מה הורץ על השרתים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6583680" y="524865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אין מקור נתונים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731520" y="5248656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רישום שורות פקודה מופעל בעמדות בלבד. סגירה: הפעלה על השרתים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6B6B6B"/>
                </a:solidFill>
                <a:latin typeface="Comic Sans MS"/>
                <a:ea typeface="Comic Sans MS"/>
                <a:cs typeface="Comic Sans MS"/>
                <a:sym typeface="Comic Sans MS"/>
              </a:rPr>
              <a:t>ארבע הסיבות המותרות: אין מקור נתונים · אין גישה · מחוץ לסמכותנו · חוסר זמן. כל השורות כאן מסוג ראשון, וזו הנקודה.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MITRE ATT&amp;CK ופערי גילוי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אילו שלבים לא ייצרו שום התראה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9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9"/>
          <p:cNvSpPr/>
          <p:nvPr/>
        </p:nvSpPr>
        <p:spPr>
          <a:xfrm>
            <a:off x="6131080" y="1572775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1465181" y="1572775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7912238" y="1695622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כניסה עם חשבון תקף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6224809" y="1688794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T1078.002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6224825" y="1709272"/>
            <a:ext cx="581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128"/>
              <a:buFont typeface="Arial"/>
              <a:buNone/>
            </a:pPr>
            <a:r>
              <a:t/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131080" y="2391759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11465181" y="2391759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7912238" y="2514607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WebShell בשרת ה-web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6224848" y="2541906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T1505.003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6224825" y="2528256"/>
            <a:ext cx="581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128"/>
              <a:buFont typeface="Arial"/>
              <a:buNone/>
            </a:pPr>
            <a:r>
              <a:t/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131080" y="3210743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1465181" y="3210743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7912238" y="3333591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מיפוי דומיין וקבוצות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6224848" y="3360890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T1087 · T1018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6224825" y="3347240"/>
            <a:ext cx="581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128"/>
              <a:buFont typeface="Arial"/>
              <a:buNone/>
            </a:pPr>
            <a:r>
              <a:t/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31080" y="4029727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1465181" y="4029727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7912238" y="4152575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Kerberoasting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6224848" y="4179874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T1558.003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224825" y="4166225"/>
            <a:ext cx="581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128"/>
              <a:buFont typeface="Arial"/>
              <a:buNone/>
            </a:pPr>
            <a:r>
              <a:t/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131080" y="4848711"/>
            <a:ext cx="5390400" cy="682200"/>
          </a:xfrm>
          <a:prstGeom prst="rect">
            <a:avLst/>
          </a:prstGeom>
          <a:solidFill>
            <a:srgbClr val="E8F0E6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11465181" y="4848711"/>
            <a:ext cx="56100" cy="682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7912238" y="4971559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הרצת כלי גניבת אישורים - זוהה ע"י Wi</a:t>
            </a:r>
            <a:r>
              <a:rPr b="1" lang="en-US" sz="1333">
                <a:solidFill>
                  <a:srgbClr val="1A1A1A"/>
                </a:solidFill>
              </a:rPr>
              <a:t>ndows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6248261" y="4998877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T1003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131080" y="5667696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11465181" y="5667696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7912238" y="5790543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תנועה רוחבית ב-RDP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6248299" y="5865536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T1021.001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65750" y="1572775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699852" y="1572775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2146909" y="1695622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קריאה המונית משיתופים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443871" y="1709263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T1039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65750" y="2391759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699852" y="2391759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2146909" y="2514607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דחיסה עם 7-Zip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443897" y="2541906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T1560.001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65750" y="3210743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699852" y="3210743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2146909" y="3333591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העלאה לענן דרך שיתוף פתוח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443897" y="3360890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T1567.002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65750" y="4029727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5699852" y="4029727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2146909" y="4152575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מחיקת גיבוי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443897" y="4179874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T1490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65750" y="4848711"/>
            <a:ext cx="5390400" cy="682200"/>
          </a:xfrm>
          <a:prstGeom prst="rect">
            <a:avLst/>
          </a:prstGeom>
          <a:solidFill>
            <a:srgbClr val="F6EDEC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699852" y="4848711"/>
            <a:ext cx="56100" cy="682200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3725" lIns="93725" spcFirstLastPara="1" rIns="93725" wrap="square" tIns="9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2146909" y="4971559"/>
            <a:ext cx="3468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הצפנה ופתק כופר</a:t>
            </a:r>
            <a:endParaRPr b="0" i="0" sz="1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443897" y="5046533"/>
            <a:ext cx="1031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28"/>
              <a:buFont typeface="Arial"/>
              <a:buNone/>
            </a:pPr>
            <a:r>
              <a:rPr b="0" i="0" lang="en-US" sz="1128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T1486</a:t>
            </a:r>
            <a:endParaRPr b="0" i="0" sz="11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איך השתמשנו ב-AI ומה הוא טעה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שקופית חובה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0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0"/>
          <p:cNvSpPr/>
          <p:nvPr/>
        </p:nvSpPr>
        <p:spPr>
          <a:xfrm>
            <a:off x="6263640" y="1554480"/>
            <a:ext cx="5257800" cy="3840480"/>
          </a:xfrm>
          <a:prstGeom prst="roundRect">
            <a:avLst>
              <a:gd fmla="val 952" name="adj"/>
            </a:avLst>
          </a:prstGeom>
          <a:solidFill>
            <a:srgbClr val="FFFFFF"/>
          </a:solidFill>
          <a:ln cap="flat" cmpd="sng" w="177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263640" y="1554480"/>
            <a:ext cx="5257800" cy="502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6428232" y="1719072"/>
            <a:ext cx="4928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היכן זה עזר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6428232" y="2121408"/>
            <a:ext cx="4928616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כתיבת שאילתות אחרי שסיפקנו את שמות השדות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סיכום ראשוני של מקורות לוג לפני אימות ידני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ניסוח פסקאות מתוך ממצאים שכבר אומתו</a:t>
            </a:r>
            <a:endParaRPr i="0" sz="1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i="0" lang="en-US" sz="1300" u="none" cap="none" strike="noStrike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הצעות למה לבדוק הלאה, לא מסקנות</a:t>
            </a:r>
            <a:endParaRPr i="0" sz="1300" u="none" cap="none" strike="noStrike">
              <a:solidFill>
                <a:srgbClr val="1A1A1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mic Sans MS"/>
              <a:buChar char="•"/>
            </a:pPr>
            <a:r>
              <a:rPr lang="en-US" sz="1300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הבנה של ציר הזמן וחיבור הנקודות</a:t>
            </a:r>
            <a:endParaRPr sz="1300">
              <a:solidFill>
                <a:srgbClr val="1A1A1A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40080" y="1554480"/>
            <a:ext cx="5257800" cy="3840480"/>
          </a:xfrm>
          <a:prstGeom prst="roundRect">
            <a:avLst>
              <a:gd fmla="val 952" name="adj"/>
            </a:avLst>
          </a:prstGeom>
          <a:solidFill>
            <a:srgbClr val="FFFFFF"/>
          </a:solidFill>
          <a:ln cap="flat" cmpd="sng" w="17775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40080" y="1554480"/>
            <a:ext cx="5257800" cy="50292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804672" y="1719072"/>
            <a:ext cx="4928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היכן זה נכשל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804672" y="2121408"/>
            <a:ext cx="4928616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סוג entity: המודל אישר את ההנחה ש-212.143.200.14 היא כתובת התוקף. האימות היה stats count by src_ip על cloudaudit, שהחזיר 702 מתוך 702 רשומות מאותה כתובת לאורך 90 יום, כולל פעילות משתמשים רגילה. ההנחה נפסלה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4615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סוג time zone: אירוע ה-upload.aspx נרשם כ-11:30 ונמצא בפועל ב-23:30 UTC, מה ששינה את סדר האירועים מול ההתחברות ל-VPN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365760" y="2926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D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3DDD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1097280" y="310896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המלצות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1097280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לפי רמת סמכות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1"/>
          <p:cNvCxnSpPr/>
          <p:nvPr/>
        </p:nvCxnSpPr>
        <p:spPr>
          <a:xfrm>
            <a:off x="548640" y="120700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1"/>
          <p:cNvSpPr/>
          <p:nvPr/>
        </p:nvSpPr>
        <p:spPr>
          <a:xfrm>
            <a:off x="8074152" y="1554480"/>
            <a:ext cx="3538728" cy="4206240"/>
          </a:xfrm>
          <a:prstGeom prst="roundRect">
            <a:avLst>
              <a:gd fmla="val 1034" name="adj"/>
            </a:avLst>
          </a:prstGeom>
          <a:solidFill>
            <a:srgbClr val="FFFFFF"/>
          </a:solidFill>
          <a:ln cap="flat" cmpd="sng" w="177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8074152" y="1554480"/>
            <a:ext cx="3538728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8238744" y="1719072"/>
            <a:ext cx="3209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Tier 1 רשאי לפעול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8238744" y="2121408"/>
            <a:ext cx="320954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ביטול קישור השיתוף על ops-transfer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1A"/>
                </a:solidFill>
              </a:rPr>
              <a:t>בידוד מוקדם ל</a:t>
            </a: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d.aviram וניתוק כל הסשנים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אימות של חשבון עם termination_date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גילוי מחיקת גיבוי בידי actor שאינו svc_backup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גילוי שיתוף ענן עם anyone_with_link ללא תפוגה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297680" y="1554480"/>
            <a:ext cx="3538728" cy="4206240"/>
          </a:xfrm>
          <a:prstGeom prst="roundRect">
            <a:avLst>
              <a:gd fmla="val 1034" name="adj"/>
            </a:avLst>
          </a:prstGeom>
          <a:solidFill>
            <a:srgbClr val="FFFFFF"/>
          </a:solidFill>
          <a:ln cap="flat" cmpd="sng" w="177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297680" y="1554480"/>
            <a:ext cx="3538728" cy="502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4462272" y="1719072"/>
            <a:ext cx="3209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דורש אישור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4462272" y="2121408"/>
            <a:ext cx="320954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ניתוק SRV-BILLING ו-SRV-FS-01 מהרשת בלי כיבוי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אימות על מכשיר הגיבוי אם שרד עותק שחזור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בדיקת upload.aspx על WEB-PORTAL והסרתו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הפעלת רישום שורות פקודה על שלושת השרתים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החזרת לוג ה-proxy וכיסוי של WKS-OPS-03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21208" y="1554480"/>
            <a:ext cx="3538728" cy="4206240"/>
          </a:xfrm>
          <a:prstGeom prst="roundRect">
            <a:avLst>
              <a:gd fmla="val 1034" name="adj"/>
            </a:avLst>
          </a:prstGeom>
          <a:solidFill>
            <a:srgbClr val="FFFFFF"/>
          </a:solidFill>
          <a:ln cap="flat" cmpd="sng" w="17775">
            <a:solidFill>
              <a:srgbClr val="A83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21208" y="1554480"/>
            <a:ext cx="3538728" cy="50292"/>
          </a:xfrm>
          <a:prstGeom prst="rect">
            <a:avLst/>
          </a:prstGeom>
          <a:solidFill>
            <a:srgbClr val="A83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685800" y="1719072"/>
            <a:ext cx="3209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A832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8322D"/>
                </a:solidFill>
                <a:latin typeface="Arial"/>
                <a:ea typeface="Arial"/>
                <a:cs typeface="Arial"/>
                <a:sym typeface="Arial"/>
              </a:rPr>
              <a:t>הנהלה ומשפטי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685800" y="2121408"/>
            <a:ext cx="320954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342900" marR="0" rtl="1" algn="r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אכיפת MFA על כל אימות VPN ללא חריגים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השבתה בפועל בתהליך העזיבה, לא רק סימון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זמן תגובה מחייב להתראות גניבת אישורים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תיעוד ברשת ה-OT ובחמשת הנכסים ללא EDR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1" algn="r">
              <a:lnSpc>
                <a:spcPct val="158333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קביעת האחריות לחובת הדיווח על מידע שדלף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כל המלצה קשורה לממצא מסומן בדוח. אין כאן שורה שמתאימה לכל ארגון.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614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שאלות לצ</a:t>
            </a:r>
            <a:r>
              <a:rPr b="1" lang="en-US" sz="4800">
                <a:solidFill>
                  <a:srgbClr val="FFFFFF"/>
                </a:solidFill>
              </a:rPr>
              <a:t>וות המחקר המוכשר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C9BEB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BEB4"/>
                </a:solidFill>
                <a:latin typeface="Arial"/>
                <a:ea typeface="Arial"/>
                <a:cs typeface="Arial"/>
                <a:sym typeface="Arial"/>
              </a:rPr>
              <a:t>צוות A  ·  Meridian Energy Ltd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2026-08-30T19:44:37Z</dcterms:created>
  <dc:creator>PptxGenJS</dc:creator>
</cp:coreProperties>
</file>